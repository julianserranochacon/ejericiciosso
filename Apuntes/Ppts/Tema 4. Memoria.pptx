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9144000"/>
  <p:notesSz cx="7099300" cy="10234600"/>
  <p:embeddedFontLst>
    <p:embeddedFont>
      <p:font typeface="Inter SemiBold"/>
      <p:regular r:id="rId37"/>
      <p:bold r:id="rId38"/>
      <p:italic r:id="rId39"/>
      <p:boldItalic r:id="rId40"/>
    </p:embeddedFont>
    <p:embeddedFont>
      <p:font typeface="Inter"/>
      <p:regular r:id="rId41"/>
      <p:bold r:id="rId42"/>
      <p:italic r:id="rId43"/>
      <p:boldItalic r:id="rId44"/>
    </p:embeddedFont>
    <p:embeddedFont>
      <p:font typeface="Inter Medium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27DE6C-6E3B-493D-9825-CB8D1438324F}">
  <a:tblStyle styleId="{8327DE6C-6E3B-493D-9825-CB8D143832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SemiBold-boldItalic.fntdata"/><Relationship Id="rId20" Type="http://schemas.openxmlformats.org/officeDocument/2006/relationships/slide" Target="slides/slide15.xml"/><Relationship Id="rId42" Type="http://schemas.openxmlformats.org/officeDocument/2006/relationships/font" Target="fonts/Inter-bold.fntdata"/><Relationship Id="rId41" Type="http://schemas.openxmlformats.org/officeDocument/2006/relationships/font" Target="fonts/Inter-regular.fntdata"/><Relationship Id="rId22" Type="http://schemas.openxmlformats.org/officeDocument/2006/relationships/slide" Target="slides/slide17.xml"/><Relationship Id="rId44" Type="http://schemas.openxmlformats.org/officeDocument/2006/relationships/font" Target="fonts/Inter-boldItalic.fntdata"/><Relationship Id="rId21" Type="http://schemas.openxmlformats.org/officeDocument/2006/relationships/slide" Target="slides/slide16.xml"/><Relationship Id="rId43" Type="http://schemas.openxmlformats.org/officeDocument/2006/relationships/font" Target="fonts/Inter-italic.fntdata"/><Relationship Id="rId24" Type="http://schemas.openxmlformats.org/officeDocument/2006/relationships/slide" Target="slides/slide19.xml"/><Relationship Id="rId46" Type="http://schemas.openxmlformats.org/officeDocument/2006/relationships/font" Target="fonts/InterMedium-bold.fntdata"/><Relationship Id="rId23" Type="http://schemas.openxmlformats.org/officeDocument/2006/relationships/slide" Target="slides/slide18.xml"/><Relationship Id="rId45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InterMedium-boldItalic.fntdata"/><Relationship Id="rId25" Type="http://schemas.openxmlformats.org/officeDocument/2006/relationships/slide" Target="slides/slide20.xml"/><Relationship Id="rId47" Type="http://schemas.openxmlformats.org/officeDocument/2006/relationships/font" Target="fonts/InterMedium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InterSemiBold-italic.fntdata"/><Relationship Id="rId16" Type="http://schemas.openxmlformats.org/officeDocument/2006/relationships/slide" Target="slides/slide11.xml"/><Relationship Id="rId38" Type="http://schemas.openxmlformats.org/officeDocument/2006/relationships/font" Target="fonts/InterSemi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4021137" y="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993775" y="768350"/>
            <a:ext cx="5113337" cy="38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709612" y="4862512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972185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n"/>
          <p:cNvSpPr txBox="1"/>
          <p:nvPr>
            <p:ph idx="12" type="sldNum"/>
          </p:nvPr>
        </p:nvSpPr>
        <p:spPr>
          <a:xfrm>
            <a:off x="4021137" y="972185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9a86105645_31_2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9a86105645_31_2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9a86105645_31_2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9a86105645_31_2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968df0667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0968df0667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0217524ed_1_37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70217524ed_1_37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70217524ed_1_3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70217524ed_1_3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74784f877_0_4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74784f877_0_4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74784f877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74784f877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74784f877_0_104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74784f877_0_104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80dd486cc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80dd486cc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80dd486cc_0_136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780dd486cc_0_136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80dd486cc_0_19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80dd486cc_0_19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80dd486cc_0_27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780dd486cc_0_27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fc5fa18b1_0_0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9fc5fa18b1_0_0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9fc5fa18b1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9fc5fa18b1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0dc21cbe7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0dc21cbe7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780dd486cc_0_30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780dd486cc_0_30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8b469e546_0_3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78b469e546_0_3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78b469e546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78b469e546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8b469e546_1_12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78b469e546_1_12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8b469e546_1_32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78b469e546_1_32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8b469e546_1_4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78b469e546_1_4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fc5fa18b1_0_9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9fc5fa18b1_0_9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9fc5fa18b1_0_9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9fc5fa18b1_0_9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64d666faa9_1_99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64d666faa9_1_99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64d666faa9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64d666faa9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9fc5fa18b1_0_18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9fc5fa18b1_0_18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9fc5fa18b1_0_1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9fc5fa18b1_0_1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780dd486cc_0_32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780dd486cc_0_32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78b469e546_1_14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78b469e546_1_14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78b469e546_1_21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78b469e546_1_21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78b469e546_1_22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78b469e546_1_22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78b469e546_1_23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78b469e546_1_23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78b469e546_1_22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78b469e546_1_22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78b469e546_1_356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78b469e546_1_356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a679869789_1_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a679869789_1_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64d666faa9_1_219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64d666faa9_1_219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611187" y="762000"/>
            <a:ext cx="85329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" type="subTitle"/>
          </p:nvPr>
        </p:nvSpPr>
        <p:spPr>
          <a:xfrm>
            <a:off x="1593850" y="173037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14605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457200" y="1604962"/>
            <a:ext cx="82281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">
  <p:cSld name="TITLE_AND_TWO_COLUMNS_1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214312" y="-53975"/>
            <a:ext cx="86868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206375" y="765175"/>
            <a:ext cx="8686800" cy="57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AND_TWO_OBJECTS" type="txAndTwoObj">
  <p:cSld name="TEXT_AND_TWO_OBJECTS"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214312" y="-53975"/>
            <a:ext cx="86853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206375" y="765175"/>
            <a:ext cx="8686800" cy="5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_OBJECTS" type="fourObj">
  <p:cSld name="FOUR_OBJECTS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214312" y="-53975"/>
            <a:ext cx="86868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206375" y="765175"/>
            <a:ext cx="8685300" cy="5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torvalds/linux/blob/master/arch/x86/include/asm/pgtable_types.h#L10" TargetMode="External"/><Relationship Id="rId4" Type="http://schemas.openxmlformats.org/officeDocument/2006/relationships/hyperlink" Target="https://en.wikipedia.org/wiki/NX_bit" TargetMode="External"/><Relationship Id="rId5" Type="http://schemas.openxmlformats.org/officeDocument/2006/relationships/hyperlink" Target="https://en.wikipedia.org/wiki/NX_bi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brendangregg.com/blog/2018-02-09/kpti-kaiser-meltdown-performance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man7.org/linux/man-pages/man5/proc_pid_maps.5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kernel.org/doc/gorman/html/understand/understand016.html" TargetMode="External"/><Relationship Id="rId4" Type="http://schemas.openxmlformats.org/officeDocument/2006/relationships/hyperlink" Target="https://www.kernel.org/doc/gorman/html/understand/understand016.html" TargetMode="External"/><Relationship Id="rId5" Type="http://schemas.openxmlformats.org/officeDocument/2006/relationships/hyperlink" Target="https://www.kernel.org/doc/gorman/html/understand/understand016.html" TargetMode="External"/><Relationship Id="rId6" Type="http://schemas.openxmlformats.org/officeDocument/2006/relationships/hyperlink" Target="https://www.man7.org/linux/man-pages/man5/proc_pid_oom_score.5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. Memoria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3" name="Google Shape;53;p12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Tema 4. </a:t>
            </a:r>
            <a:r>
              <a:rPr lang="e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Memoria</a:t>
            </a:r>
            <a:endParaRPr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21625" y="880050"/>
            <a:ext cx="8946300" cy="58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.1 Fundamentos de la Memoria Virtual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Objetivos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Espacio de direcciones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Mecanismos de traducción: Memoria Virtual Paginada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.2 Mapa de Memoria de un Proceso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Segmentos de Memoria</a:t>
            </a:r>
            <a:endParaRPr sz="15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Interfaz del Sistema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4.3 Caché de Páginas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Objetivos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Relación con el VFS y el Sistema de Memoria Virtual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Gestión de la Memoria Principal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Pol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íticas de 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Asignaci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ón 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Pol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íticas de Reemplazamiento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Buffering the páginas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>
            <p:ph idx="4294967295" type="ctrTitle"/>
          </p:nvPr>
        </p:nvSpPr>
        <p:spPr>
          <a:xfrm>
            <a:off x="2301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.1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Fundamentos de la Memoria Virtual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0" name="Google Shape;70;p14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1122100" y="2543875"/>
            <a:ext cx="6487200" cy="3622500"/>
          </a:xfrm>
          <a:prstGeom prst="roundRect">
            <a:avLst>
              <a:gd fmla="val 321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Memoria Virtual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8400" y="877550"/>
            <a:ext cx="91176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virtual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 una abstracción que proporciona a los procesos una memoria (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espacio de direcciones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lineal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grande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privado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sistema gestiona el intercambio de información entre la memoria principal (física) y la secundaria (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swap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en disco)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2970650" y="2877800"/>
            <a:ext cx="1329534" cy="2645730"/>
          </a:xfrm>
          <a:prstGeom prst="flowChartDocumen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1721475" y="2877800"/>
            <a:ext cx="1249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1" lang="es">
                <a:solidFill>
                  <a:srgbClr val="3D85C6"/>
                </a:solidFill>
                <a:latin typeface="Courier New"/>
                <a:ea typeface="Courier New"/>
                <a:cs typeface="Courier New"/>
                <a:sym typeface="Courier New"/>
              </a:rPr>
              <a:t>0x00000000</a:t>
            </a:r>
            <a:endParaRPr b="1" i="0" u="none" cap="none" strike="noStrike">
              <a:solidFill>
                <a:srgbClr val="3D85C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721475" y="5087600"/>
            <a:ext cx="1249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1" lang="es">
                <a:solidFill>
                  <a:srgbClr val="3D85C6"/>
                </a:solidFill>
                <a:latin typeface="Courier New"/>
                <a:ea typeface="Courier New"/>
                <a:cs typeface="Courier New"/>
                <a:sym typeface="Courier New"/>
              </a:rPr>
              <a:t>0xBFFFFFFF</a:t>
            </a:r>
            <a:endParaRPr b="1" i="0" u="none" cap="none" strike="noStrike">
              <a:solidFill>
                <a:srgbClr val="3D85C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185750" y="3568375"/>
            <a:ext cx="17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dirección virtual</a:t>
            </a:r>
            <a:endParaRPr b="1">
              <a:solidFill>
                <a:srgbClr val="3D85C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3" name="Google Shape;83;p15"/>
          <p:cNvCxnSpPr/>
          <p:nvPr/>
        </p:nvCxnSpPr>
        <p:spPr>
          <a:xfrm flipH="1" rot="10800000">
            <a:off x="1875000" y="3178005"/>
            <a:ext cx="394800" cy="45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5"/>
          <p:cNvSpPr/>
          <p:nvPr/>
        </p:nvSpPr>
        <p:spPr>
          <a:xfrm>
            <a:off x="4864715" y="2850301"/>
            <a:ext cx="1045200" cy="14022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4861115" y="4467463"/>
            <a:ext cx="1045200" cy="947100"/>
          </a:xfrm>
          <a:prstGeom prst="can">
            <a:avLst>
              <a:gd fmla="val 25000" name="adj"/>
            </a:avLst>
          </a:prstGeom>
          <a:solidFill>
            <a:srgbClr val="76A5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2969100" y="3247800"/>
            <a:ext cx="1329600" cy="3711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2969100" y="3933600"/>
            <a:ext cx="1329600" cy="3711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 rot="-5400000">
            <a:off x="2015453" y="3894370"/>
            <a:ext cx="253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espacio de direcciones</a:t>
            </a:r>
            <a:endParaRPr b="1" sz="16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3037325" y="3058675"/>
            <a:ext cx="0" cy="21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" name="Google Shape;90;p15"/>
          <p:cNvSpPr/>
          <p:nvPr/>
        </p:nvSpPr>
        <p:spPr>
          <a:xfrm>
            <a:off x="4866190" y="3304950"/>
            <a:ext cx="1045200" cy="371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5"/>
          <p:cNvCxnSpPr>
            <a:stCxn id="86" idx="3"/>
            <a:endCxn id="90" idx="1"/>
          </p:cNvCxnSpPr>
          <p:nvPr/>
        </p:nvCxnSpPr>
        <p:spPr>
          <a:xfrm>
            <a:off x="4298700" y="3433350"/>
            <a:ext cx="567600" cy="5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5"/>
          <p:cNvSpPr/>
          <p:nvPr/>
        </p:nvSpPr>
        <p:spPr>
          <a:xfrm>
            <a:off x="4866190" y="3768662"/>
            <a:ext cx="1045200" cy="371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4859215" y="4835461"/>
            <a:ext cx="1045200" cy="315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15"/>
          <p:cNvCxnSpPr>
            <a:stCxn id="87" idx="3"/>
            <a:endCxn id="92" idx="1"/>
          </p:cNvCxnSpPr>
          <p:nvPr/>
        </p:nvCxnSpPr>
        <p:spPr>
          <a:xfrm flipH="1" rot="10800000">
            <a:off x="4298700" y="3954150"/>
            <a:ext cx="567600" cy="16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5"/>
          <p:cNvCxnSpPr>
            <a:stCxn id="92" idx="3"/>
            <a:endCxn id="93" idx="3"/>
          </p:cNvCxnSpPr>
          <p:nvPr/>
        </p:nvCxnSpPr>
        <p:spPr>
          <a:xfrm flipH="1">
            <a:off x="5904490" y="3954212"/>
            <a:ext cx="6900" cy="1038600"/>
          </a:xfrm>
          <a:prstGeom prst="bentConnector3">
            <a:avLst>
              <a:gd fmla="val -345108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5"/>
          <p:cNvSpPr txBox="1"/>
          <p:nvPr/>
        </p:nvSpPr>
        <p:spPr>
          <a:xfrm>
            <a:off x="4859215" y="2786018"/>
            <a:ext cx="104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Principal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5918515" y="3253224"/>
            <a:ext cx="1249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1" lang="es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0x001ab000</a:t>
            </a:r>
            <a:endParaRPr b="1" i="0" u="none" cap="none" strike="noStrike">
              <a:solidFill>
                <a:srgbClr val="45818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5911546" y="3710424"/>
            <a:ext cx="1249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1" lang="es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0x002fe000</a:t>
            </a:r>
            <a:endParaRPr b="1" i="0" u="none" cap="none" strike="noStrike">
              <a:solidFill>
                <a:srgbClr val="45818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5849740" y="2579166"/>
            <a:ext cx="153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5818E"/>
                </a:solidFill>
                <a:latin typeface="Inter"/>
                <a:ea typeface="Inter"/>
                <a:cs typeface="Inter"/>
                <a:sym typeface="Inter"/>
              </a:rPr>
              <a:t>dirección f</a:t>
            </a:r>
            <a:r>
              <a:rPr b="1" lang="es">
                <a:solidFill>
                  <a:srgbClr val="45818E"/>
                </a:solidFill>
                <a:latin typeface="Inter"/>
                <a:ea typeface="Inter"/>
                <a:cs typeface="Inter"/>
                <a:sym typeface="Inter"/>
              </a:rPr>
              <a:t>ísica</a:t>
            </a:r>
            <a:endParaRPr b="1">
              <a:solidFill>
                <a:srgbClr val="45818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0" name="Google Shape;100;p15"/>
          <p:cNvCxnSpPr/>
          <p:nvPr/>
        </p:nvCxnSpPr>
        <p:spPr>
          <a:xfrm flipH="1">
            <a:off x="6529176" y="2882216"/>
            <a:ext cx="7200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5"/>
          <p:cNvCxnSpPr/>
          <p:nvPr/>
        </p:nvCxnSpPr>
        <p:spPr>
          <a:xfrm>
            <a:off x="5986811" y="3245005"/>
            <a:ext cx="108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5"/>
          <p:cNvCxnSpPr/>
          <p:nvPr/>
        </p:nvCxnSpPr>
        <p:spPr>
          <a:xfrm>
            <a:off x="1797225" y="3131750"/>
            <a:ext cx="100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5"/>
          <p:cNvSpPr txBox="1"/>
          <p:nvPr/>
        </p:nvSpPr>
        <p:spPr>
          <a:xfrm>
            <a:off x="4781090" y="5334996"/>
            <a:ext cx="124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Secundaria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swap</a:t>
            </a:r>
            <a:endParaRPr i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108161" y="5755426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Virtual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154541" y="4160472"/>
            <a:ext cx="128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paginación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swapping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Memoria Virtual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72800" y="877550"/>
            <a:ext cx="8980500" cy="52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Objetivos de la Memoria Virtual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Sobresuscripción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principal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aparente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mayor que la disponible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Ejecutar procesos que usan (individualmente o de forma agregada) más memoria de la disponible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Multiprogramación.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Ejecución aislada de varios procesos (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 el kernel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espacio de direcciones de cada proceso está separado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procesos solo pueden acceder a las regiones asignadas por el SO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Debe permitir que los procesos compartan regiones de memoria (ej. librerías compartidas)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Reubicaci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ón.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Simplifica el desarrollo de software permitiendo que los programas se pueden cargar en cualquier posición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es necesario recompilar o modificar el código para diferente perfiles de memoria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Varios procesos pueden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coexistir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sin colisionar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140525" y="2636250"/>
            <a:ext cx="8853000" cy="4181400"/>
          </a:xfrm>
          <a:prstGeom prst="roundRect">
            <a:avLst>
              <a:gd fmla="val 4009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7625050" y="3993400"/>
            <a:ext cx="1074006" cy="2158272"/>
          </a:xfrm>
          <a:prstGeom prst="flowChartDocumen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Memoria Virtual Paginada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10026" y="781275"/>
            <a:ext cx="9117600" cy="17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memoria virtual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 divide en secciones de tamaño fijo (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ágina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rango contiguo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direcciones virtuales de la página se traduce en un rango contiguo de direcciones físicas del mismo tamaño (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marco de página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Tabla de páginas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estructura que contiene la asignación de direcciones virtuales a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fí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sicas del proceso. Tiene 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varios niveles de traducción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para ahorrar tamaño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2319200" y="3508975"/>
            <a:ext cx="1709700" cy="2910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directorio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028668" y="3508975"/>
            <a:ext cx="1709700" cy="2910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tabla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738136" y="3508975"/>
            <a:ext cx="1709700" cy="2910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desplazamiento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849500" y="3151163"/>
            <a:ext cx="19875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dirección virtual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1862000" y="5971775"/>
            <a:ext cx="1226400" cy="291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CR3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1745395" y="6235733"/>
            <a:ext cx="731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 de control de proceso (PCB) (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mm_struct-&gt;pgd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page global directory)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registro CR3 (x86) contiene una dirección física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2198752" y="3713738"/>
            <a:ext cx="4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656586" y="3713750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22 21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398988" y="3695512"/>
            <a:ext cx="7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2 11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7153701" y="3723763"/>
            <a:ext cx="4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849475" y="5147246"/>
            <a:ext cx="908982" cy="1152306"/>
          </a:xfrm>
          <a:prstGeom prst="flowChartDocumen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3849475" y="5571286"/>
            <a:ext cx="909000" cy="189000"/>
          </a:xfrm>
          <a:prstGeom prst="rect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357813" y="5524350"/>
            <a:ext cx="270900" cy="2910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" name="Google Shape;135;p17"/>
          <p:cNvCxnSpPr>
            <a:stCxn id="126" idx="3"/>
            <a:endCxn id="134" idx="1"/>
          </p:cNvCxnSpPr>
          <p:nvPr/>
        </p:nvCxnSpPr>
        <p:spPr>
          <a:xfrm flipH="1" rot="10800000">
            <a:off x="3088400" y="5776775"/>
            <a:ext cx="405000" cy="340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7"/>
          <p:cNvCxnSpPr>
            <a:stCxn id="122" idx="2"/>
            <a:endCxn id="134" idx="2"/>
          </p:cNvCxnSpPr>
          <p:nvPr/>
        </p:nvCxnSpPr>
        <p:spPr>
          <a:xfrm flipH="1" rot="-5400000">
            <a:off x="2348900" y="4625125"/>
            <a:ext cx="1869900" cy="219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7"/>
          <p:cNvCxnSpPr>
            <a:stCxn id="134" idx="0"/>
            <a:endCxn id="133" idx="1"/>
          </p:cNvCxnSpPr>
          <p:nvPr/>
        </p:nvCxnSpPr>
        <p:spPr>
          <a:xfrm flipH="1" rot="10800000">
            <a:off x="3592805" y="5665650"/>
            <a:ext cx="2568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7"/>
          <p:cNvSpPr/>
          <p:nvPr/>
        </p:nvSpPr>
        <p:spPr>
          <a:xfrm>
            <a:off x="5563601" y="4712700"/>
            <a:ext cx="908982" cy="1152306"/>
          </a:xfrm>
          <a:prstGeom prst="flowChartDocumen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068263" y="5147250"/>
            <a:ext cx="270900" cy="2910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17"/>
          <p:cNvCxnSpPr>
            <a:stCxn id="133" idx="3"/>
            <a:endCxn id="139" idx="1"/>
          </p:cNvCxnSpPr>
          <p:nvPr/>
        </p:nvCxnSpPr>
        <p:spPr>
          <a:xfrm flipH="1" rot="10800000">
            <a:off x="4758475" y="5399686"/>
            <a:ext cx="445200" cy="26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17"/>
          <p:cNvCxnSpPr>
            <a:stCxn id="123" idx="2"/>
            <a:endCxn id="139" idx="2"/>
          </p:cNvCxnSpPr>
          <p:nvPr/>
        </p:nvCxnSpPr>
        <p:spPr>
          <a:xfrm flipH="1" rot="-5400000">
            <a:off x="4247518" y="4435975"/>
            <a:ext cx="1492800" cy="220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42" name="Google Shape;142;p17"/>
          <p:cNvSpPr/>
          <p:nvPr/>
        </p:nvSpPr>
        <p:spPr>
          <a:xfrm>
            <a:off x="5563601" y="5204398"/>
            <a:ext cx="909000" cy="189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3" name="Google Shape;143;p17"/>
          <p:cNvCxnSpPr>
            <a:stCxn id="139" idx="0"/>
            <a:endCxn id="142" idx="1"/>
          </p:cNvCxnSpPr>
          <p:nvPr/>
        </p:nvCxnSpPr>
        <p:spPr>
          <a:xfrm>
            <a:off x="5303256" y="5292750"/>
            <a:ext cx="2604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17"/>
          <p:cNvSpPr/>
          <p:nvPr/>
        </p:nvSpPr>
        <p:spPr>
          <a:xfrm>
            <a:off x="7625048" y="4276375"/>
            <a:ext cx="1074000" cy="134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6802250" y="4712700"/>
            <a:ext cx="270900" cy="2910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" name="Google Shape;146;p17"/>
          <p:cNvCxnSpPr>
            <a:stCxn id="124" idx="2"/>
            <a:endCxn id="145" idx="2"/>
          </p:cNvCxnSpPr>
          <p:nvPr/>
        </p:nvCxnSpPr>
        <p:spPr>
          <a:xfrm flipH="1" rot="-5400000">
            <a:off x="6186486" y="4206475"/>
            <a:ext cx="1058100" cy="245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7"/>
          <p:cNvCxnSpPr>
            <a:stCxn id="142" idx="3"/>
            <a:endCxn id="145" idx="1"/>
          </p:cNvCxnSpPr>
          <p:nvPr/>
        </p:nvCxnSpPr>
        <p:spPr>
          <a:xfrm flipH="1" rot="10800000">
            <a:off x="6472601" y="4964998"/>
            <a:ext cx="465000" cy="333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48" name="Google Shape;148;p17"/>
          <p:cNvSpPr/>
          <p:nvPr/>
        </p:nvSpPr>
        <p:spPr>
          <a:xfrm>
            <a:off x="7625051" y="4763700"/>
            <a:ext cx="1074000" cy="189000"/>
          </a:xfrm>
          <a:prstGeom prst="rect">
            <a:avLst/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9" name="Google Shape;149;p17"/>
          <p:cNvCxnSpPr>
            <a:stCxn id="145" idx="0"/>
            <a:endCxn id="148" idx="1"/>
          </p:cNvCxnSpPr>
          <p:nvPr/>
        </p:nvCxnSpPr>
        <p:spPr>
          <a:xfrm>
            <a:off x="7037242" y="4858200"/>
            <a:ext cx="58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17"/>
          <p:cNvSpPr txBox="1"/>
          <p:nvPr/>
        </p:nvSpPr>
        <p:spPr>
          <a:xfrm>
            <a:off x="7624950" y="4202140"/>
            <a:ext cx="107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marco de página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408254" y="4679793"/>
            <a:ext cx="101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0x</a:t>
            </a:r>
            <a:r>
              <a:rPr b="1" lang="es" sz="1100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s" sz="11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b="1" lang="es" sz="1100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406</a:t>
            </a:r>
            <a:endParaRPr b="1" i="0" sz="1100" u="none" cap="none" strike="noStrike">
              <a:solidFill>
                <a:srgbClr val="45818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38631" y="3081452"/>
            <a:ext cx="15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7625050" y="3440524"/>
            <a:ext cx="107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Principal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09850" y="3917211"/>
            <a:ext cx="1074006" cy="2733156"/>
          </a:xfrm>
          <a:prstGeom prst="flowChartDocumen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309848" y="4200175"/>
            <a:ext cx="1074000" cy="1340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309750" y="4125940"/>
            <a:ext cx="107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1" lang="es">
                <a:latin typeface="Inter"/>
                <a:ea typeface="Inter"/>
                <a:cs typeface="Inter"/>
                <a:sym typeface="Inter"/>
              </a:rPr>
              <a:t>ágina</a:t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Virtual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309850" y="3364324"/>
            <a:ext cx="107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Virtual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309750" y="4716316"/>
            <a:ext cx="358200" cy="1890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67709" y="4716316"/>
            <a:ext cx="358200" cy="1890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1025668" y="4716316"/>
            <a:ext cx="358200" cy="1890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661963" y="4449849"/>
            <a:ext cx="115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0x</a:t>
            </a:r>
            <a:r>
              <a:rPr lang="es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5300a</a:t>
            </a:r>
            <a:r>
              <a:rPr b="1" lang="es" sz="1100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406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40525" y="2639800"/>
            <a:ext cx="885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Ejemplo: 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Arquitectura x86 de 32 bits. Dos niveles de traducción Directorio y Tabla de páginas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Memoria Virtual Paginada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10026" y="6420075"/>
            <a:ext cx="911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30000" i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r>
              <a:rPr b="1" i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Nota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contenido de las tablas de páginas depende de la arquitectura 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0026" y="781275"/>
            <a:ext cx="9117600" cy="3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Entradas de la tabla de páginas 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Contenidos para x86 (</a:t>
            </a:r>
            <a:r>
              <a:rPr lang="es" sz="17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asm/pgtable_types.h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b="1" baseline="30000" i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Dirección del marco de página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memoria (o del siguiente nivel)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Presencia (P)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si la página está en memoria principal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Modificada (D)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si los contenidos de la página han cambiado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Protección: 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indica si la página se puede escribir (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RW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y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ejecutar (</a:t>
            </a:r>
            <a:r>
              <a:rPr lang="es" sz="17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NX</a:t>
            </a:r>
            <a:r>
              <a:rPr lang="es" sz="17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, No eXecute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Acceso (A):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página ha sido usada (política de reemplazamiento)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Usuario (U/S):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Nivel de privilegio para acceder a la página (usuario/supervisor)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Caché: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 la página almacena en la caché de la CPU (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CD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Cache Disable) y si se activa el modo 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write-through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WT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943100" y="4894613"/>
            <a:ext cx="3844200" cy="3915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Dirección Marco (20 bits)</a:t>
            </a:r>
            <a:endParaRPr b="1"/>
          </a:p>
        </p:txBody>
      </p:sp>
      <p:sp>
        <p:nvSpPr>
          <p:cNvPr id="172" name="Google Shape;172;p18"/>
          <p:cNvSpPr/>
          <p:nvPr/>
        </p:nvSpPr>
        <p:spPr>
          <a:xfrm>
            <a:off x="4787300" y="4894613"/>
            <a:ext cx="762900" cy="391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-</a:t>
            </a:r>
            <a:endParaRPr b="1"/>
          </a:p>
        </p:txBody>
      </p:sp>
      <p:sp>
        <p:nvSpPr>
          <p:cNvPr id="173" name="Google Shape;173;p18"/>
          <p:cNvSpPr/>
          <p:nvPr/>
        </p:nvSpPr>
        <p:spPr>
          <a:xfrm>
            <a:off x="5913541" y="4894613"/>
            <a:ext cx="361500" cy="3915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</a:t>
            </a:r>
            <a:endParaRPr b="1"/>
          </a:p>
        </p:txBody>
      </p:sp>
      <p:sp>
        <p:nvSpPr>
          <p:cNvPr id="174" name="Google Shape;174;p18"/>
          <p:cNvSpPr/>
          <p:nvPr/>
        </p:nvSpPr>
        <p:spPr>
          <a:xfrm>
            <a:off x="6275041" y="4894613"/>
            <a:ext cx="451500" cy="3915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CD</a:t>
            </a:r>
            <a:endParaRPr b="1"/>
          </a:p>
        </p:txBody>
      </p:sp>
      <p:sp>
        <p:nvSpPr>
          <p:cNvPr id="175" name="Google Shape;175;p18"/>
          <p:cNvSpPr/>
          <p:nvPr/>
        </p:nvSpPr>
        <p:spPr>
          <a:xfrm>
            <a:off x="6726541" y="4894613"/>
            <a:ext cx="451500" cy="3915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WT</a:t>
            </a:r>
            <a:endParaRPr b="1"/>
          </a:p>
        </p:txBody>
      </p:sp>
      <p:sp>
        <p:nvSpPr>
          <p:cNvPr id="176" name="Google Shape;176;p18"/>
          <p:cNvSpPr/>
          <p:nvPr/>
        </p:nvSpPr>
        <p:spPr>
          <a:xfrm>
            <a:off x="7178041" y="4894613"/>
            <a:ext cx="451500" cy="3915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U/S</a:t>
            </a:r>
            <a:endParaRPr b="1"/>
          </a:p>
        </p:txBody>
      </p:sp>
      <p:sp>
        <p:nvSpPr>
          <p:cNvPr id="177" name="Google Shape;177;p18"/>
          <p:cNvSpPr/>
          <p:nvPr/>
        </p:nvSpPr>
        <p:spPr>
          <a:xfrm>
            <a:off x="7629541" y="4894613"/>
            <a:ext cx="451500" cy="3915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RW</a:t>
            </a:r>
            <a:endParaRPr b="1"/>
          </a:p>
        </p:txBody>
      </p:sp>
      <p:sp>
        <p:nvSpPr>
          <p:cNvPr id="178" name="Google Shape;178;p18"/>
          <p:cNvSpPr/>
          <p:nvPr/>
        </p:nvSpPr>
        <p:spPr>
          <a:xfrm>
            <a:off x="8081041" y="4894613"/>
            <a:ext cx="451500" cy="3915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</a:t>
            </a:r>
            <a:endParaRPr b="1"/>
          </a:p>
        </p:txBody>
      </p:sp>
      <p:sp>
        <p:nvSpPr>
          <p:cNvPr id="179" name="Google Shape;179;p18"/>
          <p:cNvSpPr/>
          <p:nvPr/>
        </p:nvSpPr>
        <p:spPr>
          <a:xfrm>
            <a:off x="5552651" y="4894613"/>
            <a:ext cx="361500" cy="3915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</a:t>
            </a:r>
            <a:endParaRPr b="1"/>
          </a:p>
        </p:txBody>
      </p:sp>
      <p:sp>
        <p:nvSpPr>
          <p:cNvPr id="180" name="Google Shape;180;p18"/>
          <p:cNvSpPr txBox="1"/>
          <p:nvPr/>
        </p:nvSpPr>
        <p:spPr>
          <a:xfrm>
            <a:off x="8087900" y="4561975"/>
            <a:ext cx="45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7630700" y="4561975"/>
            <a:ext cx="45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7173500" y="4561975"/>
            <a:ext cx="45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726550" y="4561975"/>
            <a:ext cx="45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6275050" y="4561975"/>
            <a:ext cx="45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5913550" y="4561975"/>
            <a:ext cx="3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553500" y="4561975"/>
            <a:ext cx="3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Memoria Virtual Paginada 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86225" y="857475"/>
            <a:ext cx="89718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traducción de las direcciones virtuales se realiza con el soporte de la 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unidad de gestión de memoria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Memory Management Unit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MMU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Realiza las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indirecciones necesarias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 los niveles de paginación.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Comprueba, en cada nivel, la 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presencia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modos de acceso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En caso de fallo de página o acceso no permitido genera una excepción.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Caché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para acelerar la traducción (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Translation Lookaside Buffer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TLB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4" name="Google Shape;194;p19"/>
          <p:cNvGrpSpPr/>
          <p:nvPr/>
        </p:nvGrpSpPr>
        <p:grpSpPr>
          <a:xfrm>
            <a:off x="1072635" y="3324200"/>
            <a:ext cx="6742002" cy="1790988"/>
            <a:chOff x="615435" y="1190600"/>
            <a:chExt cx="6742002" cy="1790988"/>
          </a:xfrm>
        </p:grpSpPr>
        <p:sp>
          <p:nvSpPr>
            <p:cNvPr id="195" name="Google Shape;195;p19"/>
            <p:cNvSpPr/>
            <p:nvPr/>
          </p:nvSpPr>
          <p:spPr>
            <a:xfrm>
              <a:off x="695325" y="1190625"/>
              <a:ext cx="3686400" cy="17001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774725" y="1515625"/>
              <a:ext cx="612300" cy="481800"/>
            </a:xfrm>
            <a:prstGeom prst="roundRect">
              <a:avLst>
                <a:gd fmla="val 13693" name="adj"/>
              </a:avLst>
            </a:prstGeom>
            <a:solidFill>
              <a:srgbClr val="741B4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CU</a:t>
              </a:r>
              <a:endParaRPr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97" name="Google Shape;197;p19"/>
            <p:cNvCxnSpPr>
              <a:stCxn id="196" idx="3"/>
              <a:endCxn id="198" idx="1"/>
            </p:cNvCxnSpPr>
            <p:nvPr/>
          </p:nvCxnSpPr>
          <p:spPr>
            <a:xfrm flipH="1" rot="10800000">
              <a:off x="1387025" y="1755325"/>
              <a:ext cx="333600" cy="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9" name="Google Shape;199;p19"/>
            <p:cNvSpPr/>
            <p:nvPr/>
          </p:nvSpPr>
          <p:spPr>
            <a:xfrm>
              <a:off x="800085" y="2152500"/>
              <a:ext cx="688200" cy="112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800085" y="2265300"/>
              <a:ext cx="688200" cy="112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800085" y="2378100"/>
              <a:ext cx="688200" cy="112800"/>
            </a:xfrm>
            <a:prstGeom prst="rect">
              <a:avLst/>
            </a:prstGeom>
            <a:solidFill>
              <a:srgbClr val="3D85C6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800085" y="2490900"/>
              <a:ext cx="688200" cy="112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615435" y="2519644"/>
              <a:ext cx="1057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434343"/>
                  </a:solidFill>
                  <a:latin typeface="Inter"/>
                  <a:ea typeface="Inter"/>
                  <a:cs typeface="Inter"/>
                  <a:sym typeface="Inter"/>
                </a:rPr>
                <a:t>Registros</a:t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1720746" y="1376600"/>
              <a:ext cx="1213800" cy="7572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4" name="Google Shape;204;p19"/>
            <p:cNvCxnSpPr>
              <a:stCxn id="201" idx="3"/>
              <a:endCxn id="198" idx="2"/>
            </p:cNvCxnSpPr>
            <p:nvPr/>
          </p:nvCxnSpPr>
          <p:spPr>
            <a:xfrm flipH="1" rot="10800000">
              <a:off x="1488285" y="2133900"/>
              <a:ext cx="839400" cy="3006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5" name="Google Shape;205;p19"/>
            <p:cNvSpPr txBox="1"/>
            <p:nvPr/>
          </p:nvSpPr>
          <p:spPr>
            <a:xfrm>
              <a:off x="1668608" y="1817783"/>
              <a:ext cx="1057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434343"/>
                  </a:solidFill>
                  <a:latin typeface="Inter"/>
                  <a:ea typeface="Inter"/>
                  <a:cs typeface="Inter"/>
                  <a:sym typeface="Inter"/>
                </a:rPr>
                <a:t>MMU</a:t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3055771" y="1377925"/>
              <a:ext cx="1213800" cy="7572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2992098" y="1800247"/>
              <a:ext cx="1057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434343"/>
                  </a:solidFill>
                  <a:latin typeface="Inter"/>
                  <a:ea typeface="Inter"/>
                  <a:cs typeface="Inter"/>
                  <a:sym typeface="Inter"/>
                </a:rPr>
                <a:t>Cache L1</a:t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2195450" y="1432925"/>
              <a:ext cx="688200" cy="452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2138324" y="1576675"/>
              <a:ext cx="68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434343"/>
                  </a:solidFill>
                  <a:latin typeface="Inter"/>
                  <a:ea typeface="Inter"/>
                  <a:cs typeface="Inter"/>
                  <a:sym typeface="Inter"/>
                </a:rPr>
                <a:t>TLB</a:t>
              </a:r>
              <a:endParaRPr>
                <a:solidFill>
                  <a:srgbClr val="434343"/>
                </a:solidFill>
              </a:endParaRPr>
            </a:p>
          </p:txBody>
        </p:sp>
        <p:cxnSp>
          <p:nvCxnSpPr>
            <p:cNvPr id="210" name="Google Shape;210;p19"/>
            <p:cNvCxnSpPr>
              <a:endCxn id="206" idx="1"/>
            </p:cNvCxnSpPr>
            <p:nvPr/>
          </p:nvCxnSpPr>
          <p:spPr>
            <a:xfrm>
              <a:off x="2934571" y="1755325"/>
              <a:ext cx="121200" cy="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1" name="Google Shape;211;p19"/>
            <p:cNvSpPr/>
            <p:nvPr/>
          </p:nvSpPr>
          <p:spPr>
            <a:xfrm>
              <a:off x="4694075" y="1190625"/>
              <a:ext cx="1213800" cy="17001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3693450" y="2562525"/>
              <a:ext cx="68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434343"/>
                  </a:solidFill>
                  <a:latin typeface="Inter"/>
                  <a:ea typeface="Inter"/>
                  <a:cs typeface="Inter"/>
                  <a:sym typeface="Inter"/>
                </a:rPr>
                <a:t>CPU</a:t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4691075" y="2581388"/>
              <a:ext cx="12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434343"/>
                  </a:solidFill>
                  <a:latin typeface="Inter"/>
                  <a:ea typeface="Inter"/>
                  <a:cs typeface="Inter"/>
                  <a:sym typeface="Inter"/>
                </a:rPr>
                <a:t>M. Principal</a:t>
              </a:r>
              <a:endParaRPr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4691075" y="1266825"/>
              <a:ext cx="1213800" cy="309900"/>
            </a:xfrm>
            <a:prstGeom prst="rect">
              <a:avLst/>
            </a:prstGeom>
            <a:solidFill>
              <a:srgbClr val="9FC5E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Página</a:t>
              </a:r>
              <a:endParaRPr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4691075" y="2128825"/>
              <a:ext cx="1213800" cy="452400"/>
            </a:xfrm>
            <a:prstGeom prst="rect">
              <a:avLst/>
            </a:prstGeom>
            <a:solidFill>
              <a:srgbClr val="3D85C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Tablas de Páginas</a:t>
              </a:r>
              <a:endParaRPr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16" name="Google Shape;216;p19"/>
            <p:cNvCxnSpPr>
              <a:stCxn id="195" idx="3"/>
              <a:endCxn id="211" idx="1"/>
            </p:cNvCxnSpPr>
            <p:nvPr/>
          </p:nvCxnSpPr>
          <p:spPr>
            <a:xfrm>
              <a:off x="4381725" y="2040675"/>
              <a:ext cx="312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7" name="Google Shape;217;p19"/>
            <p:cNvSpPr/>
            <p:nvPr/>
          </p:nvSpPr>
          <p:spPr>
            <a:xfrm>
              <a:off x="6215075" y="1190600"/>
              <a:ext cx="1109700" cy="1700100"/>
            </a:xfrm>
            <a:prstGeom prst="can">
              <a:avLst>
                <a:gd fmla="val 25000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6143638" y="2505188"/>
              <a:ext cx="121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434343"/>
                  </a:solidFill>
                  <a:latin typeface="Inter"/>
                  <a:ea typeface="Inter"/>
                  <a:cs typeface="Inter"/>
                  <a:sym typeface="Inter"/>
                </a:rPr>
                <a:t>Disco</a:t>
              </a:r>
              <a:endParaRPr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19" name="Google Shape;219;p19"/>
            <p:cNvCxnSpPr>
              <a:stCxn id="211" idx="3"/>
              <a:endCxn id="217" idx="2"/>
            </p:cNvCxnSpPr>
            <p:nvPr/>
          </p:nvCxnSpPr>
          <p:spPr>
            <a:xfrm>
              <a:off x="5907875" y="2040675"/>
              <a:ext cx="307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0" name="Google Shape;220;p19"/>
            <p:cNvSpPr/>
            <p:nvPr/>
          </p:nvSpPr>
          <p:spPr>
            <a:xfrm>
              <a:off x="6220225" y="2023450"/>
              <a:ext cx="1109700" cy="481800"/>
            </a:xfrm>
            <a:prstGeom prst="can">
              <a:avLst>
                <a:gd fmla="val 39669" name="adj"/>
              </a:avLst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000" lIns="91425" spcFirstLastPara="1" rIns="91425" wrap="square" tIns="90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</a:rPr>
                <a:t>Página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Memoria Virtual Paginada (IV)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1553300" y="4493800"/>
            <a:ext cx="941166" cy="1052622"/>
          </a:xfrm>
          <a:prstGeom prst="flowChartDocumen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791300" y="5802691"/>
            <a:ext cx="941166" cy="1052622"/>
          </a:xfrm>
          <a:prstGeom prst="flowChartDocumen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10026" y="763291"/>
            <a:ext cx="9117600" cy="3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Sistema Operativo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 encarga de: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Gestionar las 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excepciones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generadas por la MMU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Asignar 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nuevas páginas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memoria. Las p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áginas se reservan bajo demanda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demand paging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cuando se leen o escriben por primera vez.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Traer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la página de la 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secundaria</a:t>
            </a:r>
            <a:endParaRPr b="1"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Terminar el proceso (</a:t>
            </a: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SIGSEV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 Acceso no v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álido (permiso) a memoria.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Mantener las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tablas de páginas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actualizadas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Configurar la MMU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para cada proceso (ej. CR3 o limpiar la TLB)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Configurar el 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acceso compartido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 p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áginas de memoria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2924900" y="4417600"/>
            <a:ext cx="941166" cy="1965384"/>
          </a:xfrm>
          <a:prstGeom prst="flowChartDocumen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1553300" y="4700676"/>
            <a:ext cx="941100" cy="1560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791300" y="6431422"/>
            <a:ext cx="941100" cy="156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791300" y="5948376"/>
            <a:ext cx="941100" cy="156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1553300" y="5143089"/>
            <a:ext cx="941100" cy="156000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1553300" y="4921876"/>
            <a:ext cx="941100" cy="1560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791300" y="6227001"/>
            <a:ext cx="941100" cy="156000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2924938" y="4567076"/>
            <a:ext cx="941100" cy="1560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2924950" y="4845676"/>
            <a:ext cx="941100" cy="1560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2924950" y="5124264"/>
            <a:ext cx="941100" cy="156000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2924950" y="5402876"/>
            <a:ext cx="941100" cy="156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2924950" y="5723126"/>
            <a:ext cx="941100" cy="156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20"/>
          <p:cNvCxnSpPr>
            <a:stCxn id="234" idx="3"/>
            <a:endCxn id="239" idx="1"/>
          </p:cNvCxnSpPr>
          <p:nvPr/>
        </p:nvCxnSpPr>
        <p:spPr>
          <a:xfrm flipH="1" rot="10800000">
            <a:off x="2494400" y="5202189"/>
            <a:ext cx="4305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20"/>
          <p:cNvCxnSpPr>
            <a:stCxn id="236" idx="3"/>
            <a:endCxn id="239" idx="1"/>
          </p:cNvCxnSpPr>
          <p:nvPr/>
        </p:nvCxnSpPr>
        <p:spPr>
          <a:xfrm flipH="1" rot="10800000">
            <a:off x="1732400" y="5202201"/>
            <a:ext cx="1192500" cy="11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" name="Google Shape;244;p20"/>
          <p:cNvSpPr txBox="1"/>
          <p:nvPr/>
        </p:nvSpPr>
        <p:spPr>
          <a:xfrm>
            <a:off x="1419685" y="4172097"/>
            <a:ext cx="133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M. Virtual P1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657685" y="5467497"/>
            <a:ext cx="133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M. Virtual P2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4599575" y="4437854"/>
            <a:ext cx="4339500" cy="1518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Páginas virtuales de diferentes procesos pueden asignarse al 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mismo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marco de página: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Compartir datos entre procesos (memoria compartida)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Reusar código (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ejecutable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librerías)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7" name="Google Shape;247;p20"/>
          <p:cNvCxnSpPr>
            <a:stCxn id="239" idx="3"/>
            <a:endCxn id="246" idx="1"/>
          </p:cNvCxnSpPr>
          <p:nvPr/>
        </p:nvCxnSpPr>
        <p:spPr>
          <a:xfrm flipH="1" rot="10800000">
            <a:off x="3866050" y="5197164"/>
            <a:ext cx="733500" cy="51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48" name="Google Shape;248;p20"/>
          <p:cNvSpPr txBox="1"/>
          <p:nvPr/>
        </p:nvSpPr>
        <p:spPr>
          <a:xfrm>
            <a:off x="2802706" y="4081608"/>
            <a:ext cx="133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M. Principal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Memoria Virtual Paginada (V)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80300" y="728105"/>
            <a:ext cx="8983500" cy="3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Tamaño de Página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Fragmentaci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 Interna.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Páginas más pequeñas producen menor fragmentación (memoria asignada &gt; memoria requerida)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Número de Páginas.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Páginas más pequeñas producen más páginas de memoria que gestionar: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Tablas de páginas mayores.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Menor efectividad de la TLB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Transferencias con Memoria Secundaria.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trasferencia de páginas pequeñas es menos eficiente (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requiere potencialmente más operaciones e interrupciones)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38588" y="3907675"/>
            <a:ext cx="9050100" cy="2919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54000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Tamaño de Página en Linux (x86)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Tamaño de página por defecto es de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4KB (comando,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getconf PAGE_SIZE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Transparent Huge Pages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Combina páginas de 4KB en páginas de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2MB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(512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páginas contiguas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Comportamiento por defecto (configurable con  madvise(2) -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MADV_HUGEPAGE)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khugepaged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proceso del kernel que trata de combinar las páginas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Huge Pages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Linux reserva un pool de páginas de 2MB ó 1GB (CPU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pdpe1gb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que las aplicaciones pueden solicitar (p.ej. máquinas virtuales, bases de datos…)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 txBox="1"/>
          <p:nvPr>
            <p:ph idx="4294967295" type="ctrTitle"/>
          </p:nvPr>
        </p:nvSpPr>
        <p:spPr>
          <a:xfrm>
            <a:off x="2301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4.2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Mapa de Memoria de un Proceso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6" name="Google Shape;266;p22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/>
          <p:nvPr/>
        </p:nvSpPr>
        <p:spPr>
          <a:xfrm>
            <a:off x="2913200" y="1823475"/>
            <a:ext cx="6102600" cy="2041500"/>
          </a:xfrm>
          <a:prstGeom prst="roundRect">
            <a:avLst>
              <a:gd fmla="val 711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Mapa de Memoria de un Proceso(I)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230187" y="3001962"/>
            <a:ext cx="2286000" cy="480900"/>
          </a:xfrm>
          <a:prstGeom prst="rect">
            <a:avLst/>
          </a:prstGeom>
          <a:solidFill>
            <a:srgbClr val="6AA84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Times New Roman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Tabla de Programa</a:t>
            </a:r>
            <a:endParaRPr b="1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230187" y="3482975"/>
            <a:ext cx="2286000" cy="479400"/>
          </a:xfrm>
          <a:prstGeom prst="rect">
            <a:avLst/>
          </a:pr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i="0" lang="e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Otra Información</a:t>
            </a:r>
            <a:endParaRPr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230187" y="3962400"/>
            <a:ext cx="2286000" cy="973200"/>
          </a:xfrm>
          <a:prstGeom prst="rect">
            <a:avLst/>
          </a:prstGeom>
          <a:solidFill>
            <a:srgbClr val="D0E0E3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Segmento de Texto</a:t>
            </a:r>
            <a:endParaRPr b="1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228600" y="4935537"/>
            <a:ext cx="2286000" cy="960300"/>
          </a:xfrm>
          <a:prstGeom prst="rect">
            <a:avLst/>
          </a:prstGeom>
          <a:solidFill>
            <a:srgbClr val="CFE2F3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Segmento de Datos</a:t>
            </a:r>
            <a:endParaRPr b="1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Times New Roman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228600" y="5899150"/>
            <a:ext cx="2286000" cy="480900"/>
          </a:xfrm>
          <a:prstGeom prst="rect">
            <a:avLst/>
          </a:pr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i="0" lang="e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Otra Información</a:t>
            </a:r>
            <a:endParaRPr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228600" y="2659062"/>
            <a:ext cx="2286000" cy="342900"/>
          </a:xfrm>
          <a:prstGeom prst="rect">
            <a:avLst/>
          </a:prstGeom>
          <a:solidFill>
            <a:srgbClr val="0B5394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Times New Roman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Cabecera ELF</a:t>
            </a:r>
            <a:endParaRPr b="1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230075" y="1946720"/>
            <a:ext cx="22860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i="1" lang="es" sz="1900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ELF: </a:t>
            </a:r>
            <a:r>
              <a:rPr i="1" lang="es" sz="1900" u="none" cap="none" strike="noStrike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Executable </a:t>
            </a:r>
            <a:r>
              <a:rPr i="1" lang="es" sz="1900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&amp;</a:t>
            </a:r>
            <a:r>
              <a:rPr i="1" lang="es" sz="1900" u="none" cap="none" strike="noStrike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 Linking Format</a:t>
            </a:r>
            <a:endParaRPr sz="1900" u="none" cap="none" strike="noStrike">
              <a:solidFill>
                <a:srgbClr val="0B539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2924025" y="1829475"/>
            <a:ext cx="61896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Inter"/>
                <a:ea typeface="Inter"/>
                <a:cs typeface="Inter"/>
                <a:sym typeface="Inter"/>
              </a:rPr>
              <a:t>Información para cargar las diferentes partes (secciones) del programa en memoria.</a:t>
            </a: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82" name="Google Shape;282;p23"/>
          <p:cNvGraphicFramePr/>
          <p:nvPr/>
        </p:nvGraphicFramePr>
        <p:xfrm>
          <a:off x="3019269" y="250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{8327DE6C-6E3B-493D-9825-CB8D1438324F}</a:tableStyleId>
              </a:tblPr>
              <a:tblGrid>
                <a:gridCol w="644375"/>
                <a:gridCol w="894375"/>
                <a:gridCol w="886925"/>
                <a:gridCol w="1164725"/>
                <a:gridCol w="936825"/>
                <a:gridCol w="706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Tipo</a:t>
                      </a:r>
                      <a:endParaRPr b="1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Offset</a:t>
                      </a:r>
                      <a:endParaRPr b="1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Tamaño</a:t>
                      </a:r>
                      <a:endParaRPr b="1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Dir. Virtual</a:t>
                      </a:r>
                      <a:endParaRPr b="1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Tamaño</a:t>
                      </a:r>
                      <a:endParaRPr b="1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Flags</a:t>
                      </a:r>
                      <a:endParaRPr b="1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0x02dd0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0x0258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0x03dd0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0x0268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 W 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  <a:tr h="381000">
                <a:tc grid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Secciones: </a:t>
                      </a:r>
                      <a:r>
                        <a:rPr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.data, .bss, …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283" name="Google Shape;283;p23"/>
          <p:cNvSpPr/>
          <p:nvPr/>
        </p:nvSpPr>
        <p:spPr>
          <a:xfrm>
            <a:off x="225200" y="5274256"/>
            <a:ext cx="2286000" cy="213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.data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225200" y="5491878"/>
            <a:ext cx="2286000" cy="213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.bss</a:t>
            </a:r>
            <a:endParaRPr/>
          </a:p>
        </p:txBody>
      </p:sp>
      <p:cxnSp>
        <p:nvCxnSpPr>
          <p:cNvPr id="285" name="Google Shape;285;p23"/>
          <p:cNvCxnSpPr>
            <a:stCxn id="274" idx="3"/>
            <a:endCxn id="271" idx="1"/>
          </p:cNvCxnSpPr>
          <p:nvPr/>
        </p:nvCxnSpPr>
        <p:spPr>
          <a:xfrm flipH="1" rot="10800000">
            <a:off x="2516187" y="2844312"/>
            <a:ext cx="396900" cy="39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23"/>
          <p:cNvCxnSpPr/>
          <p:nvPr/>
        </p:nvCxnSpPr>
        <p:spPr>
          <a:xfrm rot="-5400000">
            <a:off x="2295500" y="4061175"/>
            <a:ext cx="1787400" cy="1089600"/>
          </a:xfrm>
          <a:prstGeom prst="bentConnector3">
            <a:avLst>
              <a:gd fmla="val 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23"/>
          <p:cNvCxnSpPr/>
          <p:nvPr/>
        </p:nvCxnSpPr>
        <p:spPr>
          <a:xfrm>
            <a:off x="2637140" y="5266990"/>
            <a:ext cx="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23"/>
          <p:cNvSpPr/>
          <p:nvPr/>
        </p:nvSpPr>
        <p:spPr>
          <a:xfrm>
            <a:off x="225200" y="4359849"/>
            <a:ext cx="2286000" cy="2136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.text</a:t>
            </a:r>
            <a:endParaRPr/>
          </a:p>
        </p:txBody>
      </p:sp>
      <p:graphicFrame>
        <p:nvGraphicFramePr>
          <p:cNvPr id="289" name="Google Shape;289;p23"/>
          <p:cNvGraphicFramePr/>
          <p:nvPr/>
        </p:nvGraphicFramePr>
        <p:xfrm>
          <a:off x="4112725" y="474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{8327DE6C-6E3B-493D-9825-CB8D1438324F}</a:tableStyleId>
              </a:tblPr>
              <a:tblGrid>
                <a:gridCol w="898650"/>
                <a:gridCol w="3628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Sección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Propósito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.text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Instrucciones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.rodata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Constantes (p.ej. cadenas literales)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Variables globales o </a:t>
                      </a: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static</a:t>
                      </a:r>
                      <a:r>
                        <a:rPr lang="es"/>
                        <a:t>, inicializadas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.bss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Variables globales o </a:t>
                      </a:r>
                      <a:r>
                        <a:rPr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static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, sin inicializar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23"/>
          <p:cNvSpPr txBox="1"/>
          <p:nvPr/>
        </p:nvSpPr>
        <p:spPr>
          <a:xfrm>
            <a:off x="225200" y="893025"/>
            <a:ext cx="879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programa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 un conjunto de instrucciones máquina y datos, almacenados en una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imagen ejecutable en disco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(entidad pasiva)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4112725" y="3980325"/>
            <a:ext cx="452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Algunas secciones importantes de un ejecutable: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Mapa de Memoria de un Proceso(II)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990175" y="864200"/>
            <a:ext cx="2257200" cy="4685700"/>
          </a:xfrm>
          <a:prstGeom prst="rect">
            <a:avLst/>
          </a:prstGeom>
          <a:solidFill>
            <a:srgbClr val="F3F3F3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990174" y="3967036"/>
            <a:ext cx="2257200" cy="329400"/>
          </a:xfrm>
          <a:prstGeom prst="rect">
            <a:avLst/>
          </a:prstGeom>
          <a:solidFill>
            <a:srgbClr val="9FC5E8"/>
          </a:solidFill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Pila</a:t>
            </a: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↑</a:t>
            </a:r>
            <a:endParaRPr b="1" i="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990174" y="1372443"/>
            <a:ext cx="2257200" cy="685800"/>
          </a:xfrm>
          <a:prstGeom prst="rect">
            <a:avLst/>
          </a:prstGeom>
          <a:solidFill>
            <a:srgbClr val="CFE2F3"/>
          </a:solidFill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Texto</a:t>
            </a:r>
            <a:r>
              <a:rPr i="0" lang="es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es" u="none" cap="none" strike="noStrike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(.text)</a:t>
            </a:r>
            <a:endParaRPr i="0" u="none" cap="none" strike="noStrike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990174" y="2064322"/>
            <a:ext cx="2257200" cy="668400"/>
          </a:xfrm>
          <a:prstGeom prst="rect">
            <a:avLst/>
          </a:prstGeom>
          <a:solidFill>
            <a:srgbClr val="CFE2F3"/>
          </a:solidFill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b="1" i="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(.bss,</a:t>
            </a: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.data,</a:t>
            </a: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.rodata)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990174" y="2729618"/>
            <a:ext cx="2257200" cy="341100"/>
          </a:xfrm>
          <a:prstGeom prst="rect">
            <a:avLst/>
          </a:prstGeom>
          <a:solidFill>
            <a:srgbClr val="9FC5E8"/>
          </a:solidFill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Heap </a:t>
            </a: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1" i="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990174" y="3314242"/>
            <a:ext cx="2257200" cy="5256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43434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Memoria mapeada</a:t>
            </a:r>
            <a:endParaRPr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Librerías dinámicas</a:t>
            </a:r>
            <a:endParaRPr i="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-119930" y="782862"/>
            <a:ext cx="1072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0x0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000</a:t>
            </a:r>
            <a:r>
              <a:rPr b="0" i="0" lang="e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00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-119930" y="1249037"/>
            <a:ext cx="1072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0x08048100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990174" y="4296436"/>
            <a:ext cx="2257200" cy="329400"/>
          </a:xfrm>
          <a:prstGeom prst="rect">
            <a:avLst/>
          </a:prstGeom>
          <a:solidFill>
            <a:srgbClr val="6FA8DC"/>
          </a:solidFill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env</a:t>
            </a:r>
            <a:endParaRPr b="1" i="0" u="none" cap="none" strike="noStrike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-119930" y="4471037"/>
            <a:ext cx="1072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0x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C0</a:t>
            </a:r>
            <a:r>
              <a:rPr b="0" i="0" lang="e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000</a:t>
            </a:r>
            <a:r>
              <a:rPr b="0" i="0" lang="e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00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" name="Google Shape;308;p24"/>
          <p:cNvSpPr txBox="1"/>
          <p:nvPr/>
        </p:nvSpPr>
        <p:spPr>
          <a:xfrm>
            <a:off x="-94901" y="5321390"/>
            <a:ext cx="1072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0x</a:t>
            </a: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FFFFFFFF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987575" y="4625849"/>
            <a:ext cx="2257200" cy="9243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Espacio del kernel</a:t>
            </a:r>
            <a:endParaRPr b="1"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/>
              <a:t>(1GB)</a:t>
            </a:r>
            <a:endParaRPr b="1" i="1"/>
          </a:p>
        </p:txBody>
      </p:sp>
      <p:sp>
        <p:nvSpPr>
          <p:cNvPr id="310" name="Google Shape;310;p24"/>
          <p:cNvSpPr txBox="1"/>
          <p:nvPr/>
        </p:nvSpPr>
        <p:spPr>
          <a:xfrm>
            <a:off x="990174" y="806943"/>
            <a:ext cx="225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Direcciones virtuales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32 bits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11" name="Google Shape;311;p24"/>
          <p:cNvCxnSpPr/>
          <p:nvPr/>
        </p:nvCxnSpPr>
        <p:spPr>
          <a:xfrm>
            <a:off x="926910" y="894800"/>
            <a:ext cx="0" cy="373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2" name="Google Shape;312;p24"/>
          <p:cNvSpPr txBox="1"/>
          <p:nvPr/>
        </p:nvSpPr>
        <p:spPr>
          <a:xfrm>
            <a:off x="-174804" y="2658700"/>
            <a:ext cx="118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Espacio usuario 3GB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51152" y="5656000"/>
            <a:ext cx="9041700" cy="1134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18000" wrap="square" tIns="91425">
            <a:sp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Código y estructuras de datos del kernel. Compartido por todos los procesos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Sólo accesible en modo privilegiado (bit U/S de la tabla de páginas)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Tablas de páginas separadas (usuario,kernel) - Meltdown - </a:t>
            </a:r>
            <a:r>
              <a:rPr lang="es" sz="15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Kernel Page Table Isolation (KPTI)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14" name="Google Shape;314;p24"/>
          <p:cNvCxnSpPr>
            <a:stCxn id="309" idx="3"/>
            <a:endCxn id="313" idx="0"/>
          </p:cNvCxnSpPr>
          <p:nvPr/>
        </p:nvCxnSpPr>
        <p:spPr>
          <a:xfrm>
            <a:off x="3244775" y="5087999"/>
            <a:ext cx="1327200" cy="567900"/>
          </a:xfrm>
          <a:prstGeom prst="bentConnector2">
            <a:avLst/>
          </a:prstGeom>
          <a:noFill/>
          <a:ln cap="flat" cmpd="sng" w="19050">
            <a:solidFill>
              <a:srgbClr val="45818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24"/>
          <p:cNvCxnSpPr/>
          <p:nvPr/>
        </p:nvCxnSpPr>
        <p:spPr>
          <a:xfrm>
            <a:off x="3360175" y="1407900"/>
            <a:ext cx="0" cy="6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6" name="Google Shape;316;p24"/>
          <p:cNvSpPr txBox="1"/>
          <p:nvPr/>
        </p:nvSpPr>
        <p:spPr>
          <a:xfrm>
            <a:off x="987575" y="1828175"/>
            <a:ext cx="2257200" cy="231000"/>
          </a:xfrm>
          <a:prstGeom prst="rect">
            <a:avLst/>
          </a:prstGeom>
          <a:solidFill>
            <a:srgbClr val="CFE2F3"/>
          </a:solidFill>
          <a:ln cap="rnd" cmpd="sng" w="9525">
            <a:solidFill>
              <a:srgbClr val="0B5394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t/>
            </a:r>
            <a:endParaRPr i="1" u="none" cap="none" strike="noStrike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7" name="Google Shape;317;p24"/>
          <p:cNvCxnSpPr>
            <a:stCxn id="316" idx="3"/>
            <a:endCxn id="316" idx="3"/>
          </p:cNvCxnSpPr>
          <p:nvPr/>
        </p:nvCxnSpPr>
        <p:spPr>
          <a:xfrm>
            <a:off x="3244775" y="194367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4"/>
          <p:cNvCxnSpPr/>
          <p:nvPr/>
        </p:nvCxnSpPr>
        <p:spPr>
          <a:xfrm>
            <a:off x="3366375" y="1723438"/>
            <a:ext cx="36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4"/>
          <p:cNvSpPr txBox="1"/>
          <p:nvPr/>
        </p:nvSpPr>
        <p:spPr>
          <a:xfrm>
            <a:off x="3676164" y="842801"/>
            <a:ext cx="5383800" cy="4484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Segmentos de Memoria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maps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Área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memoria contigua con varias páginas de memoria virtual (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vm_area_struct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páginas tienen los mismos permisos (RW, NX) y son del mismo tipo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Tipos: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Respaldadas por fichero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Anónimas (heap, stack, memoria dinámica)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Privadas accesibles únicamente por el proceso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Compartidas accesibles por otros procesos.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24"/>
          <p:cNvSpPr txBox="1"/>
          <p:nvPr/>
        </p:nvSpPr>
        <p:spPr>
          <a:xfrm>
            <a:off x="993525" y="1378500"/>
            <a:ext cx="2257200" cy="231000"/>
          </a:xfrm>
          <a:prstGeom prst="rect">
            <a:avLst/>
          </a:prstGeom>
          <a:noFill/>
          <a:ln cap="rnd" cmpd="sng" w="9525">
            <a:solidFill>
              <a:srgbClr val="0B5394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t/>
            </a:r>
            <a:endParaRPr i="0" u="none" cap="none" strike="noStrike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53950" y="1715200"/>
            <a:ext cx="75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página virtual</a:t>
            </a:r>
            <a:endParaRPr i="1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2" name="Google Shape;322;p24"/>
          <p:cNvCxnSpPr>
            <a:stCxn id="321" idx="3"/>
          </p:cNvCxnSpPr>
          <p:nvPr/>
        </p:nvCxnSpPr>
        <p:spPr>
          <a:xfrm>
            <a:off x="812950" y="1930750"/>
            <a:ext cx="90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25"/>
          <p:cNvCxnSpPr>
            <a:stCxn id="328" idx="3"/>
            <a:endCxn id="329" idx="1"/>
          </p:cNvCxnSpPr>
          <p:nvPr/>
        </p:nvCxnSpPr>
        <p:spPr>
          <a:xfrm>
            <a:off x="3804150" y="3890759"/>
            <a:ext cx="7980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" name="Google Shape;330;p2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Mapa de Memoria de un Proceso(III)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2085200" y="5075725"/>
            <a:ext cx="1739100" cy="1230600"/>
          </a:xfrm>
          <a:prstGeom prst="rect">
            <a:avLst/>
          </a:prstGeom>
          <a:solidFill>
            <a:srgbClr val="D0E0E3"/>
          </a:solidFill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endParaRPr i="0" u="none" cap="none" strike="noStrike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25"/>
          <p:cNvSpPr txBox="1"/>
          <p:nvPr/>
        </p:nvSpPr>
        <p:spPr>
          <a:xfrm>
            <a:off x="2085200" y="5432300"/>
            <a:ext cx="1739100" cy="2310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dentry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2085200" y="5683719"/>
            <a:ext cx="1739100" cy="2310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inode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2085200" y="5948506"/>
            <a:ext cx="1739100" cy="2310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address_space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36" name="Google Shape;336;p25"/>
          <p:cNvCxnSpPr>
            <a:stCxn id="337" idx="1"/>
            <a:endCxn id="334" idx="1"/>
          </p:cNvCxnSpPr>
          <p:nvPr/>
        </p:nvCxnSpPr>
        <p:spPr>
          <a:xfrm flipH="1">
            <a:off x="2085150" y="3136197"/>
            <a:ext cx="17700" cy="2663100"/>
          </a:xfrm>
          <a:prstGeom prst="bentConnector3">
            <a:avLst>
              <a:gd fmla="val 144505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25"/>
          <p:cNvSpPr txBox="1"/>
          <p:nvPr/>
        </p:nvSpPr>
        <p:spPr>
          <a:xfrm>
            <a:off x="2102850" y="870400"/>
            <a:ext cx="1739100" cy="1137300"/>
          </a:xfrm>
          <a:prstGeom prst="rect">
            <a:avLst/>
          </a:prstGeom>
          <a:solidFill>
            <a:srgbClr val="D9D2E9"/>
          </a:solidFill>
          <a:ln cap="rnd" cmpd="sng" w="9525">
            <a:solidFill>
              <a:srgbClr val="351C7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t/>
            </a:r>
            <a:endParaRPr i="0" sz="1600" u="none" cap="none" strike="noStrike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4602018" y="3430052"/>
            <a:ext cx="3537900" cy="923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open()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añadir área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close()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eliminar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área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nopage()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página no presente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339" name="Google Shape;339;p25"/>
          <p:cNvGraphicFramePr/>
          <p:nvPr/>
        </p:nvGraphicFramePr>
        <p:xfrm>
          <a:off x="4224670" y="838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{8327DE6C-6E3B-493D-9825-CB8D1438324F}</a:tableStyleId>
              </a:tblPr>
              <a:tblGrid>
                <a:gridCol w="1073025"/>
                <a:gridCol w="890250"/>
                <a:gridCol w="760150"/>
                <a:gridCol w="989675"/>
                <a:gridCol w="1068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Segmento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Soporte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Proto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Car</a:t>
                      </a:r>
                      <a:r>
                        <a:rPr b="1" lang="es"/>
                        <a:t>ácter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Tamaño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.text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File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SHARED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Fijo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.bss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Anonym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RW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PRIVATE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Fijo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.data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File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RW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PRIVATE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Fijo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Stack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Anonym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PRIVATE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Variable </a:t>
                      </a:r>
                      <a:r>
                        <a:rPr b="1" lang="es" sz="1500">
                          <a:solidFill>
                            <a:srgbClr val="43434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↓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Heap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Anonym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RW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PRIVATE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Variable </a:t>
                      </a:r>
                      <a:r>
                        <a:rPr b="1" lang="es" sz="1500">
                          <a:solidFill>
                            <a:srgbClr val="43434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↑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340" name="Google Shape;340;p25"/>
          <p:cNvSpPr txBox="1"/>
          <p:nvPr/>
        </p:nvSpPr>
        <p:spPr>
          <a:xfrm>
            <a:off x="2085200" y="2158700"/>
            <a:ext cx="1739100" cy="1917600"/>
          </a:xfrm>
          <a:prstGeom prst="rect">
            <a:avLst/>
          </a:prstGeom>
          <a:solidFill>
            <a:srgbClr val="CFE2F3"/>
          </a:solidFill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t/>
            </a:r>
            <a:endParaRPr i="0" u="none" cap="none" strike="noStrike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25"/>
          <p:cNvSpPr txBox="1"/>
          <p:nvPr/>
        </p:nvSpPr>
        <p:spPr>
          <a:xfrm>
            <a:off x="2102850" y="2578726"/>
            <a:ext cx="1701300" cy="340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vm_flags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" name="Google Shape;337;p25"/>
          <p:cNvSpPr txBox="1"/>
          <p:nvPr/>
        </p:nvSpPr>
        <p:spPr>
          <a:xfrm>
            <a:off x="2102850" y="2966097"/>
            <a:ext cx="1701300" cy="3402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p25"/>
          <p:cNvSpPr txBox="1"/>
          <p:nvPr/>
        </p:nvSpPr>
        <p:spPr>
          <a:xfrm>
            <a:off x="2102850" y="3720659"/>
            <a:ext cx="1701300" cy="340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vm_operations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" name="Google Shape;342;p25"/>
          <p:cNvSpPr txBox="1"/>
          <p:nvPr/>
        </p:nvSpPr>
        <p:spPr>
          <a:xfrm>
            <a:off x="74226" y="1626200"/>
            <a:ext cx="1551900" cy="3692700"/>
          </a:xfrm>
          <a:prstGeom prst="rect">
            <a:avLst/>
          </a:prstGeom>
          <a:solidFill>
            <a:srgbClr val="F3F3F3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74226" y="4729049"/>
            <a:ext cx="1551900" cy="288900"/>
          </a:xfrm>
          <a:prstGeom prst="rect">
            <a:avLst/>
          </a:prstGeom>
          <a:solidFill>
            <a:srgbClr val="9FC5E8"/>
          </a:solidFill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Pila</a:t>
            </a: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i="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74224" y="2134448"/>
            <a:ext cx="1551900" cy="685800"/>
          </a:xfrm>
          <a:prstGeom prst="rect">
            <a:avLst/>
          </a:prstGeom>
          <a:solidFill>
            <a:srgbClr val="D9D2E9"/>
          </a:solidFill>
          <a:ln cap="rnd" cmpd="sng" w="9525">
            <a:solidFill>
              <a:srgbClr val="351C7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Texto</a:t>
            </a:r>
            <a:endParaRPr i="0" u="none" cap="none" strike="noStrike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5" name="Google Shape;345;p25"/>
          <p:cNvSpPr txBox="1"/>
          <p:nvPr/>
        </p:nvSpPr>
        <p:spPr>
          <a:xfrm>
            <a:off x="74224" y="2826326"/>
            <a:ext cx="1551900" cy="668400"/>
          </a:xfrm>
          <a:prstGeom prst="rect">
            <a:avLst/>
          </a:prstGeom>
          <a:solidFill>
            <a:srgbClr val="CFE2F3"/>
          </a:solidFill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b="1" i="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t/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6" name="Google Shape;346;p25"/>
          <p:cNvSpPr txBox="1"/>
          <p:nvPr/>
        </p:nvSpPr>
        <p:spPr>
          <a:xfrm>
            <a:off x="74224" y="3491621"/>
            <a:ext cx="1551900" cy="341100"/>
          </a:xfrm>
          <a:prstGeom prst="rect">
            <a:avLst/>
          </a:prstGeom>
          <a:solidFill>
            <a:srgbClr val="9FC5E8"/>
          </a:solidFill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Heap</a:t>
            </a:r>
            <a:endParaRPr b="1" i="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74224" y="4076244"/>
            <a:ext cx="1551900" cy="5256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43434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Mem. proyectada</a:t>
            </a:r>
            <a:endParaRPr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t/>
            </a:r>
            <a:endParaRPr i="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74200" y="836902"/>
            <a:ext cx="1551900" cy="719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54000" spcFirstLastPara="1" rIns="54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Virtual (mm_struct)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PCB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49" name="Google Shape;349;p25"/>
          <p:cNvCxnSpPr/>
          <p:nvPr/>
        </p:nvCxnSpPr>
        <p:spPr>
          <a:xfrm>
            <a:off x="2330375" y="232467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5"/>
          <p:cNvCxnSpPr>
            <a:stCxn id="351" idx="3"/>
            <a:endCxn id="352" idx="3"/>
          </p:cNvCxnSpPr>
          <p:nvPr/>
        </p:nvCxnSpPr>
        <p:spPr>
          <a:xfrm flipH="1">
            <a:off x="3822900" y="1425600"/>
            <a:ext cx="18900" cy="953400"/>
          </a:xfrm>
          <a:prstGeom prst="bentConnector3">
            <a:avLst>
              <a:gd fmla="val -125992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2" name="Google Shape;352;p25"/>
          <p:cNvSpPr txBox="1"/>
          <p:nvPr/>
        </p:nvSpPr>
        <p:spPr>
          <a:xfrm>
            <a:off x="2083800" y="2178775"/>
            <a:ext cx="173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Segmento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2102700" y="1102350"/>
            <a:ext cx="173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Segmento</a:t>
            </a:r>
            <a:endParaRPr b="1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lang="es" sz="16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6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vm_area)</a:t>
            </a:r>
            <a:endParaRPr b="1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53" name="Google Shape;353;p25"/>
          <p:cNvCxnSpPr>
            <a:stCxn id="344" idx="3"/>
            <a:endCxn id="351" idx="1"/>
          </p:cNvCxnSpPr>
          <p:nvPr/>
        </p:nvCxnSpPr>
        <p:spPr>
          <a:xfrm flipH="1" rot="10800000">
            <a:off x="1626124" y="1425548"/>
            <a:ext cx="476700" cy="10518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dash"/>
            <a:round/>
            <a:headEnd len="med" w="med" type="oval"/>
            <a:tailEnd len="med" w="med" type="triangle"/>
          </a:ln>
        </p:spPr>
      </p:cxnSp>
      <p:cxnSp>
        <p:nvCxnSpPr>
          <p:cNvPr id="354" name="Google Shape;354;p25"/>
          <p:cNvCxnSpPr>
            <a:stCxn id="345" idx="3"/>
            <a:endCxn id="352" idx="1"/>
          </p:cNvCxnSpPr>
          <p:nvPr/>
        </p:nvCxnSpPr>
        <p:spPr>
          <a:xfrm flipH="1" rot="10800000">
            <a:off x="1626124" y="2378726"/>
            <a:ext cx="457800" cy="781800"/>
          </a:xfrm>
          <a:prstGeom prst="straightConnector1">
            <a:avLst/>
          </a:prstGeom>
          <a:noFill/>
          <a:ln cap="flat" cmpd="sng" w="9525">
            <a:solidFill>
              <a:srgbClr val="0B5394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355" name="Google Shape;355;p25"/>
          <p:cNvSpPr txBox="1"/>
          <p:nvPr/>
        </p:nvSpPr>
        <p:spPr>
          <a:xfrm>
            <a:off x="2121629" y="874775"/>
            <a:ext cx="1701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lang="es" sz="1300">
                <a:latin typeface="Courier New"/>
                <a:ea typeface="Courier New"/>
                <a:cs typeface="Courier New"/>
                <a:sym typeface="Courier New"/>
              </a:rPr>
              <a:t>vm_start (0xc500)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6" name="Google Shape;356;p25"/>
          <p:cNvSpPr txBox="1"/>
          <p:nvPr/>
        </p:nvSpPr>
        <p:spPr>
          <a:xfrm>
            <a:off x="2121630" y="1789175"/>
            <a:ext cx="1701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lang="es" sz="1300">
                <a:latin typeface="Courier New"/>
                <a:ea typeface="Courier New"/>
                <a:cs typeface="Courier New"/>
                <a:sym typeface="Courier New"/>
              </a:rPr>
              <a:t>vm_end (0xfc00)</a:t>
            </a:r>
            <a:endParaRPr b="0" i="0" sz="13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57" name="Google Shape;357;p25"/>
          <p:cNvCxnSpPr>
            <a:stCxn id="348" idx="3"/>
          </p:cNvCxnSpPr>
          <p:nvPr/>
        </p:nvCxnSpPr>
        <p:spPr>
          <a:xfrm>
            <a:off x="1626100" y="1196452"/>
            <a:ext cx="45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25"/>
          <p:cNvSpPr txBox="1"/>
          <p:nvPr/>
        </p:nvSpPr>
        <p:spPr>
          <a:xfrm>
            <a:off x="2102850" y="3338615"/>
            <a:ext cx="1701300" cy="3402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anon_vma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25"/>
          <p:cNvSpPr txBox="1"/>
          <p:nvPr/>
        </p:nvSpPr>
        <p:spPr>
          <a:xfrm>
            <a:off x="2117200" y="4093277"/>
            <a:ext cx="2413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Segmentos anónimos (enlace a la lista del sistema)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0" name="Google Shape;360;p25"/>
          <p:cNvCxnSpPr>
            <a:stCxn id="358" idx="1"/>
            <a:endCxn id="359" idx="1"/>
          </p:cNvCxnSpPr>
          <p:nvPr/>
        </p:nvCxnSpPr>
        <p:spPr>
          <a:xfrm>
            <a:off x="2102850" y="3508715"/>
            <a:ext cx="14400" cy="1046400"/>
          </a:xfrm>
          <a:prstGeom prst="bentConnector3">
            <a:avLst>
              <a:gd fmla="val -98854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1" name="Google Shape;361;p25"/>
          <p:cNvSpPr txBox="1"/>
          <p:nvPr/>
        </p:nvSpPr>
        <p:spPr>
          <a:xfrm>
            <a:off x="4059275" y="4725700"/>
            <a:ext cx="49470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Soporte del Segmento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Fichero, referencia al VFS para gestionar los fallos de p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ágina, sincronización...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kernel tiene estructuras enlazadas para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buscar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los segmentos que usan un marco de página y al revés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"/>
          <p:cNvSpPr/>
          <p:nvPr/>
        </p:nvSpPr>
        <p:spPr>
          <a:xfrm>
            <a:off x="70250" y="3752375"/>
            <a:ext cx="9003600" cy="3052800"/>
          </a:xfrm>
          <a:prstGeom prst="roundRect">
            <a:avLst>
              <a:gd fmla="val 3676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3870080" y="5700759"/>
            <a:ext cx="1636500" cy="446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769050" y="4861474"/>
            <a:ext cx="8075100" cy="1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6"/>
          <p:cNvSpPr txBox="1"/>
          <p:nvPr/>
        </p:nvSpPr>
        <p:spPr>
          <a:xfrm>
            <a:off x="237001" y="868266"/>
            <a:ext cx="911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" name="Google Shape;371;p2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Mapa de Memoria de un Proceso(IV)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10025" y="733185"/>
            <a:ext cx="9117600" cy="30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Interfaz del Sistema (CLI)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segmentos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un proceso se pueden consultar en </a:t>
            </a: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/proc/&lt;pid&gt;/maps.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Muestra el contenido de la lista de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vm_area_struct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Ver </a:t>
            </a:r>
            <a:r>
              <a:rPr lang="es" sz="1700">
                <a:solidFill>
                  <a:schemeClr val="hlink"/>
                </a:solidFill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/>
              </a:rPr>
              <a:t>proc_pid_maps(5)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nsolas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comando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puede mostrar el uso de memoria del proceso: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RSS (Resident Set Size)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KB. Páginas en memoria principal. No incluye memoria secundaria o sin inicializar. Las páginas compartidas se cuentan para cada proceso que las referencia.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VSZ (Virtual Memory Size)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KB. Memoria virtual del proceso incluye librerías dinámicas y ficheros proyectados en memoria.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3" name="Google Shape;373;p26"/>
          <p:cNvCxnSpPr/>
          <p:nvPr/>
        </p:nvCxnSpPr>
        <p:spPr>
          <a:xfrm>
            <a:off x="769050" y="4555749"/>
            <a:ext cx="8075100" cy="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26"/>
          <p:cNvSpPr txBox="1"/>
          <p:nvPr/>
        </p:nvSpPr>
        <p:spPr>
          <a:xfrm>
            <a:off x="833400" y="6193249"/>
            <a:ext cx="33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Segmento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.text con código de bash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26"/>
          <p:cNvSpPr txBox="1"/>
          <p:nvPr/>
        </p:nvSpPr>
        <p:spPr>
          <a:xfrm>
            <a:off x="5056900" y="6454374"/>
            <a:ext cx="33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Segmentos anónimos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6" name="Google Shape;376;p26"/>
          <p:cNvCxnSpPr>
            <a:stCxn id="367" idx="2"/>
            <a:endCxn id="375" idx="1"/>
          </p:cNvCxnSpPr>
          <p:nvPr/>
        </p:nvCxnSpPr>
        <p:spPr>
          <a:xfrm flipH="1" rot="-5400000">
            <a:off x="4619030" y="6216459"/>
            <a:ext cx="507300" cy="368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26"/>
          <p:cNvCxnSpPr>
            <a:stCxn id="368" idx="1"/>
            <a:endCxn id="374" idx="1"/>
          </p:cNvCxnSpPr>
          <p:nvPr/>
        </p:nvCxnSpPr>
        <p:spPr>
          <a:xfrm>
            <a:off x="769050" y="4951474"/>
            <a:ext cx="64500" cy="1441800"/>
          </a:xfrm>
          <a:prstGeom prst="bentConnector3">
            <a:avLst>
              <a:gd fmla="val -36918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8" name="Google Shape;378;p26"/>
          <p:cNvSpPr txBox="1"/>
          <p:nvPr/>
        </p:nvSpPr>
        <p:spPr>
          <a:xfrm>
            <a:off x="762450" y="4190074"/>
            <a:ext cx="80751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m_start  -   vm_end    flag offset   ma:mi inode      respaldo (path)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557bfb1c5000-557bfb1fc000 r--p 00000000 fe:02 56408195   /usr/bin/bash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557bfb1fc000-557bfb2ce000 r-xp 00037000 fe:02 56408195   /usr/bin/bash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557bfb2ce000-557bfb312000 r--p 00109000 fe:02 56408195   /usr/bin/bash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557bfb312000-557bfb318000 r--p 0014d000 fe:02 56408195   /usr/bin/bash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557bfb318000-557bfb321000 rw-p 00153000 fe:02 56408195   /usr/bin/bash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557bfb321000-557bfb32c000 rw-p 00000000 00:00 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557c11c2b000-557c11e08000 rw-p 00000000 00:00 0          [heap]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26"/>
          <p:cNvSpPr txBox="1"/>
          <p:nvPr/>
        </p:nvSpPr>
        <p:spPr>
          <a:xfrm>
            <a:off x="86225" y="3762026"/>
            <a:ext cx="886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Ejemplo: </a:t>
            </a:r>
            <a:r>
              <a:rPr lang="es" sz="1700">
                <a:latin typeface="Inter"/>
                <a:ea typeface="Inter"/>
                <a:cs typeface="Inter"/>
                <a:sym typeface="Inter"/>
              </a:rPr>
              <a:t>Segmentos de memoria virtual de un proceso</a:t>
            </a:r>
            <a:endParaRPr sz="17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0" name="Google Shape;380;p26"/>
          <p:cNvSpPr txBox="1"/>
          <p:nvPr/>
        </p:nvSpPr>
        <p:spPr>
          <a:xfrm>
            <a:off x="7132322" y="5702764"/>
            <a:ext cx="1879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r,w = read, write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exec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 = shared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 = private (cow)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237001" y="868266"/>
            <a:ext cx="911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Mapa de Memoria de un Proceso(V)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88" name="Google Shape;388;p27"/>
          <p:cNvSpPr txBox="1"/>
          <p:nvPr/>
        </p:nvSpPr>
        <p:spPr>
          <a:xfrm>
            <a:off x="10025" y="763297"/>
            <a:ext cx="91176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Interfaz del Sistema (API)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Llamadas que modifican la memoria virtual de un proceso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fork(2)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Crea un nuevo proceso copiando las páginas de memoria virtual del padre (Copy-On-Write)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execve(2)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Carga un nuevo ejecutable reemplazando el espacio de direcciones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brk(2)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Mueve la localización del 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program break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(justo al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final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segmento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datos), aumentando/disminuyendo el heap del proceso.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mmap(2)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/munmap(2)/mremap(2)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Crea/destruye/redimensiona un segmento de diferentes tipos.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Nota: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malloc(3)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internamente usa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brk(2)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mmap(2)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según la cantidad de memoria solicitada (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MMAP_THRESHOLD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8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8"/>
          <p:cNvSpPr txBox="1"/>
          <p:nvPr/>
        </p:nvSpPr>
        <p:spPr>
          <a:xfrm>
            <a:off x="237001" y="868266"/>
            <a:ext cx="911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28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Mapa de Memoria de un Proceso(V)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96" name="Google Shape;396;p28"/>
          <p:cNvSpPr txBox="1"/>
          <p:nvPr/>
        </p:nvSpPr>
        <p:spPr>
          <a:xfrm>
            <a:off x="10025" y="763297"/>
            <a:ext cx="9117600" cy="59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Interfaz del Sistema (API)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*mmap(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*addr,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size_t length,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prot,         // PROT_EXEC, PROT_READ, PROT_WRITE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flags,        // MAP_SHARED, MAP_PRIVATE, MAP_ANON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fd,           // Proyección de fichero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off_t offset);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munmap (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 addr , size_t len);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addr,len: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indicación de la dirección de memoria virtual de comienzo del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segmento de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len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bytes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Normalmente NULL. El kernel elige la dirección alineada al tamaño de página.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munmap, elimina las regiones mapeadas entre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 + len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MAP_SHARED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el segmento es visible a otros procesos y se actualiza el fichero de respaldo (si lo hay).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MAP_PRIVATE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tiene el comportamiento opuesto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nsolas"/>
              <a:buChar char="●"/>
            </a:pP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MAP_ANON.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Región de memoria sin fichero de respaldo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fd, offset.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La región contiene los datos del fichero a proyectar. prot tiene que ser consistente con el modo de apertura del fichero.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MAP_HUGETLB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MAP_HUGE_2MB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MAP_HUGE_1GB (Linux)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Selecciona hugepages para el segmento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9"/>
          <p:cNvSpPr txBox="1"/>
          <p:nvPr/>
        </p:nvSpPr>
        <p:spPr>
          <a:xfrm>
            <a:off x="237001" y="868266"/>
            <a:ext cx="911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3" name="Google Shape;403;p2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Mapa de Memoria de un Proceso(VI)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10025" y="763297"/>
            <a:ext cx="9117600" cy="4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Interfaz del Sistema (API)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msync (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 addr , size_t len ,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flags)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Planifica la actualización de los ficheros de respaldo de los segmentos MAP_SHARED e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ntre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 + len. addr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debe estar alineado al tamaño de página.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flags permiten modificar el modo de actualización: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MS_SYNC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bloquea el proceso hasta que se complete la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operación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MS_ASYNC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actualiza la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caché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páginas y planifica la escritura a disco. Retorna inmediatamente.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MS_INVALIDATE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se invalidan otros segmentos respaldados por el mismo fichero para que se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carguen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nuevo en el siguiente acceso.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Nota: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Debe sincronizarse las páginas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respaldadas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por fichero y modificadas antes de llamar a la función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munmap(2)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0"/>
          <p:cNvSpPr txBox="1"/>
          <p:nvPr>
            <p:ph idx="4294967295" type="ctrTitle"/>
          </p:nvPr>
        </p:nvSpPr>
        <p:spPr>
          <a:xfrm>
            <a:off x="2301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4.3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Caché de Páginas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14" name="Google Shape;414;p30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Caché de Páginas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21" name="Google Shape;421;p31"/>
          <p:cNvSpPr txBox="1"/>
          <p:nvPr/>
        </p:nvSpPr>
        <p:spPr>
          <a:xfrm>
            <a:off x="10025" y="703073"/>
            <a:ext cx="9117600" cy="3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Mecanismo para 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acelerar las lecturas y escrituras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disco: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E/S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ficheros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read(2)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write(2))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E/S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dispositivos en 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modo bloque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(originalmente 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buffer cache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Integrado con todo el sistema de 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memoria virtual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Proyección de ficheros (</a:t>
            </a: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mmap(2)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Páginas anónimas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el área de intercambio (swap)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Sistemas de ficheros en memoria, pipes…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Permite usar 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políticas comunes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para la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gestión de memoria principal</a:t>
            </a:r>
            <a:endParaRPr b="1"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31"/>
          <p:cNvSpPr txBox="1"/>
          <p:nvPr/>
        </p:nvSpPr>
        <p:spPr>
          <a:xfrm>
            <a:off x="640538" y="4204062"/>
            <a:ext cx="1653000" cy="221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endParaRPr b="1"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3" name="Google Shape;423;p31"/>
          <p:cNvSpPr txBox="1"/>
          <p:nvPr/>
        </p:nvSpPr>
        <p:spPr>
          <a:xfrm>
            <a:off x="640550" y="4428664"/>
            <a:ext cx="1653000" cy="174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31"/>
          <p:cNvSpPr txBox="1"/>
          <p:nvPr/>
        </p:nvSpPr>
        <p:spPr>
          <a:xfrm>
            <a:off x="640550" y="4606093"/>
            <a:ext cx="1653000" cy="174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31"/>
          <p:cNvSpPr txBox="1"/>
          <p:nvPr/>
        </p:nvSpPr>
        <p:spPr>
          <a:xfrm>
            <a:off x="640550" y="4783522"/>
            <a:ext cx="1653000" cy="174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Inter"/>
                <a:ea typeface="Inter"/>
                <a:cs typeface="Inter"/>
                <a:sym typeface="Inter"/>
              </a:rPr>
              <a:t>address_space</a:t>
            </a:r>
            <a:endParaRPr sz="9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6" name="Google Shape;426;p31"/>
          <p:cNvSpPr/>
          <p:nvPr/>
        </p:nvSpPr>
        <p:spPr>
          <a:xfrm>
            <a:off x="2998812" y="4786274"/>
            <a:ext cx="175200" cy="174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>
            <a:off x="3332662" y="4489974"/>
            <a:ext cx="175200" cy="174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1"/>
          <p:cNvSpPr/>
          <p:nvPr/>
        </p:nvSpPr>
        <p:spPr>
          <a:xfrm>
            <a:off x="3332662" y="4786274"/>
            <a:ext cx="175200" cy="174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9" name="Google Shape;429;p31"/>
          <p:cNvCxnSpPr>
            <a:endCxn id="427" idx="3"/>
          </p:cNvCxnSpPr>
          <p:nvPr/>
        </p:nvCxnSpPr>
        <p:spPr>
          <a:xfrm flipH="1" rot="10800000">
            <a:off x="3148320" y="4639260"/>
            <a:ext cx="210000" cy="1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31"/>
          <p:cNvCxnSpPr>
            <a:stCxn id="426" idx="6"/>
            <a:endCxn id="428" idx="2"/>
          </p:cNvCxnSpPr>
          <p:nvPr/>
        </p:nvCxnSpPr>
        <p:spPr>
          <a:xfrm>
            <a:off x="3174012" y="4873724"/>
            <a:ext cx="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31"/>
          <p:cNvSpPr txBox="1"/>
          <p:nvPr/>
        </p:nvSpPr>
        <p:spPr>
          <a:xfrm>
            <a:off x="716738" y="5539611"/>
            <a:ext cx="1653000" cy="2211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Consolas"/>
                <a:ea typeface="Consolas"/>
                <a:cs typeface="Consolas"/>
                <a:sym typeface="Consolas"/>
              </a:rPr>
              <a:t>inode</a:t>
            </a:r>
            <a:endParaRPr b="1"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p31"/>
          <p:cNvSpPr txBox="1"/>
          <p:nvPr/>
        </p:nvSpPr>
        <p:spPr>
          <a:xfrm>
            <a:off x="716750" y="5764213"/>
            <a:ext cx="1653000" cy="174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31"/>
          <p:cNvSpPr txBox="1"/>
          <p:nvPr/>
        </p:nvSpPr>
        <p:spPr>
          <a:xfrm>
            <a:off x="716750" y="5941642"/>
            <a:ext cx="1653000" cy="174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31"/>
          <p:cNvSpPr txBox="1"/>
          <p:nvPr/>
        </p:nvSpPr>
        <p:spPr>
          <a:xfrm>
            <a:off x="716750" y="6119071"/>
            <a:ext cx="1653000" cy="174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Inter"/>
                <a:ea typeface="Inter"/>
                <a:cs typeface="Inter"/>
                <a:sym typeface="Inter"/>
              </a:rPr>
              <a:t>address_space</a:t>
            </a:r>
            <a:endParaRPr sz="9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2954564" y="6117725"/>
            <a:ext cx="175200" cy="174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1"/>
          <p:cNvSpPr/>
          <p:nvPr/>
        </p:nvSpPr>
        <p:spPr>
          <a:xfrm>
            <a:off x="3288414" y="5821425"/>
            <a:ext cx="175200" cy="174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1"/>
          <p:cNvSpPr/>
          <p:nvPr/>
        </p:nvSpPr>
        <p:spPr>
          <a:xfrm>
            <a:off x="3288414" y="6117725"/>
            <a:ext cx="175200" cy="174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1"/>
          <p:cNvSpPr/>
          <p:nvPr/>
        </p:nvSpPr>
        <p:spPr>
          <a:xfrm>
            <a:off x="3288414" y="6377775"/>
            <a:ext cx="175200" cy="174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9" name="Google Shape;439;p31"/>
          <p:cNvCxnSpPr>
            <a:endCxn id="436" idx="3"/>
          </p:cNvCxnSpPr>
          <p:nvPr/>
        </p:nvCxnSpPr>
        <p:spPr>
          <a:xfrm flipH="1" rot="10800000">
            <a:off x="3104072" y="5970711"/>
            <a:ext cx="210000" cy="1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1"/>
          <p:cNvCxnSpPr>
            <a:stCxn id="435" idx="6"/>
            <a:endCxn id="437" idx="2"/>
          </p:cNvCxnSpPr>
          <p:nvPr/>
        </p:nvCxnSpPr>
        <p:spPr>
          <a:xfrm>
            <a:off x="3129764" y="6205175"/>
            <a:ext cx="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31"/>
          <p:cNvCxnSpPr>
            <a:stCxn id="435" idx="5"/>
            <a:endCxn id="438" idx="1"/>
          </p:cNvCxnSpPr>
          <p:nvPr/>
        </p:nvCxnSpPr>
        <p:spPr>
          <a:xfrm>
            <a:off x="3104107" y="6267011"/>
            <a:ext cx="210000" cy="13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31"/>
          <p:cNvCxnSpPr>
            <a:stCxn id="434" idx="3"/>
            <a:endCxn id="435" idx="2"/>
          </p:cNvCxnSpPr>
          <p:nvPr/>
        </p:nvCxnSpPr>
        <p:spPr>
          <a:xfrm flipH="1" rot="10800000">
            <a:off x="2369750" y="6205321"/>
            <a:ext cx="5847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31"/>
          <p:cNvCxnSpPr>
            <a:stCxn id="425" idx="3"/>
            <a:endCxn id="426" idx="2"/>
          </p:cNvCxnSpPr>
          <p:nvPr/>
        </p:nvCxnSpPr>
        <p:spPr>
          <a:xfrm>
            <a:off x="2293550" y="4870972"/>
            <a:ext cx="7053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31"/>
          <p:cNvSpPr/>
          <p:nvPr/>
        </p:nvSpPr>
        <p:spPr>
          <a:xfrm>
            <a:off x="5941250" y="3912288"/>
            <a:ext cx="762900" cy="4839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1"/>
          <p:cNvSpPr/>
          <p:nvPr/>
        </p:nvSpPr>
        <p:spPr>
          <a:xfrm>
            <a:off x="5941250" y="4396188"/>
            <a:ext cx="762900" cy="4839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1"/>
          <p:cNvSpPr/>
          <p:nvPr/>
        </p:nvSpPr>
        <p:spPr>
          <a:xfrm>
            <a:off x="5941250" y="4880088"/>
            <a:ext cx="762900" cy="4839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5941250" y="5364213"/>
            <a:ext cx="762900" cy="4839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5941250" y="5847888"/>
            <a:ext cx="762900" cy="4839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5941250" y="6332238"/>
            <a:ext cx="762900" cy="4839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1"/>
          <p:cNvSpPr txBox="1"/>
          <p:nvPr/>
        </p:nvSpPr>
        <p:spPr>
          <a:xfrm>
            <a:off x="552053" y="3820125"/>
            <a:ext cx="224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Ficheros (E/S, mmap)</a:t>
            </a:r>
            <a:endParaRPr sz="1500">
              <a:solidFill>
                <a:srgbClr val="0B539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Google Shape;451;p31"/>
          <p:cNvSpPr txBox="1"/>
          <p:nvPr/>
        </p:nvSpPr>
        <p:spPr>
          <a:xfrm>
            <a:off x="598149" y="6364826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351C75"/>
                </a:solidFill>
                <a:latin typeface="Inter"/>
                <a:ea typeface="Inter"/>
                <a:cs typeface="Inter"/>
                <a:sym typeface="Inter"/>
              </a:rPr>
              <a:t>Dispositivos Bloque</a:t>
            </a:r>
            <a:endParaRPr sz="1500">
              <a:solidFill>
                <a:srgbClr val="351C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Google Shape;452;p31"/>
          <p:cNvSpPr txBox="1"/>
          <p:nvPr/>
        </p:nvSpPr>
        <p:spPr>
          <a:xfrm>
            <a:off x="6858350" y="3916087"/>
            <a:ext cx="2079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Marcos de Página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page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3" name="Google Shape;453;p31"/>
          <p:cNvCxnSpPr>
            <a:stCxn id="427" idx="6"/>
            <a:endCxn id="444" idx="1"/>
          </p:cNvCxnSpPr>
          <p:nvPr/>
        </p:nvCxnSpPr>
        <p:spPr>
          <a:xfrm flipH="1" rot="10800000">
            <a:off x="3507862" y="4154124"/>
            <a:ext cx="2433300" cy="4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31"/>
          <p:cNvCxnSpPr>
            <a:stCxn id="428" idx="6"/>
            <a:endCxn id="446" idx="1"/>
          </p:cNvCxnSpPr>
          <p:nvPr/>
        </p:nvCxnSpPr>
        <p:spPr>
          <a:xfrm>
            <a:off x="3507862" y="4873724"/>
            <a:ext cx="2433300" cy="24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5" name="Google Shape;455;p31"/>
          <p:cNvCxnSpPr>
            <a:endCxn id="447" idx="1"/>
          </p:cNvCxnSpPr>
          <p:nvPr/>
        </p:nvCxnSpPr>
        <p:spPr>
          <a:xfrm flipH="1" rot="10800000">
            <a:off x="3482750" y="5606163"/>
            <a:ext cx="2458500" cy="2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6" name="Google Shape;456;p31"/>
          <p:cNvSpPr/>
          <p:nvPr/>
        </p:nvSpPr>
        <p:spPr>
          <a:xfrm>
            <a:off x="2849600" y="4255812"/>
            <a:ext cx="843000" cy="249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1"/>
          <p:cNvSpPr txBox="1"/>
          <p:nvPr/>
        </p:nvSpPr>
        <p:spPr>
          <a:xfrm>
            <a:off x="3673088" y="5844343"/>
            <a:ext cx="23421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Árboles de Páginas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áginas cacheadas para ese fichero/inode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8" name="Google Shape;458;p31"/>
          <p:cNvSpPr txBox="1"/>
          <p:nvPr/>
        </p:nvSpPr>
        <p:spPr>
          <a:xfrm>
            <a:off x="6705950" y="6430687"/>
            <a:ext cx="2079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Principal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2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Caché de Páginas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10025" y="779273"/>
            <a:ext cx="9117600" cy="60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núcleo incluye 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mecanismos de búsqueda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para: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Localizar todos los segmentos de memoria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virtual a los que corresponde un marco de página (p.ej. invalidar el segmento en todos los procesos que lo mapean)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Localizar los bloques de memoria a partir del fichero y desplazamiento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núcleo es el responsable de mantener las páginas de la caché y los datos en cada dispositivo. Eventos de 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sincronización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Periódica (e.g. cada 30s)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Llamadas al sistema p.ej.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msync(2)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nsolas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Número de páginas modificadas (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dirty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Falta de páginas de memoria (reemplazamiento)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open(2)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permite modificar el comportamiento de las escrituras de un fichero: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O_DIRECT: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Evitar la escrituras en la caché de páginas, p.ej. caché en el espacio de usuario.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O_SYNC: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Bloquear las operaciones de escritura hasta que los datos se han transferido al disco.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Google Shape;473;p33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3"/>
          <p:cNvSpPr txBox="1"/>
          <p:nvPr>
            <p:ph idx="4294967295" type="ctrTitle"/>
          </p:nvPr>
        </p:nvSpPr>
        <p:spPr>
          <a:xfrm>
            <a:off x="2301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4.4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Gestión de la Memoria Principal 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5" name="Google Shape;475;p33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/>
          <p:nvPr/>
        </p:nvSpPr>
        <p:spPr>
          <a:xfrm>
            <a:off x="130475" y="4135388"/>
            <a:ext cx="8883000" cy="2672400"/>
          </a:xfrm>
          <a:prstGeom prst="roundRect">
            <a:avLst>
              <a:gd fmla="val 4131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4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4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Gestión de la 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Memoria Principal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83" name="Google Shape;483;p34"/>
          <p:cNvSpPr txBox="1"/>
          <p:nvPr/>
        </p:nvSpPr>
        <p:spPr>
          <a:xfrm>
            <a:off x="10025" y="763297"/>
            <a:ext cx="91176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Asignación de Marcos de Página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 un sistema de memoria virtual paginada el sistema de asignación es responsable de buscar </a:t>
            </a: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marcos de páginas libres para un nuevo segmento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algoritmo más común en este caso es 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Binary Buddy</a:t>
            </a:r>
            <a:endParaRPr i="1"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marcos se organizan en listas de 2</a:t>
            </a:r>
            <a:r>
              <a:rPr baseline="30000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ORDEN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marcos contiguos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Cuando no hay una región de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ORDEN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adecuado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2" marL="1371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⦁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 busca una región de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ORDEN’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&gt;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ORDEN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2" marL="1371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⦁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 divide en dos compañeros (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buddies,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ORDEN’-1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asignando uno y colocando el otro en la lista de regiones libres.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34"/>
          <p:cNvSpPr/>
          <p:nvPr/>
        </p:nvSpPr>
        <p:spPr>
          <a:xfrm>
            <a:off x="940250" y="4624950"/>
            <a:ext cx="1214400" cy="294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</a:t>
            </a: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940250" y="4922952"/>
            <a:ext cx="1214400" cy="2940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endParaRPr/>
          </a:p>
        </p:txBody>
      </p:sp>
      <p:sp>
        <p:nvSpPr>
          <p:cNvPr id="486" name="Google Shape;486;p34"/>
          <p:cNvSpPr/>
          <p:nvPr/>
        </p:nvSpPr>
        <p:spPr>
          <a:xfrm>
            <a:off x="940250" y="5220955"/>
            <a:ext cx="1214400" cy="2940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</a:t>
            </a:r>
            <a:endParaRPr/>
          </a:p>
        </p:txBody>
      </p:sp>
      <p:sp>
        <p:nvSpPr>
          <p:cNvPr id="487" name="Google Shape;487;p34"/>
          <p:cNvSpPr/>
          <p:nvPr/>
        </p:nvSpPr>
        <p:spPr>
          <a:xfrm>
            <a:off x="940250" y="5518958"/>
            <a:ext cx="1214400" cy="294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88" name="Google Shape;488;p34"/>
          <p:cNvSpPr/>
          <p:nvPr/>
        </p:nvSpPr>
        <p:spPr>
          <a:xfrm>
            <a:off x="940250" y="5821407"/>
            <a:ext cx="1214400" cy="2940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4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940250" y="6119410"/>
            <a:ext cx="1214400" cy="2940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940250" y="6417413"/>
            <a:ext cx="1214400" cy="29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6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2154644" y="4624950"/>
            <a:ext cx="131100" cy="29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4"/>
          <p:cNvSpPr/>
          <p:nvPr/>
        </p:nvSpPr>
        <p:spPr>
          <a:xfrm>
            <a:off x="2154644" y="4922951"/>
            <a:ext cx="131100" cy="29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4"/>
          <p:cNvSpPr/>
          <p:nvPr/>
        </p:nvSpPr>
        <p:spPr>
          <a:xfrm>
            <a:off x="2154644" y="5225398"/>
            <a:ext cx="131100" cy="29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2154644" y="5523399"/>
            <a:ext cx="131100" cy="29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4"/>
          <p:cNvSpPr/>
          <p:nvPr/>
        </p:nvSpPr>
        <p:spPr>
          <a:xfrm>
            <a:off x="2154644" y="5821400"/>
            <a:ext cx="131100" cy="29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4"/>
          <p:cNvSpPr/>
          <p:nvPr/>
        </p:nvSpPr>
        <p:spPr>
          <a:xfrm>
            <a:off x="2154644" y="6119401"/>
            <a:ext cx="131100" cy="29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4"/>
          <p:cNvSpPr/>
          <p:nvPr/>
        </p:nvSpPr>
        <p:spPr>
          <a:xfrm>
            <a:off x="2154644" y="6421849"/>
            <a:ext cx="131100" cy="29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4"/>
          <p:cNvSpPr/>
          <p:nvPr/>
        </p:nvSpPr>
        <p:spPr>
          <a:xfrm>
            <a:off x="2501900" y="4666036"/>
            <a:ext cx="240300" cy="210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4"/>
          <p:cNvSpPr/>
          <p:nvPr/>
        </p:nvSpPr>
        <p:spPr>
          <a:xfrm>
            <a:off x="3853425" y="5268760"/>
            <a:ext cx="240300" cy="2106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4"/>
          <p:cNvSpPr/>
          <p:nvPr/>
        </p:nvSpPr>
        <p:spPr>
          <a:xfrm>
            <a:off x="4098321" y="5268760"/>
            <a:ext cx="240300" cy="2106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4"/>
          <p:cNvSpPr/>
          <p:nvPr/>
        </p:nvSpPr>
        <p:spPr>
          <a:xfrm>
            <a:off x="4343238" y="5268760"/>
            <a:ext cx="240300" cy="2106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4"/>
          <p:cNvSpPr/>
          <p:nvPr/>
        </p:nvSpPr>
        <p:spPr>
          <a:xfrm>
            <a:off x="4588134" y="5268760"/>
            <a:ext cx="240300" cy="2106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4"/>
          <p:cNvSpPr/>
          <p:nvPr/>
        </p:nvSpPr>
        <p:spPr>
          <a:xfrm>
            <a:off x="3883064" y="5569462"/>
            <a:ext cx="240300" cy="2106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4"/>
          <p:cNvSpPr/>
          <p:nvPr/>
        </p:nvSpPr>
        <p:spPr>
          <a:xfrm>
            <a:off x="4127961" y="5569462"/>
            <a:ext cx="240300" cy="2106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4"/>
          <p:cNvSpPr/>
          <p:nvPr/>
        </p:nvSpPr>
        <p:spPr>
          <a:xfrm>
            <a:off x="4372877" y="5569462"/>
            <a:ext cx="240300" cy="2106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4"/>
          <p:cNvSpPr/>
          <p:nvPr/>
        </p:nvSpPr>
        <p:spPr>
          <a:xfrm>
            <a:off x="4617774" y="5569462"/>
            <a:ext cx="240300" cy="2106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4"/>
          <p:cNvSpPr/>
          <p:nvPr/>
        </p:nvSpPr>
        <p:spPr>
          <a:xfrm>
            <a:off x="4862714" y="5569462"/>
            <a:ext cx="240300" cy="2106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4"/>
          <p:cNvSpPr/>
          <p:nvPr/>
        </p:nvSpPr>
        <p:spPr>
          <a:xfrm>
            <a:off x="5107611" y="5569462"/>
            <a:ext cx="240300" cy="2106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4"/>
          <p:cNvSpPr/>
          <p:nvPr/>
        </p:nvSpPr>
        <p:spPr>
          <a:xfrm>
            <a:off x="5352527" y="5569462"/>
            <a:ext cx="240300" cy="2106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4"/>
          <p:cNvSpPr/>
          <p:nvPr/>
        </p:nvSpPr>
        <p:spPr>
          <a:xfrm>
            <a:off x="5597424" y="5569462"/>
            <a:ext cx="240300" cy="2106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1" name="Google Shape;511;p34"/>
          <p:cNvCxnSpPr>
            <a:stCxn id="494" idx="3"/>
            <a:endCxn id="503" idx="1"/>
          </p:cNvCxnSpPr>
          <p:nvPr/>
        </p:nvCxnSpPr>
        <p:spPr>
          <a:xfrm>
            <a:off x="2285744" y="5670399"/>
            <a:ext cx="15972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2" name="Google Shape;512;p34"/>
          <p:cNvCxnSpPr>
            <a:stCxn id="493" idx="3"/>
            <a:endCxn id="499" idx="1"/>
          </p:cNvCxnSpPr>
          <p:nvPr/>
        </p:nvCxnSpPr>
        <p:spPr>
          <a:xfrm>
            <a:off x="2285744" y="5372398"/>
            <a:ext cx="15678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3" name="Google Shape;513;p34"/>
          <p:cNvSpPr/>
          <p:nvPr/>
        </p:nvSpPr>
        <p:spPr>
          <a:xfrm>
            <a:off x="4860001" y="5268760"/>
            <a:ext cx="240300" cy="2106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4"/>
          <p:cNvSpPr/>
          <p:nvPr/>
        </p:nvSpPr>
        <p:spPr>
          <a:xfrm>
            <a:off x="5104897" y="5268760"/>
            <a:ext cx="240300" cy="2106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5349814" y="5268760"/>
            <a:ext cx="240300" cy="2106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4"/>
          <p:cNvSpPr/>
          <p:nvPr/>
        </p:nvSpPr>
        <p:spPr>
          <a:xfrm>
            <a:off x="5594710" y="5268760"/>
            <a:ext cx="240300" cy="2106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rgbClr val="CFE2F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7" name="Google Shape;517;p34"/>
          <p:cNvCxnSpPr>
            <a:stCxn id="510" idx="3"/>
            <a:endCxn id="516" idx="3"/>
          </p:cNvCxnSpPr>
          <p:nvPr/>
        </p:nvCxnSpPr>
        <p:spPr>
          <a:xfrm rot="10800000">
            <a:off x="5835024" y="5374162"/>
            <a:ext cx="2700" cy="300600"/>
          </a:xfrm>
          <a:prstGeom prst="bentConnector3">
            <a:avLst>
              <a:gd fmla="val -881944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34"/>
          <p:cNvCxnSpPr>
            <a:stCxn id="491" idx="3"/>
            <a:endCxn id="498" idx="1"/>
          </p:cNvCxnSpPr>
          <p:nvPr/>
        </p:nvCxnSpPr>
        <p:spPr>
          <a:xfrm flipH="1" rot="10800000">
            <a:off x="2285744" y="4771350"/>
            <a:ext cx="216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9" name="Google Shape;519;p34"/>
          <p:cNvSpPr/>
          <p:nvPr/>
        </p:nvSpPr>
        <p:spPr>
          <a:xfrm>
            <a:off x="2991208" y="4666036"/>
            <a:ext cx="240300" cy="210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4"/>
          <p:cNvSpPr/>
          <p:nvPr/>
        </p:nvSpPr>
        <p:spPr>
          <a:xfrm>
            <a:off x="3480515" y="4666036"/>
            <a:ext cx="240300" cy="210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4"/>
          <p:cNvSpPr/>
          <p:nvPr/>
        </p:nvSpPr>
        <p:spPr>
          <a:xfrm>
            <a:off x="4844025" y="4970836"/>
            <a:ext cx="240300" cy="210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4"/>
          <p:cNvSpPr/>
          <p:nvPr/>
        </p:nvSpPr>
        <p:spPr>
          <a:xfrm>
            <a:off x="5088922" y="4970836"/>
            <a:ext cx="240300" cy="210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4"/>
          <p:cNvSpPr/>
          <p:nvPr/>
        </p:nvSpPr>
        <p:spPr>
          <a:xfrm>
            <a:off x="5353252" y="4970836"/>
            <a:ext cx="240300" cy="210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4"/>
          <p:cNvSpPr/>
          <p:nvPr/>
        </p:nvSpPr>
        <p:spPr>
          <a:xfrm>
            <a:off x="5598148" y="4970836"/>
            <a:ext cx="240300" cy="210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5" name="Google Shape;525;p34"/>
          <p:cNvCxnSpPr>
            <a:stCxn id="498" idx="3"/>
            <a:endCxn id="519" idx="1"/>
          </p:cNvCxnSpPr>
          <p:nvPr/>
        </p:nvCxnSpPr>
        <p:spPr>
          <a:xfrm>
            <a:off x="2742200" y="4771336"/>
            <a:ext cx="24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6" name="Google Shape;526;p34"/>
          <p:cNvCxnSpPr>
            <a:stCxn id="492" idx="3"/>
            <a:endCxn id="521" idx="1"/>
          </p:cNvCxnSpPr>
          <p:nvPr/>
        </p:nvCxnSpPr>
        <p:spPr>
          <a:xfrm>
            <a:off x="2285744" y="5069951"/>
            <a:ext cx="25584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34"/>
          <p:cNvCxnSpPr>
            <a:stCxn id="507" idx="1"/>
            <a:endCxn id="513" idx="1"/>
          </p:cNvCxnSpPr>
          <p:nvPr/>
        </p:nvCxnSpPr>
        <p:spPr>
          <a:xfrm rot="10800000">
            <a:off x="4860014" y="5374162"/>
            <a:ext cx="2700" cy="3006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34"/>
          <p:cNvCxnSpPr>
            <a:stCxn id="515" idx="1"/>
            <a:endCxn id="523" idx="1"/>
          </p:cNvCxnSpPr>
          <p:nvPr/>
        </p:nvCxnSpPr>
        <p:spPr>
          <a:xfrm flipH="1" rot="10800000">
            <a:off x="5349814" y="5076160"/>
            <a:ext cx="3300" cy="2979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34"/>
          <p:cNvCxnSpPr>
            <a:stCxn id="519" idx="3"/>
            <a:endCxn id="520" idx="1"/>
          </p:cNvCxnSpPr>
          <p:nvPr/>
        </p:nvCxnSpPr>
        <p:spPr>
          <a:xfrm>
            <a:off x="3231508" y="4771336"/>
            <a:ext cx="24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0" name="Google Shape;530;p34"/>
          <p:cNvSpPr/>
          <p:nvPr/>
        </p:nvSpPr>
        <p:spPr>
          <a:xfrm>
            <a:off x="3969823" y="4666523"/>
            <a:ext cx="240300" cy="210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1" name="Google Shape;531;p34"/>
          <p:cNvCxnSpPr>
            <a:stCxn id="520" idx="3"/>
            <a:endCxn id="530" idx="1"/>
          </p:cNvCxnSpPr>
          <p:nvPr/>
        </p:nvCxnSpPr>
        <p:spPr>
          <a:xfrm>
            <a:off x="3720815" y="4771336"/>
            <a:ext cx="2490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2" name="Google Shape;532;p34"/>
          <p:cNvSpPr txBox="1"/>
          <p:nvPr/>
        </p:nvSpPr>
        <p:spPr>
          <a:xfrm>
            <a:off x="4226812" y="4541700"/>
            <a:ext cx="40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aseline="30000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/>
          </a:p>
        </p:txBody>
      </p:sp>
      <p:sp>
        <p:nvSpPr>
          <p:cNvPr id="533" name="Google Shape;533;p34"/>
          <p:cNvSpPr txBox="1"/>
          <p:nvPr/>
        </p:nvSpPr>
        <p:spPr>
          <a:xfrm>
            <a:off x="6116025" y="4856537"/>
            <a:ext cx="2368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 regiones de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aseline="30000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pág.</a:t>
            </a:r>
            <a:endParaRPr/>
          </a:p>
        </p:txBody>
      </p:sp>
      <p:sp>
        <p:nvSpPr>
          <p:cNvPr id="534" name="Google Shape;534;p34"/>
          <p:cNvSpPr txBox="1"/>
          <p:nvPr/>
        </p:nvSpPr>
        <p:spPr>
          <a:xfrm>
            <a:off x="6105987" y="5151299"/>
            <a:ext cx="2368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 regiones de 2</a:t>
            </a:r>
            <a:r>
              <a:rPr baseline="30000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pág.</a:t>
            </a:r>
            <a:endParaRPr/>
          </a:p>
        </p:txBody>
      </p:sp>
      <p:sp>
        <p:nvSpPr>
          <p:cNvPr id="535" name="Google Shape;535;p34"/>
          <p:cNvSpPr txBox="1"/>
          <p:nvPr/>
        </p:nvSpPr>
        <p:spPr>
          <a:xfrm>
            <a:off x="3882962" y="5870150"/>
            <a:ext cx="2368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regiones de 2</a:t>
            </a:r>
            <a:r>
              <a:rPr baseline="30000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pág.</a:t>
            </a:r>
            <a:endParaRPr/>
          </a:p>
        </p:txBody>
      </p:sp>
      <p:cxnSp>
        <p:nvCxnSpPr>
          <p:cNvPr id="536" name="Google Shape;536;p34"/>
          <p:cNvCxnSpPr>
            <a:stCxn id="516" idx="3"/>
            <a:endCxn id="524" idx="3"/>
          </p:cNvCxnSpPr>
          <p:nvPr/>
        </p:nvCxnSpPr>
        <p:spPr>
          <a:xfrm flipH="1" rot="10800000">
            <a:off x="5835010" y="5076160"/>
            <a:ext cx="3300" cy="297900"/>
          </a:xfrm>
          <a:prstGeom prst="bentConnector3">
            <a:avLst>
              <a:gd fmla="val 73201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7" name="Google Shape;537;p34"/>
          <p:cNvSpPr txBox="1"/>
          <p:nvPr/>
        </p:nvSpPr>
        <p:spPr>
          <a:xfrm>
            <a:off x="251600" y="4113850"/>
            <a:ext cx="769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Solicitud de una sección de 2 páginas contiguas (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ORDEN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1)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Gestión de la Memoria Principal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44" name="Google Shape;544;p35"/>
          <p:cNvSpPr txBox="1"/>
          <p:nvPr/>
        </p:nvSpPr>
        <p:spPr>
          <a:xfrm>
            <a:off x="10025" y="763297"/>
            <a:ext cx="91176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Política de Reemplazamiento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Cuando no hay marcos libres en memoria principal, determina qué marco de página debe liberarse para alojar una nueva página.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minimizar los fallos de página, eliminando las páginas que no se volverán a usar.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Retención: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Determinadas páginas de memoria no se pueden reemplazar (p.ej.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kernel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del SO).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aplicaciones tiene acceso con la llamada mlock(2)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Casos de uso: tiempo real y seguridad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Ámbito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Local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Sólo puede reemplazarse un marco asignado al proceso que causa fallo.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Global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P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uede reemplazarse cualquier marco 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Algoritmos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:FIFO, Reloj, LRU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6"/>
          <p:cNvSpPr/>
          <p:nvPr/>
        </p:nvSpPr>
        <p:spPr>
          <a:xfrm>
            <a:off x="70250" y="2597825"/>
            <a:ext cx="8943300" cy="4057500"/>
          </a:xfrm>
          <a:prstGeom prst="roundRect">
            <a:avLst>
              <a:gd fmla="val 2969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Gestión de la Memoria Principal 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52" name="Google Shape;552;p36"/>
          <p:cNvSpPr txBox="1"/>
          <p:nvPr/>
        </p:nvSpPr>
        <p:spPr>
          <a:xfrm>
            <a:off x="10025" y="763297"/>
            <a:ext cx="9117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Política de 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Reemplazamiento</a:t>
            </a: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. FIFO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Criterio: 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Página que lleva más tiempo residente en memoria principal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Implementación sencilla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páginas más longevas pueden seguir en uso activo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3" name="Google Shape;553;p36" title="ej_alg_fifo.png"/>
          <p:cNvPicPr preferRelativeResize="0"/>
          <p:nvPr/>
        </p:nvPicPr>
        <p:blipFill rotWithShape="1">
          <a:blip r:embed="rId3">
            <a:alphaModFix/>
          </a:blip>
          <a:srcRect b="16900" l="18542" r="13734" t="48332"/>
          <a:stretch/>
        </p:blipFill>
        <p:spPr>
          <a:xfrm>
            <a:off x="1144250" y="3894475"/>
            <a:ext cx="6835425" cy="2479225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4" name="Google Shape;554;p36"/>
          <p:cNvSpPr txBox="1"/>
          <p:nvPr/>
        </p:nvSpPr>
        <p:spPr>
          <a:xfrm>
            <a:off x="10025" y="2547950"/>
            <a:ext cx="91272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Ejemplo: </a:t>
            </a:r>
            <a:endParaRPr sz="1700"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Inter"/>
              <a:buChar char="●"/>
            </a:pPr>
            <a:r>
              <a:rPr lang="es" sz="1700">
                <a:latin typeface="Inter"/>
                <a:ea typeface="Inter"/>
                <a:cs typeface="Inter"/>
                <a:sym typeface="Inter"/>
              </a:rPr>
              <a:t>Memoria física con 4 marcos de página</a:t>
            </a:r>
            <a:endParaRPr sz="1700"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Inter"/>
              <a:buChar char="●"/>
            </a:pPr>
            <a:r>
              <a:rPr lang="es" sz="1700">
                <a:latin typeface="Inter"/>
                <a:ea typeface="Inter"/>
                <a:cs typeface="Inter"/>
                <a:sym typeface="Inter"/>
              </a:rPr>
              <a:t>Referencias: </a:t>
            </a:r>
            <a:r>
              <a:rPr i="1" lang="es" sz="1700">
                <a:latin typeface="Inter"/>
                <a:ea typeface="Inter"/>
                <a:cs typeface="Inter"/>
                <a:sym typeface="Inter"/>
              </a:rPr>
              <a:t>a b g a d e a b a d e g d e</a:t>
            </a:r>
            <a:endParaRPr i="1" sz="17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Gestión de la Memoria Principal (IV)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561" name="Google Shape;561;p37"/>
          <p:cNvGrpSpPr/>
          <p:nvPr/>
        </p:nvGrpSpPr>
        <p:grpSpPr>
          <a:xfrm>
            <a:off x="34004" y="2944572"/>
            <a:ext cx="9197496" cy="3834578"/>
            <a:chOff x="34004" y="2639772"/>
            <a:chExt cx="9197496" cy="3834578"/>
          </a:xfrm>
        </p:grpSpPr>
        <p:sp>
          <p:nvSpPr>
            <p:cNvPr id="562" name="Google Shape;562;p37"/>
            <p:cNvSpPr/>
            <p:nvPr/>
          </p:nvSpPr>
          <p:spPr>
            <a:xfrm>
              <a:off x="34004" y="2685650"/>
              <a:ext cx="9047400" cy="3788700"/>
            </a:xfrm>
            <a:prstGeom prst="roundRect">
              <a:avLst>
                <a:gd fmla="val 2896" name="adj"/>
              </a:avLst>
            </a:prstGeom>
            <a:solidFill>
              <a:srgbClr val="F3F3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7"/>
            <p:cNvSpPr/>
            <p:nvPr/>
          </p:nvSpPr>
          <p:spPr>
            <a:xfrm>
              <a:off x="344084" y="3592994"/>
              <a:ext cx="2236200" cy="2472600"/>
            </a:xfrm>
            <a:prstGeom prst="flowChartConnector">
              <a:avLst/>
            </a:prstGeom>
            <a:noFill/>
            <a:ln cap="flat" cmpd="sng" w="26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350" lIns="84350" spcFirstLastPara="1" rIns="84350" wrap="square" tIns="84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1"/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1182144" y="3413275"/>
              <a:ext cx="592500" cy="623400"/>
            </a:xfrm>
            <a:prstGeom prst="rect">
              <a:avLst/>
            </a:prstGeom>
            <a:solidFill>
              <a:srgbClr val="D9EAD3"/>
            </a:solidFill>
            <a:ln cap="flat" cmpd="sng" w="87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1946202" y="3707519"/>
              <a:ext cx="592500" cy="623400"/>
            </a:xfrm>
            <a:prstGeom prst="rect">
              <a:avLst/>
            </a:prstGeom>
            <a:solidFill>
              <a:srgbClr val="D9EAD3"/>
            </a:solidFill>
            <a:ln cap="flat" cmpd="sng" w="87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6" name="Google Shape;566;p37"/>
            <p:cNvSpPr/>
            <p:nvPr/>
          </p:nvSpPr>
          <p:spPr>
            <a:xfrm>
              <a:off x="408827" y="3707519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7" name="Google Shape;567;p37"/>
            <p:cNvSpPr/>
            <p:nvPr/>
          </p:nvSpPr>
          <p:spPr>
            <a:xfrm>
              <a:off x="2273710" y="4551128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8" name="Google Shape;568;p37"/>
            <p:cNvSpPr/>
            <p:nvPr/>
          </p:nvSpPr>
          <p:spPr>
            <a:xfrm>
              <a:off x="1176665" y="5657419"/>
              <a:ext cx="592500" cy="623400"/>
            </a:xfrm>
            <a:prstGeom prst="rect">
              <a:avLst/>
            </a:prstGeom>
            <a:solidFill>
              <a:srgbClr val="D9EAD3"/>
            </a:solidFill>
            <a:ln cap="flat" cmpd="sng" w="87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9" name="Google Shape;569;p37"/>
            <p:cNvSpPr/>
            <p:nvPr/>
          </p:nvSpPr>
          <p:spPr>
            <a:xfrm>
              <a:off x="85100" y="4510306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384827" y="5320655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1" name="Google Shape;571;p37"/>
            <p:cNvSpPr/>
            <p:nvPr/>
          </p:nvSpPr>
          <p:spPr>
            <a:xfrm>
              <a:off x="1949983" y="5311395"/>
              <a:ext cx="592500" cy="623400"/>
            </a:xfrm>
            <a:prstGeom prst="rect">
              <a:avLst/>
            </a:prstGeom>
            <a:solidFill>
              <a:srgbClr val="D9EAD3"/>
            </a:solidFill>
            <a:ln cap="flat" cmpd="sng" w="87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72" name="Google Shape;572;p37"/>
            <p:cNvCxnSpPr>
              <a:endCxn id="564" idx="2"/>
            </p:cNvCxnSpPr>
            <p:nvPr/>
          </p:nvCxnSpPr>
          <p:spPr>
            <a:xfrm rot="10800000">
              <a:off x="1478394" y="4036675"/>
              <a:ext cx="0" cy="778500"/>
            </a:xfrm>
            <a:prstGeom prst="straightConnector1">
              <a:avLst/>
            </a:prstGeom>
            <a:noFill/>
            <a:ln cap="flat" cmpd="sng" w="19050">
              <a:solidFill>
                <a:srgbClr val="45818E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73" name="Google Shape;573;p37"/>
            <p:cNvSpPr/>
            <p:nvPr/>
          </p:nvSpPr>
          <p:spPr>
            <a:xfrm>
              <a:off x="3478321" y="3603031"/>
              <a:ext cx="2236200" cy="2472600"/>
            </a:xfrm>
            <a:prstGeom prst="flowChartConnector">
              <a:avLst/>
            </a:prstGeom>
            <a:noFill/>
            <a:ln cap="flat" cmpd="sng" w="26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350" lIns="84350" spcFirstLastPara="1" rIns="84350" wrap="square" tIns="84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1"/>
            </a:p>
          </p:txBody>
        </p:sp>
        <p:sp>
          <p:nvSpPr>
            <p:cNvPr id="574" name="Google Shape;574;p37"/>
            <p:cNvSpPr/>
            <p:nvPr/>
          </p:nvSpPr>
          <p:spPr>
            <a:xfrm>
              <a:off x="4316382" y="3423312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 strike="sngStrike"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 strike="sngStrike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5" name="Google Shape;575;p37"/>
            <p:cNvSpPr/>
            <p:nvPr/>
          </p:nvSpPr>
          <p:spPr>
            <a:xfrm>
              <a:off x="5080439" y="3717557"/>
              <a:ext cx="592500" cy="6234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3543064" y="3717557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7" name="Google Shape;577;p37"/>
            <p:cNvSpPr/>
            <p:nvPr/>
          </p:nvSpPr>
          <p:spPr>
            <a:xfrm>
              <a:off x="5407947" y="4561165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8" name="Google Shape;578;p37"/>
            <p:cNvSpPr/>
            <p:nvPr/>
          </p:nvSpPr>
          <p:spPr>
            <a:xfrm>
              <a:off x="4310903" y="5667457"/>
              <a:ext cx="592500" cy="623400"/>
            </a:xfrm>
            <a:prstGeom prst="rect">
              <a:avLst/>
            </a:prstGeom>
            <a:solidFill>
              <a:srgbClr val="D9EAD3"/>
            </a:solidFill>
            <a:ln cap="flat" cmpd="sng" w="87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9" name="Google Shape;579;p37"/>
            <p:cNvSpPr/>
            <p:nvPr/>
          </p:nvSpPr>
          <p:spPr>
            <a:xfrm>
              <a:off x="3219337" y="4520343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0" name="Google Shape;580;p37"/>
            <p:cNvSpPr/>
            <p:nvPr/>
          </p:nvSpPr>
          <p:spPr>
            <a:xfrm>
              <a:off x="3519064" y="5330692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1" name="Google Shape;581;p37"/>
            <p:cNvSpPr/>
            <p:nvPr/>
          </p:nvSpPr>
          <p:spPr>
            <a:xfrm>
              <a:off x="5084220" y="5321432"/>
              <a:ext cx="592500" cy="623400"/>
            </a:xfrm>
            <a:prstGeom prst="rect">
              <a:avLst/>
            </a:prstGeom>
            <a:solidFill>
              <a:srgbClr val="D9EAD3"/>
            </a:solidFill>
            <a:ln cap="flat" cmpd="sng" w="87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82" name="Google Shape;582;p37"/>
            <p:cNvCxnSpPr>
              <a:endCxn id="574" idx="2"/>
            </p:cNvCxnSpPr>
            <p:nvPr/>
          </p:nvCxnSpPr>
          <p:spPr>
            <a:xfrm rot="10800000">
              <a:off x="4612632" y="4046712"/>
              <a:ext cx="0" cy="778500"/>
            </a:xfrm>
            <a:prstGeom prst="straightConnector1">
              <a:avLst/>
            </a:prstGeom>
            <a:noFill/>
            <a:ln cap="flat" cmpd="sng" w="8775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583" name="Google Shape;583;p37"/>
            <p:cNvSpPr/>
            <p:nvPr/>
          </p:nvSpPr>
          <p:spPr>
            <a:xfrm>
              <a:off x="6450121" y="3633143"/>
              <a:ext cx="2236200" cy="2472600"/>
            </a:xfrm>
            <a:prstGeom prst="flowChartConnector">
              <a:avLst/>
            </a:prstGeom>
            <a:noFill/>
            <a:ln cap="flat" cmpd="sng" w="26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350" lIns="84350" spcFirstLastPara="1" rIns="84350" wrap="square" tIns="84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1"/>
            </a:p>
          </p:txBody>
        </p:sp>
        <p:sp>
          <p:nvSpPr>
            <p:cNvPr id="584" name="Google Shape;584;p37"/>
            <p:cNvSpPr/>
            <p:nvPr/>
          </p:nvSpPr>
          <p:spPr>
            <a:xfrm>
              <a:off x="7288182" y="3453424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 strike="sngStrike"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 strike="sngStrike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5" name="Google Shape;585;p37"/>
            <p:cNvSpPr/>
            <p:nvPr/>
          </p:nvSpPr>
          <p:spPr>
            <a:xfrm>
              <a:off x="8052239" y="3747669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 strike="sng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 strike="sng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6" name="Google Shape;586;p37"/>
            <p:cNvSpPr/>
            <p:nvPr/>
          </p:nvSpPr>
          <p:spPr>
            <a:xfrm>
              <a:off x="6514864" y="3747669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7" name="Google Shape;587;p37"/>
            <p:cNvSpPr/>
            <p:nvPr/>
          </p:nvSpPr>
          <p:spPr>
            <a:xfrm>
              <a:off x="8379747" y="4591277"/>
              <a:ext cx="592500" cy="623400"/>
            </a:xfrm>
            <a:prstGeom prst="rect">
              <a:avLst/>
            </a:prstGeom>
            <a:solidFill>
              <a:srgbClr val="F4CCCC"/>
            </a:solidFill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8" name="Google Shape;588;p37"/>
            <p:cNvSpPr/>
            <p:nvPr/>
          </p:nvSpPr>
          <p:spPr>
            <a:xfrm>
              <a:off x="7282703" y="5697569"/>
              <a:ext cx="592500" cy="623400"/>
            </a:xfrm>
            <a:prstGeom prst="rect">
              <a:avLst/>
            </a:prstGeom>
            <a:solidFill>
              <a:srgbClr val="D9EAD3"/>
            </a:solidFill>
            <a:ln cap="flat" cmpd="sng" w="87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9" name="Google Shape;589;p37"/>
            <p:cNvSpPr/>
            <p:nvPr/>
          </p:nvSpPr>
          <p:spPr>
            <a:xfrm>
              <a:off x="6191137" y="4550455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6490864" y="5360804"/>
              <a:ext cx="592500" cy="623400"/>
            </a:xfrm>
            <a:prstGeom prst="rect">
              <a:avLst/>
            </a:prstGeom>
            <a:solidFill>
              <a:srgbClr val="EAD1DC"/>
            </a:solidFill>
            <a:ln cap="flat" cmpd="sng" w="877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Ref=0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1" name="Google Shape;591;p37"/>
            <p:cNvSpPr/>
            <p:nvPr/>
          </p:nvSpPr>
          <p:spPr>
            <a:xfrm>
              <a:off x="8056020" y="5351544"/>
              <a:ext cx="592500" cy="623400"/>
            </a:xfrm>
            <a:prstGeom prst="rect">
              <a:avLst/>
            </a:prstGeom>
            <a:solidFill>
              <a:srgbClr val="D9EAD3"/>
            </a:solidFill>
            <a:ln cap="flat" cmpd="sng" w="877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225" lIns="33225" spcFirstLastPara="1" rIns="33225" wrap="square" tIns="33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9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Ref=1</a:t>
              </a:r>
              <a:endParaRPr sz="1291"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92" name="Google Shape;592;p37"/>
            <p:cNvCxnSpPr/>
            <p:nvPr/>
          </p:nvCxnSpPr>
          <p:spPr>
            <a:xfrm flipH="1" rot="10800000">
              <a:off x="4612632" y="4326175"/>
              <a:ext cx="489000" cy="489000"/>
            </a:xfrm>
            <a:prstGeom prst="straightConnector1">
              <a:avLst/>
            </a:prstGeom>
            <a:noFill/>
            <a:ln cap="flat" cmpd="sng" w="19050">
              <a:solidFill>
                <a:srgbClr val="45818E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3" name="Google Shape;593;p37"/>
            <p:cNvCxnSpPr/>
            <p:nvPr/>
          </p:nvCxnSpPr>
          <p:spPr>
            <a:xfrm flipH="1" rot="10800000">
              <a:off x="7568456" y="4363838"/>
              <a:ext cx="481500" cy="517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594" name="Google Shape;594;p37"/>
            <p:cNvCxnSpPr>
              <a:endCxn id="587" idx="1"/>
            </p:cNvCxnSpPr>
            <p:nvPr/>
          </p:nvCxnSpPr>
          <p:spPr>
            <a:xfrm>
              <a:off x="7568547" y="4881377"/>
              <a:ext cx="811200" cy="21600"/>
            </a:xfrm>
            <a:prstGeom prst="straightConnector1">
              <a:avLst/>
            </a:prstGeom>
            <a:noFill/>
            <a:ln cap="flat" cmpd="sng" w="19050">
              <a:solidFill>
                <a:srgbClr val="45818E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5" name="Google Shape;595;p37"/>
            <p:cNvSpPr txBox="1"/>
            <p:nvPr/>
          </p:nvSpPr>
          <p:spPr>
            <a:xfrm>
              <a:off x="408825" y="3066450"/>
              <a:ext cx="811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Inicio</a:t>
              </a:r>
              <a:endParaRPr b="1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6" name="Google Shape;596;p37"/>
            <p:cNvSpPr txBox="1"/>
            <p:nvPr/>
          </p:nvSpPr>
          <p:spPr>
            <a:xfrm>
              <a:off x="7578300" y="3041873"/>
              <a:ext cx="15411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2ª oportunidad</a:t>
              </a:r>
              <a:endParaRPr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7" name="Google Shape;597;p37"/>
            <p:cNvSpPr txBox="1"/>
            <p:nvPr/>
          </p:nvSpPr>
          <p:spPr>
            <a:xfrm>
              <a:off x="3809969" y="2936697"/>
              <a:ext cx="15960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2ª oportunidad</a:t>
              </a:r>
              <a:endParaRPr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598" name="Google Shape;598;p37"/>
            <p:cNvCxnSpPr>
              <a:stCxn id="596" idx="2"/>
              <a:endCxn id="585" idx="0"/>
            </p:cNvCxnSpPr>
            <p:nvPr/>
          </p:nvCxnSpPr>
          <p:spPr>
            <a:xfrm flipH="1">
              <a:off x="8348550" y="3272873"/>
              <a:ext cx="300" cy="474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" name="Google Shape;599;p37"/>
            <p:cNvCxnSpPr>
              <a:stCxn id="597" idx="2"/>
              <a:endCxn id="574" idx="0"/>
            </p:cNvCxnSpPr>
            <p:nvPr/>
          </p:nvCxnSpPr>
          <p:spPr>
            <a:xfrm>
              <a:off x="4607969" y="3167697"/>
              <a:ext cx="4800" cy="25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0" name="Google Shape;600;p37"/>
            <p:cNvSpPr txBox="1"/>
            <p:nvPr/>
          </p:nvSpPr>
          <p:spPr>
            <a:xfrm>
              <a:off x="7318529" y="4922017"/>
              <a:ext cx="11778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rgbClr val="CC0000"/>
                  </a:solidFill>
                  <a:latin typeface="Inter"/>
                  <a:ea typeface="Inter"/>
                  <a:cs typeface="Inter"/>
                  <a:sym typeface="Inter"/>
                </a:rPr>
                <a:t>expulsada</a:t>
              </a:r>
              <a:endParaRPr sz="15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1" name="Google Shape;601;p37"/>
            <p:cNvSpPr txBox="1"/>
            <p:nvPr/>
          </p:nvSpPr>
          <p:spPr>
            <a:xfrm>
              <a:off x="113900" y="2639772"/>
              <a:ext cx="9117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s" sz="1700">
                  <a:solidFill>
                    <a:srgbClr val="E69138"/>
                  </a:solidFill>
                  <a:latin typeface="Inter"/>
                  <a:ea typeface="Inter"/>
                  <a:cs typeface="Inter"/>
                  <a:sym typeface="Inter"/>
                </a:rPr>
                <a:t>Ejemplo</a:t>
              </a:r>
              <a:endParaRPr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602" name="Google Shape;602;p37"/>
            <p:cNvCxnSpPr/>
            <p:nvPr/>
          </p:nvCxnSpPr>
          <p:spPr>
            <a:xfrm>
              <a:off x="3015369" y="2943425"/>
              <a:ext cx="0" cy="3441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3" name="Google Shape;603;p37"/>
            <p:cNvCxnSpPr/>
            <p:nvPr/>
          </p:nvCxnSpPr>
          <p:spPr>
            <a:xfrm>
              <a:off x="6103600" y="2867225"/>
              <a:ext cx="0" cy="3441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4" name="Google Shape;604;p37"/>
          <p:cNvSpPr txBox="1"/>
          <p:nvPr/>
        </p:nvSpPr>
        <p:spPr>
          <a:xfrm>
            <a:off x="10025" y="783372"/>
            <a:ext cx="9117600" cy="20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Política de Reemplazamiento. Reloj (o 2ª oportunidad)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Criterio: 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FIFO y uso del flag de acceso a la página (Ref)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 la página a reemplazar (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first-in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no se ha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accedido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(Ref=0) se reemplaza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 el bit está activo (Ref=1) se borra el flag y se pasa al final de la lista.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Implementación basada en una cola circular.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8"/>
          <p:cNvSpPr/>
          <p:nvPr/>
        </p:nvSpPr>
        <p:spPr>
          <a:xfrm>
            <a:off x="70250" y="845225"/>
            <a:ext cx="8943300" cy="4057500"/>
          </a:xfrm>
          <a:prstGeom prst="roundRect">
            <a:avLst>
              <a:gd fmla="val 2005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8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8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Gestión de la Memoria Principal (V)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12" name="Google Shape;612;p38" title="ej_alg_reloj.png"/>
          <p:cNvPicPr preferRelativeResize="0"/>
          <p:nvPr/>
        </p:nvPicPr>
        <p:blipFill rotWithShape="1">
          <a:blip r:embed="rId3">
            <a:alphaModFix/>
          </a:blip>
          <a:srcRect b="12464" l="13093" r="7409" t="47457"/>
          <a:stretch/>
        </p:blipFill>
        <p:spPr>
          <a:xfrm>
            <a:off x="839750" y="2091200"/>
            <a:ext cx="7467750" cy="2659875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3" name="Google Shape;613;p38"/>
          <p:cNvSpPr txBox="1"/>
          <p:nvPr/>
        </p:nvSpPr>
        <p:spPr>
          <a:xfrm>
            <a:off x="76188" y="865611"/>
            <a:ext cx="91272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Ejemplo: </a:t>
            </a:r>
            <a:endParaRPr sz="1700"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Inter"/>
              <a:buChar char="●"/>
            </a:pPr>
            <a:r>
              <a:rPr lang="es" sz="1700">
                <a:latin typeface="Inter"/>
                <a:ea typeface="Inter"/>
                <a:cs typeface="Inter"/>
                <a:sym typeface="Inter"/>
              </a:rPr>
              <a:t>Memoria física con 4 marcos de página</a:t>
            </a:r>
            <a:endParaRPr sz="1700"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Inter"/>
              <a:buChar char="●"/>
            </a:pPr>
            <a:r>
              <a:rPr lang="es" sz="1700">
                <a:latin typeface="Inter"/>
                <a:ea typeface="Inter"/>
                <a:cs typeface="Inter"/>
                <a:sym typeface="Inter"/>
              </a:rPr>
              <a:t>Referencias: </a:t>
            </a:r>
            <a:r>
              <a:rPr i="1" lang="es" sz="1700">
                <a:latin typeface="Inter"/>
                <a:ea typeface="Inter"/>
                <a:cs typeface="Inter"/>
                <a:sym typeface="Inter"/>
              </a:rPr>
              <a:t>a b g a d e a b a d e g d e</a:t>
            </a:r>
            <a:endParaRPr i="1" sz="17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9"/>
          <p:cNvSpPr/>
          <p:nvPr/>
        </p:nvSpPr>
        <p:spPr>
          <a:xfrm>
            <a:off x="97075" y="3714803"/>
            <a:ext cx="8943300" cy="3047700"/>
          </a:xfrm>
          <a:prstGeom prst="roundRect">
            <a:avLst>
              <a:gd fmla="val 2969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Gestión de la Memoria Principal (VI)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21" name="Google Shape;621;p39" title="ej_alg_lru.png"/>
          <p:cNvPicPr preferRelativeResize="0"/>
          <p:nvPr/>
        </p:nvPicPr>
        <p:blipFill rotWithShape="1">
          <a:blip r:embed="rId3">
            <a:alphaModFix/>
          </a:blip>
          <a:srcRect b="12872" l="15720" r="10473" t="49653"/>
          <a:stretch/>
        </p:blipFill>
        <p:spPr>
          <a:xfrm>
            <a:off x="1306599" y="4274050"/>
            <a:ext cx="6524252" cy="2340551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2" name="Google Shape;622;p39"/>
          <p:cNvSpPr txBox="1"/>
          <p:nvPr/>
        </p:nvSpPr>
        <p:spPr>
          <a:xfrm>
            <a:off x="10025" y="697135"/>
            <a:ext cx="9117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Política de Reemplazamiento. LRU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Criterio: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Página residente que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fue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accedida hace más tiempo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Principio de localidad.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Una referencia de memoria probablemente volver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 a repetirse en el futuro próximo.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Mecanismo para registrar las referencias a la p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ágina muy difícil de implementar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Linux LRU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 implementa con dos colas de páginas (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vmstat(1)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active/inactive)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Páginas activas. Usa el mecanismo del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reloj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con el flag de acceso de la TP.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Páginas inactivas. Usa un algoritmo FIFO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3" name="Google Shape;623;p39"/>
          <p:cNvSpPr txBox="1"/>
          <p:nvPr/>
        </p:nvSpPr>
        <p:spPr>
          <a:xfrm>
            <a:off x="86125" y="3741125"/>
            <a:ext cx="911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Ejemplo: </a:t>
            </a:r>
            <a:r>
              <a:rPr lang="es" sz="17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700">
                <a:latin typeface="Inter"/>
                <a:ea typeface="Inter"/>
                <a:cs typeface="Inter"/>
                <a:sym typeface="Inter"/>
              </a:rPr>
              <a:t>4 marcos de página. Referencias: </a:t>
            </a:r>
            <a:r>
              <a:rPr i="1" lang="es" sz="1700">
                <a:latin typeface="Inter"/>
                <a:ea typeface="Inter"/>
                <a:cs typeface="Inter"/>
                <a:sym typeface="Inter"/>
              </a:rPr>
              <a:t>a b g a d e a b a d e g d e</a:t>
            </a:r>
            <a:endParaRPr i="1" sz="17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0"/>
          <p:cNvSpPr/>
          <p:nvPr/>
        </p:nvSpPr>
        <p:spPr>
          <a:xfrm>
            <a:off x="226975" y="3951977"/>
            <a:ext cx="3476100" cy="1863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0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0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Gestión de la Memoria Principal (VI)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10025" y="773335"/>
            <a:ext cx="9117600" cy="29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Page Buffering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páginas de memoria no referenciadas no se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eliminan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directamente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Se mantienen como páginas </a:t>
            </a:r>
            <a:r>
              <a:rPr i="1"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reclamables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(páginas inactiva)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 la página vuelve a referenciarse se mueve a la cola de páginas activa evitando que se elimine.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Demonio de paginación (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kswapd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Linux)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actúa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función de umbrales de uso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Ejecuta la política de reemplazo para liberar marcos de página de memoria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Libera páginas anónimas (swap-out) o de la caché de páginas</a:t>
            </a:r>
            <a:endParaRPr/>
          </a:p>
        </p:txBody>
      </p:sp>
      <p:sp>
        <p:nvSpPr>
          <p:cNvPr id="632" name="Google Shape;632;p40"/>
          <p:cNvSpPr/>
          <p:nvPr/>
        </p:nvSpPr>
        <p:spPr>
          <a:xfrm>
            <a:off x="599250" y="4365902"/>
            <a:ext cx="1870800" cy="361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Activas</a:t>
            </a:r>
            <a:endParaRPr/>
          </a:p>
        </p:txBody>
      </p:sp>
      <p:sp>
        <p:nvSpPr>
          <p:cNvPr id="633" name="Google Shape;633;p40"/>
          <p:cNvSpPr/>
          <p:nvPr/>
        </p:nvSpPr>
        <p:spPr>
          <a:xfrm>
            <a:off x="599250" y="4365902"/>
            <a:ext cx="159600" cy="3618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0"/>
          <p:cNvSpPr/>
          <p:nvPr/>
        </p:nvSpPr>
        <p:spPr>
          <a:xfrm>
            <a:off x="751650" y="4365902"/>
            <a:ext cx="159600" cy="3618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0"/>
          <p:cNvSpPr/>
          <p:nvPr/>
        </p:nvSpPr>
        <p:spPr>
          <a:xfrm>
            <a:off x="904050" y="4365902"/>
            <a:ext cx="159600" cy="361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0"/>
          <p:cNvSpPr/>
          <p:nvPr/>
        </p:nvSpPr>
        <p:spPr>
          <a:xfrm>
            <a:off x="2306321" y="4365902"/>
            <a:ext cx="159600" cy="361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0"/>
          <p:cNvSpPr/>
          <p:nvPr/>
        </p:nvSpPr>
        <p:spPr>
          <a:xfrm>
            <a:off x="2153921" y="4365902"/>
            <a:ext cx="159600" cy="361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0"/>
          <p:cNvSpPr/>
          <p:nvPr/>
        </p:nvSpPr>
        <p:spPr>
          <a:xfrm>
            <a:off x="2001521" y="4365902"/>
            <a:ext cx="159600" cy="361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0"/>
          <p:cNvSpPr/>
          <p:nvPr/>
        </p:nvSpPr>
        <p:spPr>
          <a:xfrm>
            <a:off x="599250" y="5204102"/>
            <a:ext cx="1870800" cy="3618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Inactivas</a:t>
            </a:r>
            <a:endParaRPr/>
          </a:p>
        </p:txBody>
      </p:sp>
      <p:sp>
        <p:nvSpPr>
          <p:cNvPr id="640" name="Google Shape;640;p40"/>
          <p:cNvSpPr/>
          <p:nvPr/>
        </p:nvSpPr>
        <p:spPr>
          <a:xfrm>
            <a:off x="593116" y="5204102"/>
            <a:ext cx="159600" cy="3618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0"/>
          <p:cNvSpPr/>
          <p:nvPr/>
        </p:nvSpPr>
        <p:spPr>
          <a:xfrm>
            <a:off x="751650" y="5204102"/>
            <a:ext cx="159600" cy="3618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0"/>
          <p:cNvSpPr/>
          <p:nvPr/>
        </p:nvSpPr>
        <p:spPr>
          <a:xfrm>
            <a:off x="904050" y="5204102"/>
            <a:ext cx="159600" cy="3618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0"/>
          <p:cNvSpPr/>
          <p:nvPr/>
        </p:nvSpPr>
        <p:spPr>
          <a:xfrm>
            <a:off x="2306321" y="5204102"/>
            <a:ext cx="159600" cy="361800"/>
          </a:xfrm>
          <a:prstGeom prst="rect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0"/>
          <p:cNvSpPr/>
          <p:nvPr/>
        </p:nvSpPr>
        <p:spPr>
          <a:xfrm>
            <a:off x="2153921" y="5204102"/>
            <a:ext cx="159600" cy="361800"/>
          </a:xfrm>
          <a:prstGeom prst="rect">
            <a:avLst/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0"/>
          <p:cNvSpPr/>
          <p:nvPr/>
        </p:nvSpPr>
        <p:spPr>
          <a:xfrm>
            <a:off x="2001521" y="5204102"/>
            <a:ext cx="159600" cy="3618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6" name="Google Shape;646;p40"/>
          <p:cNvCxnSpPr>
            <a:stCxn id="647" idx="1"/>
            <a:endCxn id="636" idx="3"/>
          </p:cNvCxnSpPr>
          <p:nvPr/>
        </p:nvCxnSpPr>
        <p:spPr>
          <a:xfrm rot="10800000">
            <a:off x="2465950" y="4546900"/>
            <a:ext cx="3615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7" name="Google Shape;647;p40"/>
          <p:cNvSpPr txBox="1"/>
          <p:nvPr/>
        </p:nvSpPr>
        <p:spPr>
          <a:xfrm>
            <a:off x="2827450" y="4244500"/>
            <a:ext cx="76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nueva página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48" name="Google Shape;648;p40"/>
          <p:cNvCxnSpPr>
            <a:stCxn id="633" idx="1"/>
            <a:endCxn id="640" idx="1"/>
          </p:cNvCxnSpPr>
          <p:nvPr/>
        </p:nvCxnSpPr>
        <p:spPr>
          <a:xfrm flipH="1">
            <a:off x="593250" y="4546802"/>
            <a:ext cx="6000" cy="838200"/>
          </a:xfrm>
          <a:prstGeom prst="bentConnector3">
            <a:avLst>
              <a:gd fmla="val 407098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9" name="Google Shape;649;p40"/>
          <p:cNvCxnSpPr>
            <a:stCxn id="642" idx="0"/>
            <a:endCxn id="636" idx="2"/>
          </p:cNvCxnSpPr>
          <p:nvPr/>
        </p:nvCxnSpPr>
        <p:spPr>
          <a:xfrm rot="-5400000">
            <a:off x="1446750" y="4264802"/>
            <a:ext cx="476400" cy="140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0" name="Google Shape;650;p40"/>
          <p:cNvSpPr txBox="1"/>
          <p:nvPr/>
        </p:nvSpPr>
        <p:spPr>
          <a:xfrm>
            <a:off x="952688" y="4651997"/>
            <a:ext cx="131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referenciada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1" name="Google Shape;651;p40"/>
          <p:cNvSpPr txBox="1"/>
          <p:nvPr/>
        </p:nvSpPr>
        <p:spPr>
          <a:xfrm>
            <a:off x="2827450" y="5082702"/>
            <a:ext cx="87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liberar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página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52" name="Google Shape;652;p40"/>
          <p:cNvCxnSpPr>
            <a:stCxn id="643" idx="3"/>
            <a:endCxn id="651" idx="1"/>
          </p:cNvCxnSpPr>
          <p:nvPr/>
        </p:nvCxnSpPr>
        <p:spPr>
          <a:xfrm>
            <a:off x="2465921" y="5385002"/>
            <a:ext cx="3615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3" name="Google Shape;653;p40"/>
          <p:cNvSpPr/>
          <p:nvPr/>
        </p:nvSpPr>
        <p:spPr>
          <a:xfrm>
            <a:off x="226975" y="5858125"/>
            <a:ext cx="3476100" cy="884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0"/>
          <p:cNvSpPr/>
          <p:nvPr/>
        </p:nvSpPr>
        <p:spPr>
          <a:xfrm>
            <a:off x="593125" y="6137725"/>
            <a:ext cx="1870800" cy="209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0"/>
          <p:cNvSpPr/>
          <p:nvPr/>
        </p:nvSpPr>
        <p:spPr>
          <a:xfrm>
            <a:off x="593125" y="6454525"/>
            <a:ext cx="1870800" cy="2094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6" name="Google Shape;656;p40"/>
          <p:cNvCxnSpPr>
            <a:stCxn id="654" idx="1"/>
            <a:endCxn id="655" idx="1"/>
          </p:cNvCxnSpPr>
          <p:nvPr/>
        </p:nvCxnSpPr>
        <p:spPr>
          <a:xfrm>
            <a:off x="593125" y="6242425"/>
            <a:ext cx="600" cy="316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7" name="Google Shape;657;p40"/>
          <p:cNvCxnSpPr>
            <a:endCxn id="654" idx="3"/>
          </p:cNvCxnSpPr>
          <p:nvPr/>
        </p:nvCxnSpPr>
        <p:spPr>
          <a:xfrm rot="10800000">
            <a:off x="2463925" y="6242425"/>
            <a:ext cx="46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8" name="Google Shape;658;p40"/>
          <p:cNvCxnSpPr>
            <a:stCxn id="655" idx="3"/>
          </p:cNvCxnSpPr>
          <p:nvPr/>
        </p:nvCxnSpPr>
        <p:spPr>
          <a:xfrm>
            <a:off x="2463925" y="6559225"/>
            <a:ext cx="45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9" name="Google Shape;659;p40"/>
          <p:cNvSpPr/>
          <p:nvPr/>
        </p:nvSpPr>
        <p:spPr>
          <a:xfrm>
            <a:off x="2306325" y="6454525"/>
            <a:ext cx="159600" cy="209400"/>
          </a:xfrm>
          <a:prstGeom prst="rect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0"/>
          <p:cNvSpPr/>
          <p:nvPr/>
        </p:nvSpPr>
        <p:spPr>
          <a:xfrm>
            <a:off x="599250" y="6139509"/>
            <a:ext cx="159600" cy="2094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0"/>
          <p:cNvSpPr txBox="1"/>
          <p:nvPr/>
        </p:nvSpPr>
        <p:spPr>
          <a:xfrm>
            <a:off x="207215" y="5791710"/>
            <a:ext cx="231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Anónimas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2" name="Google Shape;662;p40"/>
          <p:cNvSpPr txBox="1"/>
          <p:nvPr/>
        </p:nvSpPr>
        <p:spPr>
          <a:xfrm>
            <a:off x="194947" y="3886710"/>
            <a:ext cx="231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Caché de Páginas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63" name="Google Shape;663;p40"/>
          <p:cNvCxnSpPr>
            <a:stCxn id="628" idx="3"/>
            <a:endCxn id="653" idx="3"/>
          </p:cNvCxnSpPr>
          <p:nvPr/>
        </p:nvCxnSpPr>
        <p:spPr>
          <a:xfrm>
            <a:off x="3703075" y="4883627"/>
            <a:ext cx="600" cy="14169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64" name="Google Shape;664;p40"/>
          <p:cNvSpPr txBox="1"/>
          <p:nvPr/>
        </p:nvSpPr>
        <p:spPr>
          <a:xfrm>
            <a:off x="3947267" y="4779810"/>
            <a:ext cx="4647900" cy="15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swappiness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(defecto: </a:t>
            </a:r>
            <a:r>
              <a:rPr b="1"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vm.swappiness = 60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favorece la liberación de páginas de la caché (ya están en disco no se llevan a swap)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↑</a:t>
            </a: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favorece la liberación de páginas anónimas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(se llevan a swap)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5" name="Google Shape;665;p40"/>
          <p:cNvSpPr txBox="1"/>
          <p:nvPr/>
        </p:nvSpPr>
        <p:spPr>
          <a:xfrm>
            <a:off x="4064275" y="3790050"/>
            <a:ext cx="4858500" cy="646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página debe estar sincronizada, no referenciada por un 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proceso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no 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bloqueada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(mlock)</a:t>
            </a:r>
            <a:endParaRPr sz="1200"/>
          </a:p>
        </p:txBody>
      </p:sp>
      <p:cxnSp>
        <p:nvCxnSpPr>
          <p:cNvPr id="666" name="Google Shape;666;p40"/>
          <p:cNvCxnSpPr>
            <a:stCxn id="651" idx="0"/>
            <a:endCxn id="665" idx="1"/>
          </p:cNvCxnSpPr>
          <p:nvPr/>
        </p:nvCxnSpPr>
        <p:spPr>
          <a:xfrm flipH="1" rot="10800000">
            <a:off x="3265300" y="4113402"/>
            <a:ext cx="798900" cy="96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Gestión de la Memoria Principal (VII)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73" name="Google Shape;673;p41"/>
          <p:cNvSpPr txBox="1"/>
          <p:nvPr/>
        </p:nvSpPr>
        <p:spPr>
          <a:xfrm>
            <a:off x="10025" y="773335"/>
            <a:ext cx="91176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Out-of-Memory (OOM) Killer</a:t>
            </a:r>
            <a:endParaRPr b="1" sz="17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Mecanismo del núcleo usado cuando no se pueden satisfacer las peticiones de asignación de memoria (incluso después de reclamar páginas)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Para recuperar el sistema se termina un</a:t>
            </a:r>
            <a:r>
              <a:rPr lang="es" sz="1700">
                <a:solidFill>
                  <a:schemeClr val="hlink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/>
              </a:rPr>
              <a:t> proceso malo (</a:t>
            </a:r>
            <a:r>
              <a:rPr i="1" lang="es" sz="1700">
                <a:solidFill>
                  <a:schemeClr val="hlink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/>
              </a:rPr>
              <a:t>badness</a:t>
            </a:r>
            <a:r>
              <a:rPr lang="es" sz="1700">
                <a:solidFill>
                  <a:schemeClr val="hlink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5"/>
              </a:rPr>
              <a:t>)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que liberar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 la memoria, usando una heurística que considera (según versión del kernel):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Tamaño de memoria residente (RSS) </a:t>
            </a:r>
            <a:r>
              <a:rPr lang="es" sz="17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↑</a:t>
            </a:r>
            <a:r>
              <a:rPr lang="es" sz="17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rgbClr val="CC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rgbClr val="6AA84F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Tiempo que el proceso ha estado en ejecución (</a:t>
            </a:r>
            <a:r>
              <a:rPr lang="es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↑</a:t>
            </a:r>
            <a:r>
              <a:rPr lang="es" sz="17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rgbClr val="6AA84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Número de hijos del proceso </a:t>
            </a:r>
            <a:r>
              <a:rPr lang="es" sz="17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↑</a:t>
            </a:r>
            <a:r>
              <a:rPr lang="es" sz="17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700">
              <a:solidFill>
                <a:srgbClr val="CC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Inter"/>
              <a:buChar char="○"/>
            </a:pPr>
            <a:r>
              <a:rPr lang="es" sz="17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Nice del proceso (</a:t>
            </a:r>
            <a:r>
              <a:rPr lang="es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↑</a:t>
            </a:r>
            <a:r>
              <a:rPr lang="es" sz="17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s" sz="1700">
                <a:latin typeface="Inter"/>
                <a:ea typeface="Inter"/>
                <a:cs typeface="Inter"/>
                <a:sym typeface="Inter"/>
              </a:rPr>
              <a:t>(se preservan los procesos más prioritarios)</a:t>
            </a:r>
            <a:endParaRPr sz="1700"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●"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Cada proceso en la PCB incluye los siguiente atributos </a:t>
            </a:r>
            <a:r>
              <a:rPr lang="es" sz="1700">
                <a:solidFill>
                  <a:schemeClr val="hlink"/>
                </a:solidFill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6"/>
              </a:rPr>
              <a:t>proc_pid_oom_score(5)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Char char="○"/>
            </a:pP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oom_score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Procesos con mayor puntuación serán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seleccionados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antes por el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OOM killer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onsolas"/>
              <a:buChar char="○"/>
            </a:pPr>
            <a:r>
              <a:rPr b="1"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oom_score_adj: 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Permite al administrador ajustar la puntuación para el OOM [</a:t>
            </a:r>
            <a:r>
              <a:rPr lang="es" sz="17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-1000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7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1000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] según la importancia del proceso. Ver comando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choom(1)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4" name="Google Shape;674;p41"/>
          <p:cNvSpPr txBox="1"/>
          <p:nvPr/>
        </p:nvSpPr>
        <p:spPr>
          <a:xfrm>
            <a:off x="288750" y="5791050"/>
            <a:ext cx="8590500" cy="8772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 choom -p $$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pid 7748's current OOM score: 666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pid 7748's current OOM score adjust value: 0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2"/>
          <p:cNvSpPr/>
          <p:nvPr/>
        </p:nvSpPr>
        <p:spPr>
          <a:xfrm>
            <a:off x="4205650" y="2567975"/>
            <a:ext cx="4798800" cy="1537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2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2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Gestión de la Memoria Principal (VIII)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82" name="Google Shape;682;p42"/>
          <p:cNvSpPr txBox="1"/>
          <p:nvPr/>
        </p:nvSpPr>
        <p:spPr>
          <a:xfrm>
            <a:off x="55515" y="2107300"/>
            <a:ext cx="3514800" cy="37608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cat </a:t>
            </a:r>
            <a:r>
              <a:rPr b="1" lang="es" sz="16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/proc/meminfo</a:t>
            </a:r>
            <a:endParaRPr b="1" sz="16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MemTotal:       32430644 kB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MemFree:        26361972 kB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MemAvailable:   27965488 kB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Buffers:          237912 kB</a:t>
            </a:r>
            <a:endParaRPr b="1" sz="1600">
              <a:solidFill>
                <a:srgbClr val="45818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34F5C"/>
                </a:solidFill>
                <a:latin typeface="Consolas"/>
                <a:ea typeface="Consolas"/>
                <a:cs typeface="Consolas"/>
                <a:sym typeface="Consolas"/>
              </a:rPr>
              <a:t>Cached:          2672568 kB</a:t>
            </a:r>
            <a:endParaRPr b="1" sz="1600">
              <a:solidFill>
                <a:srgbClr val="134F5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SwapCached:            0 kB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Active:          3469572 kB</a:t>
            </a:r>
            <a:endParaRPr b="1" sz="1600">
              <a:solidFill>
                <a:srgbClr val="674E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Inactive:        1253544 kB</a:t>
            </a:r>
            <a:endParaRPr b="1" sz="1600">
              <a:solidFill>
                <a:srgbClr val="674E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Active(anon):    2805132 kB</a:t>
            </a:r>
            <a:endParaRPr b="1" sz="1600">
              <a:solidFill>
                <a:srgbClr val="674E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Inactive(anon):        0 kB</a:t>
            </a:r>
            <a:endParaRPr b="1" sz="1600">
              <a:solidFill>
                <a:srgbClr val="674E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Active(file):     664440 kB</a:t>
            </a:r>
            <a:endParaRPr b="1" sz="1600">
              <a:solidFill>
                <a:srgbClr val="674E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Inactive(file):  1253544 kB</a:t>
            </a:r>
            <a:endParaRPr b="1" sz="1600">
              <a:solidFill>
                <a:srgbClr val="674E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Unevictable:      813624 kB</a:t>
            </a:r>
            <a:endParaRPr b="1" sz="1600">
              <a:solidFill>
                <a:srgbClr val="674E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3" name="Google Shape;683;p42"/>
          <p:cNvSpPr txBox="1"/>
          <p:nvPr/>
        </p:nvSpPr>
        <p:spPr>
          <a:xfrm>
            <a:off x="67139" y="828300"/>
            <a:ext cx="8937300" cy="11082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5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free</a:t>
            </a:r>
            <a:endParaRPr b="1" sz="15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total        used        free      shared  </a:t>
            </a:r>
            <a:r>
              <a:rPr b="1" lang="es" sz="1500">
                <a:solidFill>
                  <a:srgbClr val="134F5C"/>
                </a:solidFill>
                <a:latin typeface="Consolas"/>
                <a:ea typeface="Consolas"/>
                <a:cs typeface="Consolas"/>
                <a:sym typeface="Consolas"/>
              </a:rPr>
              <a:t>buff/cache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available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Mem:        32430644     4520676    26305888      999572     </a:t>
            </a:r>
            <a:r>
              <a:rPr b="1" lang="es" sz="1500">
                <a:solidFill>
                  <a:srgbClr val="134F5C"/>
                </a:solidFill>
                <a:latin typeface="Consolas"/>
                <a:ea typeface="Consolas"/>
                <a:cs typeface="Consolas"/>
                <a:sym typeface="Consolas"/>
              </a:rPr>
              <a:t>3028180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27909968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Swap:       16777212           0    16777212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84" name="Google Shape;684;p42"/>
          <p:cNvCxnSpPr/>
          <p:nvPr/>
        </p:nvCxnSpPr>
        <p:spPr>
          <a:xfrm>
            <a:off x="3409001" y="4105275"/>
            <a:ext cx="0" cy="1666200"/>
          </a:xfrm>
          <a:prstGeom prst="straightConnector1">
            <a:avLst/>
          </a:prstGeom>
          <a:noFill/>
          <a:ln cap="flat" cmpd="sng" w="19050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42"/>
          <p:cNvSpPr txBox="1"/>
          <p:nvPr/>
        </p:nvSpPr>
        <p:spPr>
          <a:xfrm>
            <a:off x="4293899" y="4505375"/>
            <a:ext cx="3309900" cy="1005600"/>
          </a:xfrm>
          <a:prstGeom prst="rect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Estad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ísticas de la </a:t>
            </a:r>
            <a:r>
              <a:rPr b="1" lang="es" sz="1500">
                <a:solidFill>
                  <a:srgbClr val="351C75"/>
                </a:solidFill>
                <a:latin typeface="Inter"/>
                <a:ea typeface="Inter"/>
                <a:cs typeface="Inter"/>
                <a:sym typeface="Inter"/>
              </a:rPr>
              <a:t>política LRU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b="1"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caché de páginas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b="1"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anon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páginas anónimas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86" name="Google Shape;686;p42"/>
          <p:cNvCxnSpPr>
            <a:endCxn id="685" idx="1"/>
          </p:cNvCxnSpPr>
          <p:nvPr/>
        </p:nvCxnSpPr>
        <p:spPr>
          <a:xfrm>
            <a:off x="3402599" y="4988675"/>
            <a:ext cx="891300" cy="195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" name="Google Shape;687;p42"/>
          <p:cNvSpPr txBox="1"/>
          <p:nvPr/>
        </p:nvSpPr>
        <p:spPr>
          <a:xfrm>
            <a:off x="4303921" y="3378341"/>
            <a:ext cx="4551600" cy="646500"/>
          </a:xfrm>
          <a:prstGeom prst="rect">
            <a:avLst/>
          </a:prstGeom>
          <a:noFill/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en la </a:t>
            </a:r>
            <a:r>
              <a:rPr b="1" lang="es" sz="1500">
                <a:solidFill>
                  <a:srgbClr val="134F5C"/>
                </a:solidFill>
                <a:latin typeface="Inter"/>
                <a:ea typeface="Inter"/>
                <a:cs typeface="Inter"/>
                <a:sym typeface="Inter"/>
              </a:rPr>
              <a:t>caché de páginas (ficheros), 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puede liberarse sin E/S (clean)</a:t>
            </a:r>
            <a:endParaRPr b="1" sz="1500">
              <a:solidFill>
                <a:srgbClr val="134F5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88" name="Google Shape;688;p42"/>
          <p:cNvCxnSpPr>
            <a:endCxn id="687" idx="1"/>
          </p:cNvCxnSpPr>
          <p:nvPr/>
        </p:nvCxnSpPr>
        <p:spPr>
          <a:xfrm>
            <a:off x="3302221" y="3701591"/>
            <a:ext cx="100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" name="Google Shape;689;p42"/>
          <p:cNvSpPr txBox="1"/>
          <p:nvPr/>
        </p:nvSpPr>
        <p:spPr>
          <a:xfrm>
            <a:off x="4291200" y="2669100"/>
            <a:ext cx="4551600" cy="646500"/>
          </a:xfrm>
          <a:prstGeom prst="rect">
            <a:avLst/>
          </a:prstGeom>
          <a:noFill/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para E/S de </a:t>
            </a:r>
            <a:r>
              <a:rPr b="1" lang="es" sz="1500">
                <a:solidFill>
                  <a:srgbClr val="45818E"/>
                </a:solidFill>
                <a:latin typeface="Inter"/>
                <a:ea typeface="Inter"/>
                <a:cs typeface="Inter"/>
                <a:sym typeface="Inter"/>
              </a:rPr>
              <a:t>dispositivos en bloque. </a:t>
            </a:r>
            <a:r>
              <a:rPr lang="es"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(en la cach</a:t>
            </a:r>
            <a:r>
              <a:rPr lang="es"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é de páginas)</a:t>
            </a:r>
            <a:endParaRPr sz="1500">
              <a:solidFill>
                <a:srgbClr val="6666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90" name="Google Shape;690;p42"/>
          <p:cNvCxnSpPr>
            <a:endCxn id="689" idx="1"/>
          </p:cNvCxnSpPr>
          <p:nvPr/>
        </p:nvCxnSpPr>
        <p:spPr>
          <a:xfrm flipH="1" rot="10800000">
            <a:off x="3272100" y="2992350"/>
            <a:ext cx="1019100" cy="4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2"/>
          <p:cNvCxnSpPr/>
          <p:nvPr/>
        </p:nvCxnSpPr>
        <p:spPr>
          <a:xfrm>
            <a:off x="6815350" y="1585900"/>
            <a:ext cx="0" cy="9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42"/>
          <p:cNvSpPr txBox="1"/>
          <p:nvPr/>
        </p:nvSpPr>
        <p:spPr>
          <a:xfrm>
            <a:off x="67150" y="6038900"/>
            <a:ext cx="8937300" cy="7080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Otros comandos para obtener </a:t>
            </a:r>
            <a:r>
              <a:rPr b="1" lang="es" sz="1700">
                <a:solidFill>
                  <a:srgbClr val="F6B26B"/>
                </a:solidFill>
                <a:latin typeface="Inter"/>
                <a:ea typeface="Inter"/>
                <a:cs typeface="Inter"/>
                <a:sym typeface="Inter"/>
              </a:rPr>
              <a:t>información de la memoria virtual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: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vmstat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swapon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pmap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ps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top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