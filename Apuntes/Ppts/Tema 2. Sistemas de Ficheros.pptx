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9144000"/>
  <p:notesSz cx="7099300" cy="10234600"/>
  <p:embeddedFontLst>
    <p:embeddedFont>
      <p:font typeface="Inter SemiBold"/>
      <p:regular r:id="rId42"/>
      <p:bold r:id="rId43"/>
      <p:italic r:id="rId44"/>
      <p:boldItalic r:id="rId45"/>
    </p:embeddedFont>
    <p:embeddedFont>
      <p:font typeface="Inter"/>
      <p:regular r:id="rId46"/>
      <p:bold r:id="rId47"/>
      <p:italic r:id="rId48"/>
      <p:boldItalic r:id="rId49"/>
    </p:embeddedFont>
    <p:embeddedFont>
      <p:font typeface="Inter Medium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EF096E-7B61-4A85-9FDA-B53D0E27F26A}">
  <a:tblStyle styleId="{22EF096E-7B61-4A85-9FDA-B53D0E27F2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InterSemiBold-regular.fntdata"/><Relationship Id="rId41" Type="http://schemas.openxmlformats.org/officeDocument/2006/relationships/slide" Target="slides/slide36.xml"/><Relationship Id="rId44" Type="http://schemas.openxmlformats.org/officeDocument/2006/relationships/font" Target="fonts/InterSemiBold-italic.fntdata"/><Relationship Id="rId43" Type="http://schemas.openxmlformats.org/officeDocument/2006/relationships/font" Target="fonts/InterSemiBold-bold.fntdata"/><Relationship Id="rId46" Type="http://schemas.openxmlformats.org/officeDocument/2006/relationships/font" Target="fonts/Inter-regular.fntdata"/><Relationship Id="rId45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-italic.fntdata"/><Relationship Id="rId47" Type="http://schemas.openxmlformats.org/officeDocument/2006/relationships/font" Target="fonts/Inter-bold.fntdata"/><Relationship Id="rId49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nterMedium-bold.fntdata"/><Relationship Id="rId50" Type="http://schemas.openxmlformats.org/officeDocument/2006/relationships/font" Target="fonts/InterMedium-regular.fntdata"/><Relationship Id="rId53" Type="http://schemas.openxmlformats.org/officeDocument/2006/relationships/font" Target="fonts/InterMedium-boldItalic.fntdata"/><Relationship Id="rId52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4021137" y="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993775" y="768350"/>
            <a:ext cx="5113337" cy="38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709612" y="4862512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972185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n"/>
          <p:cNvSpPr txBox="1"/>
          <p:nvPr>
            <p:ph idx="12" type="sldNum"/>
          </p:nvPr>
        </p:nvSpPr>
        <p:spPr>
          <a:xfrm>
            <a:off x="4021137" y="972185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9a86105645_31_2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9a86105645_31_2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9a86105645_31_2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9a86105645_31_2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968df0667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0968df0667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0217524ed_1_37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70217524ed_1_37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70217524ed_1_37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70217524ed_1_37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0217524ed_1_1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0217524ed_1_1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12b68f922_0_22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12b68f922_0_22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12b68f922_0_67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12b68f922_0_67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Ejercicio. Obtener el dispositivo de un fichero dado a partir de stat con los comandos ls, grep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Ejercicio. Opciones comando ls: -l, -i, -a (ficheros ocultos)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Ejercicio. Comando touch, verificar la actualizaci</a:t>
            </a:r>
            <a:r>
              <a:rPr lang="es"/>
              <a:t>ón de las marcas temporales.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12b68f922_0_10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12b68f922_0_10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4b76e08ef_0_1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74b76e08ef_0_1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74b76e08ef_0_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74b76e08ef_0_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12b68f922_0_14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12b68f922_0_14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1cb385bdb_0_92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71cb385bdb_0_92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378d2d79b_0_6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378d2d79b_0_6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1cb385bdb_0_1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71cb385bdb_0_1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2b8614ed3_0_5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72b8614ed3_0_5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74b76e08ef_0_10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74b76e08ef_0_10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74b76e08ef_0_1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74b76e08ef_0_1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72b8614ed3_0_14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72b8614ed3_0_14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72b8614ed3_0_16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72b8614ed3_0_16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736a1c5f99_0_3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736a1c5f99_0_3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736a1c5f99_0_4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736a1c5f99_0_4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36a1c5f99_0_47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736a1c5f99_0_47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736a1c5f99_0_5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736a1c5f99_0_5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74b76e08ef_0_19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74b76e08ef_0_19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74b76e08ef_0_19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74b76e08ef_0_19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706b8ac18b_0_57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706b8ac18b_0_57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70433e04c9_2_16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70433e04c9_2_16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7398188c6d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7398188c6d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736a1c5f99_0_10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736a1c5f99_0_10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7398188c6d_0_76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7398188c6d_0_76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64319cf91c_0_12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64319cf91c_0_12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64319cf91c_0_18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64319cf91c_0_18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64319cf91c_0_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64319cf91c_0_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7398188c6d_0_144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7398188c6d_0_144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7a3185bdda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7a3185bdda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7398188c6d_0_15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7398188c6d_0_15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8a0f32151a_0_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8a0f32151a_0_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7398188c6d_0_159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7398188c6d_0_159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7a3185bdda_0_87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7a3185bdda_0_87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64319cf91c_0_31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364319cf91c_0_31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611187" y="762000"/>
            <a:ext cx="85329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" type="subTitle"/>
          </p:nvPr>
        </p:nvSpPr>
        <p:spPr>
          <a:xfrm>
            <a:off x="1593850" y="173037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14605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2" type="body"/>
          </p:nvPr>
        </p:nvSpPr>
        <p:spPr>
          <a:xfrm>
            <a:off x="457200" y="1604962"/>
            <a:ext cx="82281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1">
  <p:cSld name="TITLE_AND_TWO_COLUMNS_1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214312" y="-53975"/>
            <a:ext cx="86868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206375" y="765175"/>
            <a:ext cx="8686800" cy="57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6975475" y="73025"/>
            <a:ext cx="2132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AND_TWO_OBJECTS" type="txAndTwoObj">
  <p:cSld name="TEXT_AND_TWO_OBJECTS"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214312" y="-53975"/>
            <a:ext cx="86853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206375" y="765175"/>
            <a:ext cx="8686800" cy="5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975475" y="73025"/>
            <a:ext cx="2132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_OBJECTS" type="fourObj">
  <p:cSld name="FOUR_OBJECTS"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214312" y="-53975"/>
            <a:ext cx="86868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6975475" y="73025"/>
            <a:ext cx="2132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206375" y="765175"/>
            <a:ext cx="8685300" cy="5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lwn.net/Articles/411845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refspecs.linuxfoundation.org/FHS_3.0/fhs/index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litux.nl/mirror/kerneldevelopment/0672327201/ch12lev1sec7.html" TargetMode="External"/><Relationship Id="rId4" Type="http://schemas.openxmlformats.org/officeDocument/2006/relationships/hyperlink" Target="https://litux.nl/mirror/kerneldevelopment/0672327201/ch12lev1sec6.html" TargetMode="External"/><Relationship Id="rId5" Type="http://schemas.openxmlformats.org/officeDocument/2006/relationships/hyperlink" Target="https://docs.kernel.org/filesystems/ext4/dynamic.html#index-nodes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litux.nl/mirror/kerneldevelopment/0672327201/ch12lev1sec5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litux.nl/mirror/kerneldevelopment/0672327201/ch12lev1sec8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kernel.org/doc/Documentation/filesystems/ext4/allocators.rst" TargetMode="External"/><Relationship Id="rId4" Type="http://schemas.openxmlformats.org/officeDocument/2006/relationships/hyperlink" Target="https://github.com/torvalds/linux/blob/master/fs/ext4/ext4_extents.h#L133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ithub.com/torvalds/linux/blob/master/fs/ext4/ext4_extents.h#L56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it.kernel.org/pub/scm/linux/kernel/git/torvalds/linux.git/tree/fs/ext4/extents.c#n1073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Sistemas de Ficheros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3" name="Google Shape;53;p12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Tema 2.</a:t>
            </a: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Sistemas de Ficheros</a:t>
            </a:r>
            <a:endParaRPr b="0" i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7825" y="803850"/>
            <a:ext cx="8946300" cy="58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2.1 Ficheros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Concepto de fichero.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Atributos y tipos. Permisos.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2.2 Directorios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Jerarquía. Ruta absoluta y relativa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Estructura de directorio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Enlaces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2.3 Interfaz del Sistema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CLI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Llamadas al sistema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2.3 Sistemas de Ficheros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Virtual File System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Objetos: entradas de directorio, inodos, ficheros y superbloques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Fragmentación y localidad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Gestión de bloques de disco</a:t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.1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Ficheros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0" name="Google Shape;70;p14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Ficheros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87500" y="977725"/>
            <a:ext cx="8742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 fichero es una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abstracción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que permite almacenar y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manipular información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como una secuencia de bytes agrupada bajo un mismo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nombre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12224" y="1859237"/>
            <a:ext cx="375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 identifican con descriptores (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9" name="Google Shape;79;p15"/>
          <p:cNvCxnSpPr>
            <a:endCxn id="78" idx="0"/>
          </p:cNvCxnSpPr>
          <p:nvPr/>
        </p:nvCxnSpPr>
        <p:spPr>
          <a:xfrm>
            <a:off x="2589174" y="1301537"/>
            <a:ext cx="0" cy="5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0" name="Google Shape;80;p15"/>
          <p:cNvSpPr txBox="1"/>
          <p:nvPr/>
        </p:nvSpPr>
        <p:spPr>
          <a:xfrm>
            <a:off x="5099900" y="3688437"/>
            <a:ext cx="4045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SO define una serie de operaciones típicas como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write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close…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1" name="Google Shape;81;p15"/>
          <p:cNvCxnSpPr>
            <a:endCxn id="80" idx="0"/>
          </p:cNvCxnSpPr>
          <p:nvPr/>
        </p:nvCxnSpPr>
        <p:spPr>
          <a:xfrm>
            <a:off x="7122650" y="1345137"/>
            <a:ext cx="0" cy="23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2" name="Google Shape;82;p15"/>
          <p:cNvSpPr txBox="1"/>
          <p:nvPr/>
        </p:nvSpPr>
        <p:spPr>
          <a:xfrm>
            <a:off x="2527952" y="2580775"/>
            <a:ext cx="4495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ficheros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se crean y usan en un espacio de nombres común y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jerárquico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(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path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" name="Google Shape;83;p15"/>
          <p:cNvCxnSpPr/>
          <p:nvPr/>
        </p:nvCxnSpPr>
        <p:spPr>
          <a:xfrm>
            <a:off x="834949" y="1882163"/>
            <a:ext cx="350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5"/>
          <p:cNvCxnSpPr/>
          <p:nvPr/>
        </p:nvCxnSpPr>
        <p:spPr>
          <a:xfrm>
            <a:off x="5145350" y="3707700"/>
            <a:ext cx="395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5"/>
          <p:cNvCxnSpPr/>
          <p:nvPr/>
        </p:nvCxnSpPr>
        <p:spPr>
          <a:xfrm>
            <a:off x="5412575" y="1583100"/>
            <a:ext cx="0" cy="8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6" name="Google Shape;86;p15"/>
          <p:cNvCxnSpPr/>
          <p:nvPr/>
        </p:nvCxnSpPr>
        <p:spPr>
          <a:xfrm>
            <a:off x="2634325" y="2534100"/>
            <a:ext cx="423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5"/>
          <p:cNvSpPr txBox="1"/>
          <p:nvPr/>
        </p:nvSpPr>
        <p:spPr>
          <a:xfrm>
            <a:off x="70262" y="3688425"/>
            <a:ext cx="4968600" cy="3021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Everything is a file</a:t>
            </a:r>
            <a:r>
              <a:rPr b="1"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mayoría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los objetos del sistema se manejan como secuencias de bytes mediante un descriptor de ficheros (fd) y una interfaz común: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Fichero regular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Directorio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Dispositivo E/S en modo bloque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Dispositivo E/S en modo caracter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Socket (conexión de red)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Tubería con nombre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Enlace simbólico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Ficheros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5361" y="901525"/>
            <a:ext cx="7420800" cy="57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SO asocia a cada fichero metadatos, que se guardan en una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estructura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especial llamada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i-nodo</a:t>
            </a:r>
            <a:r>
              <a:rPr b="1" i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 (index node)</a:t>
            </a:r>
            <a:r>
              <a:rPr b="1" lang="es" sz="1600">
                <a:latin typeface="Inter"/>
                <a:ea typeface="Inter"/>
                <a:cs typeface="Inter"/>
                <a:sym typeface="Inter"/>
              </a:rPr>
              <a:t>:</a:t>
            </a:r>
            <a:endParaRPr b="1" sz="1600"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Dispositivo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que almacena el fichero (e i-nodo).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Número de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i-nodo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que identifica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unívocamente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al fichero en el sistema de ficheros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Tipo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 fichero y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modo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(permisos)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Identificadores del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usuario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grupo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propietario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Número de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enlaces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duros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al fichero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Tamaño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bytes para ficheros regulares y enlaces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Tamaño de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 E/S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Número de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Bloques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 512 bytes usado por el fichero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Marcas de tiempo para: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creación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acceso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al fichero ej. read(2)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modificación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del fichero ej. write(2)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cambio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del i-nodo ej. chown(2)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2577260" y="1941303"/>
            <a:ext cx="2138100" cy="2826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Major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driver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/clase)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715360" y="1941303"/>
            <a:ext cx="2047500" cy="282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Minor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dispositivo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7530486" y="2592300"/>
            <a:ext cx="14034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7530486" y="2705700"/>
            <a:ext cx="14034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7530486" y="2797500"/>
            <a:ext cx="14034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7530486" y="2910900"/>
            <a:ext cx="14034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7530486" y="3002700"/>
            <a:ext cx="14034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7530486" y="3116100"/>
            <a:ext cx="14034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7530486" y="3229500"/>
            <a:ext cx="14034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7530486" y="3321300"/>
            <a:ext cx="14034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7530486" y="3434700"/>
            <a:ext cx="14034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7530486" y="3548100"/>
            <a:ext cx="1403400" cy="1043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punteros a los bloques con los datos del fichero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7590710" y="2797950"/>
            <a:ext cx="1282800" cy="431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metadatos</a:t>
            </a:r>
            <a:endParaRPr/>
          </a:p>
        </p:txBody>
      </p:sp>
      <p:cxnSp>
        <p:nvCxnSpPr>
          <p:cNvPr id="108" name="Google Shape;108;p16"/>
          <p:cNvCxnSpPr/>
          <p:nvPr/>
        </p:nvCxnSpPr>
        <p:spPr>
          <a:xfrm>
            <a:off x="7013761" y="1640175"/>
            <a:ext cx="0" cy="502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6"/>
          <p:cNvCxnSpPr>
            <a:stCxn id="107" idx="1"/>
          </p:cNvCxnSpPr>
          <p:nvPr/>
        </p:nvCxnSpPr>
        <p:spPr>
          <a:xfrm rot="10800000">
            <a:off x="6973610" y="3013500"/>
            <a:ext cx="617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diamond"/>
          </a:ln>
        </p:spPr>
      </p:cxnSp>
      <p:sp>
        <p:nvSpPr>
          <p:cNvPr id="110" name="Google Shape;110;p16"/>
          <p:cNvSpPr txBox="1"/>
          <p:nvPr/>
        </p:nvSpPr>
        <p:spPr>
          <a:xfrm>
            <a:off x="5531050" y="6224700"/>
            <a:ext cx="3502200" cy="5133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720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Más información </a:t>
            </a:r>
            <a:r>
              <a:rPr b="1" lang="e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inode(7)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657425" y="2578450"/>
            <a:ext cx="7525500" cy="2124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lang="es">
                <a:latin typeface="Consolas"/>
                <a:ea typeface="Consolas"/>
                <a:cs typeface="Consolas"/>
                <a:sym typeface="Consolas"/>
              </a:rPr>
              <a:t>stat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fichero.txt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File: fichero.txt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Size: </a:t>
            </a:r>
            <a:r>
              <a:rPr b="1" lang="es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	Blocks: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IO Block: 4096   </a:t>
            </a:r>
            <a:r>
              <a:rPr b="1" lang="es">
                <a:solidFill>
                  <a:srgbClr val="A61C00"/>
                </a:solidFill>
                <a:latin typeface="Consolas"/>
                <a:ea typeface="Consolas"/>
                <a:cs typeface="Consolas"/>
                <a:sym typeface="Consolas"/>
              </a:rPr>
              <a:t>regular file</a:t>
            </a:r>
            <a:endParaRPr b="1">
              <a:solidFill>
                <a:srgbClr val="A61C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Device: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254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Inode: </a:t>
            </a:r>
            <a:r>
              <a:rPr b="1" lang="es">
                <a:solidFill>
                  <a:srgbClr val="4C1130"/>
                </a:solidFill>
                <a:latin typeface="Consolas"/>
                <a:ea typeface="Consolas"/>
                <a:cs typeface="Consolas"/>
                <a:sym typeface="Consolas"/>
              </a:rPr>
              <a:t>11443365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Links: </a:t>
            </a: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Access: (</a:t>
            </a:r>
            <a:r>
              <a:rPr b="1" lang="es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0644/-rw-r--r--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 Uid: ( </a:t>
            </a:r>
            <a:r>
              <a:rPr b="1" lang="es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1000/   ruben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  Gid: ( </a:t>
            </a:r>
            <a:r>
              <a:rPr b="1" lang="es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1000/   ruben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Access: 2025-07-23 20:04:49.397640090 +0200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Modify: 2025-07-23 20:28:29.113796897 +0200</a:t>
            </a:r>
            <a:endParaRPr b="1">
              <a:solidFill>
                <a:srgbClr val="674EA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Change: 2025-07-23 20:28:29.113796897 +0200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Birth: 2025-07-23 20:04:49.397640090 +0200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653525" y="4945075"/>
            <a:ext cx="7525500" cy="615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ls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-l /dev/dm-2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rw-rw---- 1 root disk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254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Jul 22 09:20 /dev/dm-2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657425" y="969875"/>
            <a:ext cx="7525500" cy="4002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lang="es">
                <a:latin typeface="Consolas"/>
                <a:ea typeface="Consolas"/>
                <a:cs typeface="Consolas"/>
                <a:sym typeface="Consolas"/>
              </a:rPr>
              <a:t>echo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'a' &gt; fichero.txt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1220175" y="1671375"/>
            <a:ext cx="7359300" cy="615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Tamaño  = 2bytes  = ‘a’ + ‘\n’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Bloques = 8 * 512b = 4096b = 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 del sistema de ficheros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4Kb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(ver 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 -f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0" name="Google Shape;120;p17"/>
          <p:cNvCxnSpPr>
            <a:stCxn id="118" idx="1"/>
            <a:endCxn id="116" idx="1"/>
          </p:cNvCxnSpPr>
          <p:nvPr/>
        </p:nvCxnSpPr>
        <p:spPr>
          <a:xfrm>
            <a:off x="657425" y="1169975"/>
            <a:ext cx="600" cy="24705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7"/>
          <p:cNvCxnSpPr/>
          <p:nvPr/>
        </p:nvCxnSpPr>
        <p:spPr>
          <a:xfrm>
            <a:off x="1489000" y="3485675"/>
            <a:ext cx="0" cy="1464300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2" name="Google Shape;122;p17"/>
          <p:cNvSpPr txBox="1"/>
          <p:nvPr/>
        </p:nvSpPr>
        <p:spPr>
          <a:xfrm>
            <a:off x="645510" y="5790785"/>
            <a:ext cx="305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= dispositivo en modo </a:t>
            </a: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loque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3" name="Google Shape;123;p17"/>
          <p:cNvCxnSpPr/>
          <p:nvPr/>
        </p:nvCxnSpPr>
        <p:spPr>
          <a:xfrm>
            <a:off x="775900" y="5462625"/>
            <a:ext cx="0" cy="4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7"/>
          <p:cNvCxnSpPr>
            <a:stCxn id="125" idx="3"/>
            <a:endCxn id="119" idx="2"/>
          </p:cNvCxnSpPr>
          <p:nvPr/>
        </p:nvCxnSpPr>
        <p:spPr>
          <a:xfrm flipH="1" rot="10800000">
            <a:off x="3620325" y="2286975"/>
            <a:ext cx="1279500" cy="922200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7"/>
          <p:cNvSpPr/>
          <p:nvPr/>
        </p:nvSpPr>
        <p:spPr>
          <a:xfrm>
            <a:off x="717436" y="3345764"/>
            <a:ext cx="1363800" cy="169500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3741875" y="5704887"/>
            <a:ext cx="5262600" cy="1046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ls -l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fichero.txt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85200C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s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rw-r--r-- </a:t>
            </a: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ruben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ruben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b="1" lang="es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Jul 23 20:28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fichero.txt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ls -i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fichero.txt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C1130"/>
                </a:solidFill>
                <a:latin typeface="Consolas"/>
                <a:ea typeface="Consolas"/>
                <a:cs typeface="Consolas"/>
                <a:sym typeface="Consolas"/>
              </a:rPr>
              <a:t>11443365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fichero.txt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892675" y="3124354"/>
            <a:ext cx="2727600" cy="169500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17"/>
          <p:cNvCxnSpPr>
            <a:stCxn id="116" idx="3"/>
          </p:cNvCxnSpPr>
          <p:nvPr/>
        </p:nvCxnSpPr>
        <p:spPr>
          <a:xfrm>
            <a:off x="8182925" y="3640450"/>
            <a:ext cx="338700" cy="2060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17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Ficheros (III)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Ficheros (IV)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0" y="766058"/>
            <a:ext cx="9144000" cy="41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68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/>
              <a:t>Atributo </a:t>
            </a:r>
            <a:r>
              <a:rPr b="1" lang="es" sz="1800"/>
              <a:t>modo</a:t>
            </a:r>
            <a:r>
              <a:rPr lang="es" sz="1800"/>
              <a:t> del i-nodo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Permisos especiales en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ficheros ejecutables (+x)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Tema 3 - procesos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setuid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UID del proceso se establece al UID del propietario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del fichero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setgid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GID del proceso se establece al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GID del propietario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del fichero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Permisos especiales en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directorios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ejecución (x)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: permite cambiar al directorio (cd)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setgid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El grupo GID del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fichero se crea con el GID del direc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torio (en lugar del GID del proceso)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sticky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Los ficheros s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ólo 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pueden ser borrados o renombrados por el propietario del fichero, por el propietario del directorio o por un proceso privilegiado (e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j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/tmp</a:t>
            </a:r>
            <a:r>
              <a:rPr lang="es" sz="1800">
                <a:solidFill>
                  <a:srgbClr val="000000"/>
                </a:solidFill>
              </a:rPr>
              <a:t>)</a:t>
            </a:r>
            <a:endParaRPr sz="1800">
              <a:solidFill>
                <a:srgbClr val="000000"/>
              </a:solidFill>
            </a:endParaRPr>
          </a:p>
        </p:txBody>
      </p:sp>
      <p:grpSp>
        <p:nvGrpSpPr>
          <p:cNvPr id="138" name="Google Shape;138;p18"/>
          <p:cNvGrpSpPr/>
          <p:nvPr/>
        </p:nvGrpSpPr>
        <p:grpSpPr>
          <a:xfrm>
            <a:off x="1043850" y="4783400"/>
            <a:ext cx="7565338" cy="2177772"/>
            <a:chOff x="1043850" y="4402400"/>
            <a:chExt cx="7565338" cy="2177772"/>
          </a:xfrm>
        </p:grpSpPr>
        <p:sp>
          <p:nvSpPr>
            <p:cNvPr id="139" name="Google Shape;139;p18"/>
            <p:cNvSpPr txBox="1"/>
            <p:nvPr/>
          </p:nvSpPr>
          <p:spPr>
            <a:xfrm rot="-2701637">
              <a:off x="1904284" y="5926173"/>
              <a:ext cx="890955" cy="3968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i="1" lang="e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</a:t>
              </a:r>
              <a:r>
                <a:rPr i="1" lang="es" sz="18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ticky</a:t>
              </a:r>
              <a:endParaRPr i="1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0" name="Google Shape;140;p18"/>
            <p:cNvSpPr txBox="1"/>
            <p:nvPr/>
          </p:nvSpPr>
          <p:spPr>
            <a:xfrm>
              <a:off x="1043850" y="5419525"/>
              <a:ext cx="684900" cy="324000"/>
            </a:xfrm>
            <a:prstGeom prst="rect">
              <a:avLst/>
            </a:prstGeom>
            <a:solidFill>
              <a:srgbClr val="741B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Tipo</a:t>
              </a:r>
              <a:endParaRPr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1720922" y="5419525"/>
              <a:ext cx="344400" cy="3240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b="1" lang="es" sz="18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</a:t>
              </a:r>
              <a:endParaRPr b="1" i="0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2057798" y="5419525"/>
              <a:ext cx="344400" cy="3240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b="1" lang="es" sz="18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</a:t>
              </a:r>
              <a:endParaRPr b="1" i="0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3" name="Google Shape;143;p18"/>
            <p:cNvSpPr txBox="1"/>
            <p:nvPr/>
          </p:nvSpPr>
          <p:spPr>
            <a:xfrm>
              <a:off x="2394673" y="5419525"/>
              <a:ext cx="346200" cy="3240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b="1" lang="es" sz="18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b="1" i="0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4" name="Google Shape;144;p18"/>
            <p:cNvSpPr txBox="1"/>
            <p:nvPr/>
          </p:nvSpPr>
          <p:spPr>
            <a:xfrm>
              <a:off x="2733137" y="5419525"/>
              <a:ext cx="344400" cy="324000"/>
            </a:xfrm>
            <a:prstGeom prst="rect">
              <a:avLst/>
            </a:prstGeom>
            <a:solidFill>
              <a:srgbClr val="CFE2F3"/>
            </a:solidFill>
            <a:ln cap="rnd" cmpd="sng" w="9525">
              <a:solidFill>
                <a:srgbClr val="CFE2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</a:t>
              </a:r>
              <a:endParaRPr i="0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3077625" y="5419525"/>
              <a:ext cx="344400" cy="324000"/>
            </a:xfrm>
            <a:prstGeom prst="rect">
              <a:avLst/>
            </a:prstGeom>
            <a:solidFill>
              <a:srgbClr val="CFE2F3"/>
            </a:solidFill>
            <a:ln cap="rnd" cmpd="sng" w="9525">
              <a:solidFill>
                <a:srgbClr val="CFE2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</a:t>
              </a:r>
              <a:endParaRPr i="0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3422112" y="5419525"/>
              <a:ext cx="344400" cy="324000"/>
            </a:xfrm>
            <a:prstGeom prst="rect">
              <a:avLst/>
            </a:prstGeom>
            <a:solidFill>
              <a:srgbClr val="CFE2F3"/>
            </a:solidFill>
            <a:ln cap="rnd" cmpd="sng" w="9525">
              <a:solidFill>
                <a:srgbClr val="CFE2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endParaRPr i="0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3766600" y="5419525"/>
              <a:ext cx="344400" cy="324000"/>
            </a:xfrm>
            <a:prstGeom prst="rect">
              <a:avLst/>
            </a:prstGeom>
            <a:solidFill>
              <a:srgbClr val="9FC5E8"/>
            </a:solidFill>
            <a:ln cap="rnd" cmpd="sng" w="9525">
              <a:solidFill>
                <a:srgbClr val="9FC5E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</a:t>
              </a:r>
              <a:endParaRPr i="0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4111087" y="5419525"/>
              <a:ext cx="344400" cy="324000"/>
            </a:xfrm>
            <a:prstGeom prst="rect">
              <a:avLst/>
            </a:prstGeom>
            <a:solidFill>
              <a:srgbClr val="9FC5E8"/>
            </a:solidFill>
            <a:ln cap="rnd" cmpd="sng" w="9525">
              <a:solidFill>
                <a:srgbClr val="9FC5E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</a:t>
              </a:r>
              <a:endParaRPr i="0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4455575" y="5419525"/>
              <a:ext cx="346200" cy="324000"/>
            </a:xfrm>
            <a:prstGeom prst="rect">
              <a:avLst/>
            </a:prstGeom>
            <a:solidFill>
              <a:srgbClr val="9FC5E8"/>
            </a:solidFill>
            <a:ln cap="rnd" cmpd="sng" w="9525">
              <a:solidFill>
                <a:srgbClr val="9FC5E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endParaRPr i="0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4801650" y="5419525"/>
              <a:ext cx="344400" cy="324000"/>
            </a:xfrm>
            <a:prstGeom prst="rect">
              <a:avLst/>
            </a:prstGeom>
            <a:solidFill>
              <a:srgbClr val="6FA8DC"/>
            </a:solidFill>
            <a:ln cap="rnd" cmpd="sng" w="9525">
              <a:solidFill>
                <a:srgbClr val="6FA8D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</a:t>
              </a:r>
              <a:endParaRPr i="0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5146137" y="5419525"/>
              <a:ext cx="344400" cy="324000"/>
            </a:xfrm>
            <a:prstGeom prst="rect">
              <a:avLst/>
            </a:prstGeom>
            <a:solidFill>
              <a:srgbClr val="6FA8DC"/>
            </a:solidFill>
            <a:ln cap="rnd" cmpd="sng" w="9525">
              <a:solidFill>
                <a:srgbClr val="6FA8D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</a:t>
              </a:r>
              <a:endParaRPr i="0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5490625" y="5419525"/>
              <a:ext cx="344400" cy="324000"/>
            </a:xfrm>
            <a:prstGeom prst="rect">
              <a:avLst/>
            </a:prstGeom>
            <a:solidFill>
              <a:srgbClr val="6FA8DC"/>
            </a:solidFill>
            <a:ln cap="rnd" cmpd="sng" w="9525">
              <a:solidFill>
                <a:srgbClr val="6FA8D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endParaRPr i="0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3" name="Google Shape;153;p18"/>
            <p:cNvSpPr/>
            <p:nvPr/>
          </p:nvSpPr>
          <p:spPr>
            <a:xfrm rot="5400000">
              <a:off x="3141913" y="5436328"/>
              <a:ext cx="193800" cy="914400"/>
            </a:xfrm>
            <a:prstGeom prst="rightBrace">
              <a:avLst>
                <a:gd fmla="val 52237" name="adj1"/>
                <a:gd fmla="val 50000" name="adj2"/>
              </a:avLst>
            </a:prstGeom>
            <a:noFill/>
            <a:ln cap="rnd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/>
            <p:nvPr/>
          </p:nvSpPr>
          <p:spPr>
            <a:xfrm rot="5400000">
              <a:off x="4190473" y="5436318"/>
              <a:ext cx="193800" cy="914400"/>
            </a:xfrm>
            <a:prstGeom prst="rightBrace">
              <a:avLst>
                <a:gd fmla="val 55688" name="adj1"/>
                <a:gd fmla="val 50000" name="adj2"/>
              </a:avLst>
            </a:prstGeom>
            <a:noFill/>
            <a:ln cap="rnd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 rot="5400000">
              <a:off x="5228134" y="5436318"/>
              <a:ext cx="193800" cy="914400"/>
            </a:xfrm>
            <a:prstGeom prst="rightBrace">
              <a:avLst>
                <a:gd fmla="val 49309" name="adj1"/>
                <a:gd fmla="val 50000" name="adj2"/>
              </a:avLst>
            </a:prstGeom>
            <a:noFill/>
            <a:ln cap="rnd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2745837" y="5932411"/>
              <a:ext cx="987300" cy="3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latin typeface="Inter"/>
                  <a:ea typeface="Inter"/>
                  <a:cs typeface="Inter"/>
                  <a:sym typeface="Inter"/>
                </a:rPr>
                <a:t>usuario</a:t>
              </a:r>
              <a:endParaRPr i="0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3866613" y="5932411"/>
              <a:ext cx="833400" cy="3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latin typeface="Inter"/>
                  <a:ea typeface="Inter"/>
                  <a:cs typeface="Inter"/>
                  <a:sym typeface="Inter"/>
                </a:rPr>
                <a:t>grupo</a:t>
              </a:r>
              <a:endParaRPr i="0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4834972" y="5932399"/>
              <a:ext cx="961800" cy="3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latin typeface="Inter"/>
                  <a:ea typeface="Inter"/>
                  <a:cs typeface="Inter"/>
                  <a:sym typeface="Inter"/>
                </a:rPr>
                <a:t>otros</a:t>
              </a:r>
              <a:endParaRPr i="0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9" name="Google Shape;159;p18"/>
            <p:cNvSpPr txBox="1"/>
            <p:nvPr/>
          </p:nvSpPr>
          <p:spPr>
            <a:xfrm rot="-2698330">
              <a:off x="1192297" y="5920198"/>
              <a:ext cx="873560" cy="3968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i="1" lang="e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</a:t>
              </a:r>
              <a:r>
                <a:rPr i="1" lang="es" sz="18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et</a:t>
              </a:r>
              <a:r>
                <a:rPr i="1" lang="e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uid</a:t>
              </a:r>
              <a:endParaRPr i="1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0" name="Google Shape;160;p18"/>
            <p:cNvSpPr txBox="1"/>
            <p:nvPr/>
          </p:nvSpPr>
          <p:spPr>
            <a:xfrm rot="-2701661">
              <a:off x="1544991" y="5921800"/>
              <a:ext cx="878227" cy="3968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i="1" lang="e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</a:t>
              </a:r>
              <a:r>
                <a:rPr i="1" lang="es" sz="18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et</a:t>
              </a:r>
              <a:r>
                <a:rPr i="1" lang="e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gid</a:t>
              </a:r>
              <a:endParaRPr i="1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6650788" y="4402400"/>
              <a:ext cx="1958400" cy="3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latin typeface="Consolas"/>
                  <a:ea typeface="Consolas"/>
                  <a:cs typeface="Consolas"/>
                  <a:sym typeface="Consolas"/>
                </a:rPr>
                <a:t>r:</a:t>
              </a:r>
              <a:r>
                <a:rPr lang="es" sz="1800">
                  <a:latin typeface="Inter"/>
                  <a:ea typeface="Inter"/>
                  <a:cs typeface="Inter"/>
                  <a:sym typeface="Inter"/>
                </a:rPr>
                <a:t> lectura</a:t>
              </a:r>
              <a:endParaRPr i="0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6650788" y="4691977"/>
              <a:ext cx="1958400" cy="3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latin typeface="Consolas"/>
                  <a:ea typeface="Consolas"/>
                  <a:cs typeface="Consolas"/>
                  <a:sym typeface="Consolas"/>
                </a:rPr>
                <a:t>w</a:t>
              </a:r>
              <a:r>
                <a:rPr lang="es" sz="1800"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s" sz="1800">
                  <a:latin typeface="Inter"/>
                  <a:ea typeface="Inter"/>
                  <a:cs typeface="Inter"/>
                  <a:sym typeface="Inter"/>
                </a:rPr>
                <a:t> escritura</a:t>
              </a:r>
              <a:endParaRPr i="0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6650788" y="4982598"/>
              <a:ext cx="1958400" cy="3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Times New Roman"/>
                <a:buNone/>
              </a:pPr>
              <a:r>
                <a:rPr lang="es" sz="1800">
                  <a:latin typeface="Consolas"/>
                  <a:ea typeface="Consolas"/>
                  <a:cs typeface="Consolas"/>
                  <a:sym typeface="Consolas"/>
                </a:rPr>
                <a:t>x</a:t>
              </a:r>
              <a:r>
                <a:rPr lang="es" sz="1800"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s" sz="1800">
                  <a:latin typeface="Inter"/>
                  <a:ea typeface="Inter"/>
                  <a:cs typeface="Inter"/>
                  <a:sym typeface="Inter"/>
                </a:rPr>
                <a:t> ejecuci</a:t>
              </a:r>
              <a:r>
                <a:rPr lang="es" sz="1800">
                  <a:latin typeface="Inter"/>
                  <a:ea typeface="Inter"/>
                  <a:cs typeface="Inter"/>
                  <a:sym typeface="Inter"/>
                </a:rPr>
                <a:t>ón</a:t>
              </a:r>
              <a:endParaRPr i="0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64" name="Google Shape;164;p18"/>
            <p:cNvCxnSpPr>
              <a:stCxn id="150" idx="0"/>
              <a:endCxn id="161" idx="1"/>
            </p:cNvCxnSpPr>
            <p:nvPr/>
          </p:nvCxnSpPr>
          <p:spPr>
            <a:xfrm rot="-5400000">
              <a:off x="5403000" y="4171675"/>
              <a:ext cx="818700" cy="16770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5" name="Google Shape;165;p18"/>
            <p:cNvCxnSpPr>
              <a:stCxn id="151" idx="0"/>
              <a:endCxn id="162" idx="1"/>
            </p:cNvCxnSpPr>
            <p:nvPr/>
          </p:nvCxnSpPr>
          <p:spPr>
            <a:xfrm rot="-5400000">
              <a:off x="5720037" y="4488625"/>
              <a:ext cx="529200" cy="13326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6" name="Google Shape;166;p18"/>
            <p:cNvCxnSpPr>
              <a:stCxn id="152" idx="0"/>
              <a:endCxn id="163" idx="1"/>
            </p:cNvCxnSpPr>
            <p:nvPr/>
          </p:nvCxnSpPr>
          <p:spPr>
            <a:xfrm rot="-5400000">
              <a:off x="6037525" y="4806325"/>
              <a:ext cx="238500" cy="9879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2.2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Directorios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6" name="Google Shape;176;p19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6266000" y="4225725"/>
            <a:ext cx="26634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Directorios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87325" y="975000"/>
            <a:ext cx="4720800" cy="28836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Organización en árbol (~UNIX</a:t>
            </a:r>
            <a:r>
              <a:rPr b="1" baseline="30000" i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r>
              <a:rPr b="1" i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r>
              <a:rPr i="1"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85" name="Google Shape;185;p20"/>
          <p:cNvSpPr txBox="1"/>
          <p:nvPr/>
        </p:nvSpPr>
        <p:spPr>
          <a:xfrm>
            <a:off x="2060057" y="1406815"/>
            <a:ext cx="5556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84471" y="2179903"/>
            <a:ext cx="5556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etc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120383" y="2179903"/>
            <a:ext cx="5556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usr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037321" y="2179903"/>
            <a:ext cx="5556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proc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060045" y="2795040"/>
            <a:ext cx="5556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log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835034" y="2795028"/>
            <a:ext cx="5556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bin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992208" y="2179903"/>
            <a:ext cx="6648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home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460057" y="2795028"/>
            <a:ext cx="5556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lib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060057" y="2179903"/>
            <a:ext cx="5556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var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4" name="Google Shape;194;p20"/>
          <p:cNvCxnSpPr>
            <a:stCxn id="185" idx="2"/>
            <a:endCxn id="186" idx="0"/>
          </p:cNvCxnSpPr>
          <p:nvPr/>
        </p:nvCxnSpPr>
        <p:spPr>
          <a:xfrm flipH="1">
            <a:off x="462257" y="1776115"/>
            <a:ext cx="1875600" cy="403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0"/>
          <p:cNvCxnSpPr>
            <a:stCxn id="185" idx="2"/>
            <a:endCxn id="187" idx="0"/>
          </p:cNvCxnSpPr>
          <p:nvPr/>
        </p:nvCxnSpPr>
        <p:spPr>
          <a:xfrm flipH="1">
            <a:off x="1398257" y="1776115"/>
            <a:ext cx="939600" cy="403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0"/>
          <p:cNvCxnSpPr>
            <a:stCxn id="185" idx="2"/>
            <a:endCxn id="193" idx="0"/>
          </p:cNvCxnSpPr>
          <p:nvPr/>
        </p:nvCxnSpPr>
        <p:spPr>
          <a:xfrm>
            <a:off x="2337857" y="1776115"/>
            <a:ext cx="0" cy="403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0"/>
          <p:cNvCxnSpPr>
            <a:stCxn id="185" idx="2"/>
            <a:endCxn id="191" idx="0"/>
          </p:cNvCxnSpPr>
          <p:nvPr/>
        </p:nvCxnSpPr>
        <p:spPr>
          <a:xfrm>
            <a:off x="2337857" y="1776115"/>
            <a:ext cx="986700" cy="403800"/>
          </a:xfrm>
          <a:prstGeom prst="straightConnector1">
            <a:avLst/>
          </a:prstGeom>
          <a:noFill/>
          <a:ln cap="flat" cmpd="sng" w="9525">
            <a:solidFill>
              <a:srgbClr val="3D85C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0"/>
          <p:cNvCxnSpPr>
            <a:stCxn id="185" idx="2"/>
            <a:endCxn id="188" idx="0"/>
          </p:cNvCxnSpPr>
          <p:nvPr/>
        </p:nvCxnSpPr>
        <p:spPr>
          <a:xfrm>
            <a:off x="2337857" y="1776115"/>
            <a:ext cx="1977300" cy="403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0"/>
          <p:cNvCxnSpPr>
            <a:stCxn id="187" idx="2"/>
            <a:endCxn id="190" idx="0"/>
          </p:cNvCxnSpPr>
          <p:nvPr/>
        </p:nvCxnSpPr>
        <p:spPr>
          <a:xfrm flipH="1">
            <a:off x="1112883" y="2549203"/>
            <a:ext cx="285300" cy="245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0"/>
          <p:cNvCxnSpPr>
            <a:stCxn id="187" idx="2"/>
            <a:endCxn id="192" idx="0"/>
          </p:cNvCxnSpPr>
          <p:nvPr/>
        </p:nvCxnSpPr>
        <p:spPr>
          <a:xfrm>
            <a:off x="1398183" y="2549203"/>
            <a:ext cx="339600" cy="245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0"/>
          <p:cNvCxnSpPr>
            <a:stCxn id="193" idx="2"/>
            <a:endCxn id="189" idx="0"/>
          </p:cNvCxnSpPr>
          <p:nvPr/>
        </p:nvCxnSpPr>
        <p:spPr>
          <a:xfrm>
            <a:off x="2337857" y="2549203"/>
            <a:ext cx="0" cy="245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0"/>
          <p:cNvSpPr txBox="1"/>
          <p:nvPr/>
        </p:nvSpPr>
        <p:spPr>
          <a:xfrm>
            <a:off x="2992221" y="2795040"/>
            <a:ext cx="6648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user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3" name="Google Shape;203;p20"/>
          <p:cNvCxnSpPr>
            <a:stCxn id="191" idx="2"/>
            <a:endCxn id="202" idx="0"/>
          </p:cNvCxnSpPr>
          <p:nvPr/>
        </p:nvCxnSpPr>
        <p:spPr>
          <a:xfrm>
            <a:off x="3324608" y="2549203"/>
            <a:ext cx="0" cy="245700"/>
          </a:xfrm>
          <a:prstGeom prst="straightConnector1">
            <a:avLst/>
          </a:prstGeom>
          <a:noFill/>
          <a:ln cap="flat" cmpd="sng" w="9525">
            <a:solidFill>
              <a:srgbClr val="3D85C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20"/>
          <p:cNvSpPr txBox="1"/>
          <p:nvPr/>
        </p:nvSpPr>
        <p:spPr>
          <a:xfrm>
            <a:off x="2926058" y="3400128"/>
            <a:ext cx="7965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.bashrc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888402" y="3394603"/>
            <a:ext cx="8505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datos.txt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6" name="Google Shape;206;p20"/>
          <p:cNvCxnSpPr>
            <a:stCxn id="202" idx="2"/>
            <a:endCxn id="204" idx="0"/>
          </p:cNvCxnSpPr>
          <p:nvPr/>
        </p:nvCxnSpPr>
        <p:spPr>
          <a:xfrm flipH="1">
            <a:off x="3324321" y="3164340"/>
            <a:ext cx="300" cy="23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0"/>
          <p:cNvCxnSpPr>
            <a:stCxn id="202" idx="2"/>
            <a:endCxn id="205" idx="0"/>
          </p:cNvCxnSpPr>
          <p:nvPr/>
        </p:nvCxnSpPr>
        <p:spPr>
          <a:xfrm>
            <a:off x="3324621" y="3164340"/>
            <a:ext cx="989100" cy="230400"/>
          </a:xfrm>
          <a:prstGeom prst="straightConnector1">
            <a:avLst/>
          </a:prstGeom>
          <a:noFill/>
          <a:ln cap="flat" cmpd="sng" w="9525">
            <a:solidFill>
              <a:srgbClr val="3D85C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20"/>
          <p:cNvSpPr txBox="1"/>
          <p:nvPr/>
        </p:nvSpPr>
        <p:spPr>
          <a:xfrm>
            <a:off x="0" y="6510027"/>
            <a:ext cx="901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30000" i="1" lang="es" sz="13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r>
              <a:rPr lang="e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300">
                <a:latin typeface="Inter"/>
                <a:ea typeface="Inter"/>
                <a:cs typeface="Inter"/>
                <a:sym typeface="Inter"/>
              </a:rPr>
              <a:t>El nombre, propósito y ubicación de cada directorio está definido por </a:t>
            </a:r>
            <a:r>
              <a:rPr i="1" lang="es" sz="13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Filesystem Hierarchy Standard</a:t>
            </a:r>
            <a:endParaRPr i="1"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184475" y="3255075"/>
            <a:ext cx="2586000" cy="50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p20"/>
          <p:cNvCxnSpPr/>
          <p:nvPr/>
        </p:nvCxnSpPr>
        <p:spPr>
          <a:xfrm flipH="1" rot="10800000">
            <a:off x="207392" y="3507975"/>
            <a:ext cx="627900" cy="15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0"/>
          <p:cNvSpPr txBox="1"/>
          <p:nvPr/>
        </p:nvSpPr>
        <p:spPr>
          <a:xfrm>
            <a:off x="812316" y="3215399"/>
            <a:ext cx="2022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ruta absoluta</a:t>
            </a:r>
            <a:r>
              <a:rPr b="1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/home/user/datos.txt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984801" y="957433"/>
            <a:ext cx="39447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directorio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es un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fichero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especial que permite agrupar otros ficheros.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directorio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contiene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mapa de nombres de ficheros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 su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inodo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asociado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213" name="Google Shape;213;p20"/>
          <p:cNvGraphicFramePr/>
          <p:nvPr/>
        </p:nvGraphicFramePr>
        <p:xfrm>
          <a:off x="6266000" y="26947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{22EF096E-7B61-4A85-9FDA-B53D0E27F26A}</a:tableStyleId>
              </a:tblPr>
              <a:tblGrid>
                <a:gridCol w="1308300"/>
                <a:gridCol w="1373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Nombre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inodo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12061517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11524521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.bashrc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13369403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datos.txt</a:t>
                      </a:r>
                      <a:endParaRPr b="1"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13369396</a:t>
                      </a:r>
                      <a:endParaRPr b="1"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Documentos/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12069378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20"/>
          <p:cNvSpPr txBox="1"/>
          <p:nvPr/>
        </p:nvSpPr>
        <p:spPr>
          <a:xfrm>
            <a:off x="11125" y="4157600"/>
            <a:ext cx="4973700" cy="20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68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/>
              <a:t>El mapa nombre-inodo, </a:t>
            </a:r>
            <a:r>
              <a:rPr lang="es" sz="1800">
                <a:solidFill>
                  <a:schemeClr val="dk1"/>
                </a:solidFill>
              </a:rPr>
              <a:t>según el tamaño,</a:t>
            </a:r>
            <a:r>
              <a:rPr lang="es" sz="1800"/>
              <a:t> se puede almacenar en :</a:t>
            </a:r>
            <a:endParaRPr sz="1800"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el propio inodo directorio</a:t>
            </a:r>
            <a:endParaRPr sz="1800"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un bloque de datos</a:t>
            </a:r>
            <a:endParaRPr sz="1800"/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Char char="○"/>
            </a:pPr>
            <a:r>
              <a:rPr lang="es" sz="1800"/>
              <a:t>varios bloques de datos</a:t>
            </a:r>
            <a:endParaRPr sz="1800"/>
          </a:p>
        </p:txBody>
      </p:sp>
      <p:sp>
        <p:nvSpPr>
          <p:cNvPr id="215" name="Google Shape;215;p20"/>
          <p:cNvSpPr txBox="1"/>
          <p:nvPr/>
        </p:nvSpPr>
        <p:spPr>
          <a:xfrm>
            <a:off x="6387475" y="5120700"/>
            <a:ext cx="1653000" cy="22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13369396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387473" y="5345975"/>
            <a:ext cx="16530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387473" y="5459375"/>
            <a:ext cx="16530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387473" y="5551175"/>
            <a:ext cx="16530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387473" y="5664575"/>
            <a:ext cx="16530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387473" y="5777975"/>
            <a:ext cx="1653000" cy="6129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punteros a  bloques de datos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1" name="Google Shape;221;p20"/>
          <p:cNvCxnSpPr>
            <a:stCxn id="181" idx="1"/>
            <a:endCxn id="215" idx="1"/>
          </p:cNvCxnSpPr>
          <p:nvPr/>
        </p:nvCxnSpPr>
        <p:spPr>
          <a:xfrm>
            <a:off x="6266000" y="4410375"/>
            <a:ext cx="121500" cy="820800"/>
          </a:xfrm>
          <a:prstGeom prst="bentConnector3">
            <a:avLst>
              <a:gd fmla="val -19598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0"/>
          <p:cNvCxnSpPr/>
          <p:nvPr/>
        </p:nvCxnSpPr>
        <p:spPr>
          <a:xfrm>
            <a:off x="6183000" y="3081450"/>
            <a:ext cx="0" cy="8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0"/>
          <p:cNvSpPr txBox="1"/>
          <p:nvPr/>
        </p:nvSpPr>
        <p:spPr>
          <a:xfrm>
            <a:off x="4920376" y="3047301"/>
            <a:ext cx="114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enlaces en la</a:t>
            </a:r>
            <a:endParaRPr sz="16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jerarquía</a:t>
            </a:r>
            <a:endParaRPr sz="12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4" name="Google Shape;224;p20"/>
          <p:cNvCxnSpPr/>
          <p:nvPr/>
        </p:nvCxnSpPr>
        <p:spPr>
          <a:xfrm rot="10800000">
            <a:off x="5953962" y="3499473"/>
            <a:ext cx="23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20"/>
          <p:cNvSpPr txBox="1"/>
          <p:nvPr/>
        </p:nvSpPr>
        <p:spPr>
          <a:xfrm>
            <a:off x="5169050" y="5229290"/>
            <a:ext cx="1270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inodo</a:t>
            </a:r>
            <a:endParaRPr sz="16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del archivo</a:t>
            </a:r>
            <a:endParaRPr sz="12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/>
          <p:nvPr/>
        </p:nvSpPr>
        <p:spPr>
          <a:xfrm>
            <a:off x="4569075" y="1933106"/>
            <a:ext cx="4504800" cy="4824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0175" y="1933081"/>
            <a:ext cx="4225800" cy="4824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Directorios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8200" y="766926"/>
            <a:ext cx="9144000" cy="1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El sistema de ficheros incluyen mecanismos de aceleración de búsqueda del inodo de los ficheros de un directorio.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Las entradas pueden incluir alguna informaci</a:t>
            </a:r>
            <a:r>
              <a:rPr lang="es" sz="1800">
                <a:solidFill>
                  <a:schemeClr val="dk1"/>
                </a:solidFill>
              </a:rPr>
              <a:t>ón adicional (ej. tipo de fichero)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1700400" y="4357465"/>
            <a:ext cx="2128500" cy="369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fichero1.data   133693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1700400" y="4723719"/>
            <a:ext cx="2128500" cy="369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fichero2.data   134753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1700400" y="5100011"/>
            <a:ext cx="2128500" cy="369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fichero3.data   303113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1700400" y="5470365"/>
            <a:ext cx="2128500" cy="369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fichero4.data   303114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1700400" y="2505308"/>
            <a:ext cx="2128500" cy="369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d275ecd275ec    “+0”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1700400" y="2876265"/>
            <a:ext cx="2128500" cy="369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a31ea841dfee    “+1”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1700400" y="3237185"/>
            <a:ext cx="2128500" cy="369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7e9ea0ef8dc6    “+2”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1701160" y="3618307"/>
            <a:ext cx="2128500" cy="723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98525" y="2491156"/>
            <a:ext cx="1286700" cy="369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fichero1.data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98525" y="3634156"/>
            <a:ext cx="1286700" cy="36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a31ea84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45" name="Google Shape;245;p21"/>
          <p:cNvCxnSpPr>
            <a:stCxn id="243" idx="2"/>
            <a:endCxn id="244" idx="0"/>
          </p:cNvCxnSpPr>
          <p:nvPr/>
        </p:nvCxnSpPr>
        <p:spPr>
          <a:xfrm>
            <a:off x="741875" y="2860456"/>
            <a:ext cx="0" cy="7737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21"/>
          <p:cNvSpPr txBox="1"/>
          <p:nvPr/>
        </p:nvSpPr>
        <p:spPr>
          <a:xfrm>
            <a:off x="68413" y="3016456"/>
            <a:ext cx="7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ash()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7" name="Google Shape;247;p21"/>
          <p:cNvCxnSpPr>
            <a:stCxn id="244" idx="3"/>
            <a:endCxn id="240" idx="1"/>
          </p:cNvCxnSpPr>
          <p:nvPr/>
        </p:nvCxnSpPr>
        <p:spPr>
          <a:xfrm flipH="1" rot="10800000">
            <a:off x="1385225" y="3061006"/>
            <a:ext cx="315300" cy="757800"/>
          </a:xfrm>
          <a:prstGeom prst="bentConnector3">
            <a:avLst>
              <a:gd fmla="val 49980" name="adj1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21"/>
          <p:cNvCxnSpPr>
            <a:stCxn id="240" idx="3"/>
            <a:endCxn id="236" idx="3"/>
          </p:cNvCxnSpPr>
          <p:nvPr/>
        </p:nvCxnSpPr>
        <p:spPr>
          <a:xfrm>
            <a:off x="3828900" y="3060915"/>
            <a:ext cx="600" cy="18474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9" name="Google Shape;249;p21"/>
          <p:cNvSpPr txBox="1"/>
          <p:nvPr/>
        </p:nvSpPr>
        <p:spPr>
          <a:xfrm>
            <a:off x="50225" y="5970575"/>
            <a:ext cx="4225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00">
                <a:latin typeface="Inter"/>
                <a:ea typeface="Inter"/>
                <a:cs typeface="Inter"/>
                <a:sym typeface="Inter"/>
              </a:rPr>
              <a:t>Si la tabla hash es muy grande se distribuye en varios bloques usando una estructura en árbol B+tree</a:t>
            </a:r>
            <a:endParaRPr i="1"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6387951" y="2549542"/>
            <a:ext cx="1216200" cy="369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    </a:t>
            </a: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133693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6387951" y="2915795"/>
            <a:ext cx="1216200" cy="369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</a:t>
            </a: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134753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6387951" y="3285092"/>
            <a:ext cx="608100" cy="319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0000-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3fff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6996053" y="3285092"/>
            <a:ext cx="608100" cy="319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4000-7fff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6853651" y="4572569"/>
            <a:ext cx="2128500" cy="369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fichero1.data   133693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6853651" y="4938823"/>
            <a:ext cx="2128500" cy="369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fichero2.data   134753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6853651" y="5315115"/>
            <a:ext cx="2128500" cy="369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fichero3.data   303113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6853651" y="5685469"/>
            <a:ext cx="2128500" cy="369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fichero4.data   303114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818826" y="2541342"/>
            <a:ext cx="1286700" cy="369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fichero1.data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818826" y="3257254"/>
            <a:ext cx="1286700" cy="36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41a7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788714" y="2874093"/>
            <a:ext cx="7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hash()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1" name="Google Shape;261;p21"/>
          <p:cNvCxnSpPr>
            <a:stCxn id="258" idx="2"/>
            <a:endCxn id="259" idx="0"/>
          </p:cNvCxnSpPr>
          <p:nvPr/>
        </p:nvCxnSpPr>
        <p:spPr>
          <a:xfrm>
            <a:off x="5462176" y="2910642"/>
            <a:ext cx="0" cy="3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21"/>
          <p:cNvCxnSpPr>
            <a:stCxn id="259" idx="3"/>
            <a:endCxn id="252" idx="1"/>
          </p:cNvCxnSpPr>
          <p:nvPr/>
        </p:nvCxnSpPr>
        <p:spPr>
          <a:xfrm>
            <a:off x="6105526" y="3441904"/>
            <a:ext cx="2823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" name="Google Shape;263;p21"/>
          <p:cNvSpPr txBox="1"/>
          <p:nvPr/>
        </p:nvSpPr>
        <p:spPr>
          <a:xfrm>
            <a:off x="7680804" y="3496918"/>
            <a:ext cx="92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número bloque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569075" y="6144875"/>
            <a:ext cx="450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00">
                <a:latin typeface="Inter"/>
                <a:ea typeface="Inter"/>
                <a:cs typeface="Inter"/>
                <a:sym typeface="Inter"/>
              </a:rPr>
              <a:t>Similar al á</a:t>
            </a:r>
            <a:r>
              <a:rPr lang="es" sz="1300">
                <a:latin typeface="Inter"/>
                <a:ea typeface="Inter"/>
                <a:cs typeface="Inter"/>
                <a:sym typeface="Inter"/>
              </a:rPr>
              <a:t>rbol B+tree de 1 o 2 niveles, los nodos hoja tienen un array lineal con: “nombre de archivo - inodo”</a:t>
            </a:r>
            <a:endParaRPr i="1"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7680804" y="2506318"/>
            <a:ext cx="92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nodo 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raíz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224412" y="4595481"/>
            <a:ext cx="1403400" cy="113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5224412" y="4708881"/>
            <a:ext cx="1403400" cy="113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224412" y="4819982"/>
            <a:ext cx="1403400" cy="113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224412" y="4933382"/>
            <a:ext cx="1403400" cy="113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5224412" y="5048582"/>
            <a:ext cx="1403400" cy="113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224412" y="5161982"/>
            <a:ext cx="1403400" cy="113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560126" y="1920467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HTree (ext3, ext4)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36461" y="1945231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Hash Tables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 (xfs)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74" name="Google Shape;274;p21"/>
          <p:cNvCxnSpPr>
            <a:stCxn id="275" idx="2"/>
            <a:endCxn id="276" idx="0"/>
          </p:cNvCxnSpPr>
          <p:nvPr/>
        </p:nvCxnSpPr>
        <p:spPr>
          <a:xfrm flipH="1">
            <a:off x="5926101" y="3927474"/>
            <a:ext cx="7659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21"/>
          <p:cNvCxnSpPr>
            <a:stCxn id="278" idx="2"/>
            <a:endCxn id="279" idx="0"/>
          </p:cNvCxnSpPr>
          <p:nvPr/>
        </p:nvCxnSpPr>
        <p:spPr>
          <a:xfrm>
            <a:off x="7300103" y="3927474"/>
            <a:ext cx="617700" cy="39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9" name="Google Shape;279;p21"/>
          <p:cNvSpPr/>
          <p:nvPr/>
        </p:nvSpPr>
        <p:spPr>
          <a:xfrm>
            <a:off x="6853641" y="4325325"/>
            <a:ext cx="2128500" cy="247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Bloque 5</a:t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5224397" y="4343971"/>
            <a:ext cx="1403400" cy="247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Bloque 4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6387951" y="3607974"/>
            <a:ext cx="608100" cy="319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6996053" y="3607974"/>
            <a:ext cx="608100" cy="319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/>
          <p:nvPr/>
        </p:nvSpPr>
        <p:spPr>
          <a:xfrm>
            <a:off x="6801752" y="886338"/>
            <a:ext cx="2086200" cy="4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4129975" y="2614750"/>
            <a:ext cx="2086200" cy="4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2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Directorios (III)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197825" y="842600"/>
            <a:ext cx="3722100" cy="3147600"/>
          </a:xfrm>
          <a:prstGeom prst="roundRect">
            <a:avLst>
              <a:gd fmla="val 5778" name="adj"/>
            </a:avLst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000" lIns="91425" spcFirstLastPara="1" rIns="91425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>
                <a:latin typeface="Consolas"/>
                <a:ea typeface="Consolas"/>
                <a:cs typeface="Consolas"/>
                <a:sym typeface="Consolas"/>
              </a:rPr>
              <a:t>debugfs: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s">
                <a:latin typeface="Consolas"/>
                <a:ea typeface="Consolas"/>
                <a:cs typeface="Consolas"/>
                <a:sym typeface="Consolas"/>
              </a:rPr>
              <a:t>htree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etc</a:t>
            </a:r>
            <a:endParaRPr>
              <a:solidFill>
                <a:srgbClr val="A64D7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Root node dump: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	 Reserved zero: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	 Hash Version: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	 Info length: 8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	 Indirect levels: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	 Flags: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Number of entries (count):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Number of entries (limit): 123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Checksum: 0xf19f40af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Entry #0: Hash 0x00000000, block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Entry #1: Hash 0x4b855aee, block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Entry #2: Hash 0x8a3857da, block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Entry #3: Hash 0xc0ba6778, block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4658400" y="1109025"/>
            <a:ext cx="1003200" cy="3693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shadow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4658400" y="1594175"/>
            <a:ext cx="4171200" cy="464700"/>
          </a:xfrm>
          <a:prstGeom prst="roundRect">
            <a:avLst>
              <a:gd fmla="val 7647" name="adj"/>
            </a:avLst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" sz="1200">
                <a:solidFill>
                  <a:schemeClr val="dk1"/>
                </a:solidFill>
              </a:rPr>
              <a:t>debugfs:</a:t>
            </a:r>
            <a:r>
              <a:rPr lang="es" sz="1200">
                <a:solidFill>
                  <a:schemeClr val="dk1"/>
                </a:solidFill>
              </a:rPr>
              <a:t>  </a:t>
            </a:r>
            <a:r>
              <a:rPr b="1" lang="es" sz="1200">
                <a:solidFill>
                  <a:schemeClr val="dk1"/>
                </a:solidFill>
              </a:rPr>
              <a:t>dx_hash</a:t>
            </a:r>
            <a:r>
              <a:rPr lang="es" sz="1200">
                <a:solidFill>
                  <a:schemeClr val="dk1"/>
                </a:solidFill>
              </a:rPr>
              <a:t> </a:t>
            </a:r>
            <a:r>
              <a:rPr b="1" lang="es" sz="1200">
                <a:solidFill>
                  <a:srgbClr val="A64D79"/>
                </a:solidFill>
              </a:rPr>
              <a:t>shadow</a:t>
            </a:r>
            <a:endParaRPr b="1" sz="1200">
              <a:solidFill>
                <a:srgbClr val="A64D7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</a:rPr>
              <a:t>Hash of shadow is </a:t>
            </a:r>
            <a:r>
              <a:rPr b="1" lang="es" sz="1200">
                <a:solidFill>
                  <a:schemeClr val="dk1"/>
                </a:solidFill>
              </a:rPr>
              <a:t>0xbfa46a3c</a:t>
            </a:r>
            <a:r>
              <a:rPr lang="es" sz="1200">
                <a:solidFill>
                  <a:schemeClr val="dk1"/>
                </a:solidFill>
              </a:rPr>
              <a:t> (minor 0x3d714e0f)</a:t>
            </a:r>
            <a:endParaRPr/>
          </a:p>
        </p:txBody>
      </p:sp>
      <p:cxnSp>
        <p:nvCxnSpPr>
          <p:cNvPr id="291" name="Google Shape;291;p22"/>
          <p:cNvCxnSpPr>
            <a:endCxn id="290" idx="0"/>
          </p:cNvCxnSpPr>
          <p:nvPr/>
        </p:nvCxnSpPr>
        <p:spPr>
          <a:xfrm>
            <a:off x="5661600" y="1293575"/>
            <a:ext cx="1082400" cy="300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" name="Google Shape;292;p22"/>
          <p:cNvSpPr/>
          <p:nvPr/>
        </p:nvSpPr>
        <p:spPr>
          <a:xfrm>
            <a:off x="260625" y="3473800"/>
            <a:ext cx="3515700" cy="195000"/>
          </a:xfrm>
          <a:prstGeom prst="rect">
            <a:avLst/>
          </a:prstGeom>
          <a:solidFill>
            <a:srgbClr val="45818E">
              <a:alpha val="3481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3" name="Google Shape;293;p22"/>
          <p:cNvCxnSpPr>
            <a:stCxn id="290" idx="2"/>
            <a:endCxn id="292" idx="3"/>
          </p:cNvCxnSpPr>
          <p:nvPr/>
        </p:nvCxnSpPr>
        <p:spPr>
          <a:xfrm rot="5400000">
            <a:off x="4504050" y="1331225"/>
            <a:ext cx="1512300" cy="2967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" name="Google Shape;294;p22"/>
          <p:cNvSpPr txBox="1"/>
          <p:nvPr/>
        </p:nvSpPr>
        <p:spPr>
          <a:xfrm>
            <a:off x="6967002" y="868350"/>
            <a:ext cx="2144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Calcular el hash() del nombre del archivo 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6830627" y="976050"/>
            <a:ext cx="187800" cy="195000"/>
          </a:xfrm>
          <a:prstGeom prst="ellipse">
            <a:avLst/>
          </a:prstGeom>
          <a:solidFill>
            <a:srgbClr val="0B5394"/>
          </a:solidFill>
          <a:ln cap="flat" cmpd="sng" w="952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1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4404289" y="2576046"/>
            <a:ext cx="2144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Realizar búsqueda binaria en el árbol</a:t>
            </a: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4267914" y="2683746"/>
            <a:ext cx="187800" cy="195000"/>
          </a:xfrm>
          <a:prstGeom prst="ellipse">
            <a:avLst/>
          </a:prstGeom>
          <a:solidFill>
            <a:srgbClr val="0B5394"/>
          </a:solidFill>
          <a:ln cap="flat" cmpd="sng" w="952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2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4157308" y="3063144"/>
            <a:ext cx="214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0x8</a:t>
            </a: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a.. &lt; </a:t>
            </a:r>
            <a:r>
              <a:rPr b="1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0xb</a:t>
            </a: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fa.. &lt; </a:t>
            </a:r>
            <a:r>
              <a:rPr b="1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0xc</a:t>
            </a: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0..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1935425" y="3897025"/>
            <a:ext cx="7146600" cy="2319900"/>
          </a:xfrm>
          <a:prstGeom prst="roundRect">
            <a:avLst>
              <a:gd fmla="val 5778" name="adj"/>
            </a:avLst>
          </a:prstGeom>
          <a:solidFill>
            <a:srgbClr val="F3F3F3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000" lIns="91425" spcFirstLastPara="1" rIns="91425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onsolas"/>
                <a:ea typeface="Consolas"/>
                <a:cs typeface="Consolas"/>
                <a:sym typeface="Consolas"/>
              </a:rPr>
              <a:t>Entry #2: Hash 0x8a3857da, block 2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Reading directory block 2, </a:t>
            </a:r>
            <a:r>
              <a:rPr b="1" lang="es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phys 7055</a:t>
            </a:r>
            <a:endParaRPr b="1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49 0x8a3857da-e3130757 (20) host.conf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1073 0x94215c58-a42e8af0 (20) locale.conf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537 0xbba0b902-120a4dbc (16) man.conf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1486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latin typeface="Consolas"/>
                <a:ea typeface="Consolas"/>
                <a:cs typeface="Consolas"/>
                <a:sym typeface="Consolas"/>
              </a:rPr>
              <a:t>0xbfa46a3c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-3d714e0f (16) </a:t>
            </a:r>
            <a:r>
              <a:rPr b="1" lang="es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shadow</a:t>
            </a:r>
            <a:endParaRPr b="1">
              <a:solidFill>
                <a:srgbClr val="A64D7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1135 0xacd5c1a8-e44116d2 (16) depmod.d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1528 0x9c50defa-3881a447 (336) fcron   </a:t>
            </a:r>
            <a:r>
              <a:rPr b="1" lang="es">
                <a:latin typeface="Consolas"/>
                <a:ea typeface="Consolas"/>
                <a:cs typeface="Consolas"/>
                <a:sym typeface="Consolas"/>
              </a:rPr>
              <a:t>leaf block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 checksum: 0xe4d61261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Entry #3: Hash 0xc0ba6778, block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00" name="Google Shape;300;p22"/>
          <p:cNvGrpSpPr/>
          <p:nvPr/>
        </p:nvGrpSpPr>
        <p:grpSpPr>
          <a:xfrm>
            <a:off x="6660625" y="4656722"/>
            <a:ext cx="2354239" cy="585000"/>
            <a:chOff x="6584425" y="3653288"/>
            <a:chExt cx="2354239" cy="585000"/>
          </a:xfrm>
        </p:grpSpPr>
        <p:sp>
          <p:nvSpPr>
            <p:cNvPr id="301" name="Google Shape;301;p22"/>
            <p:cNvSpPr/>
            <p:nvPr/>
          </p:nvSpPr>
          <p:spPr>
            <a:xfrm>
              <a:off x="6584425" y="3704825"/>
              <a:ext cx="2208900" cy="46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 txBox="1"/>
            <p:nvPr/>
          </p:nvSpPr>
          <p:spPr>
            <a:xfrm>
              <a:off x="6794564" y="3653288"/>
              <a:ext cx="21441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Buscar en el bloque el nombre</a:t>
              </a:r>
              <a:endPara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6658189" y="3760988"/>
              <a:ext cx="187800" cy="195000"/>
            </a:xfrm>
            <a:prstGeom prst="ellipse">
              <a:avLst/>
            </a:prstGeom>
            <a:solidFill>
              <a:srgbClr val="0B5394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</p:grpSp>
      <p:cxnSp>
        <p:nvCxnSpPr>
          <p:cNvPr id="304" name="Google Shape;304;p22"/>
          <p:cNvCxnSpPr/>
          <p:nvPr/>
        </p:nvCxnSpPr>
        <p:spPr>
          <a:xfrm>
            <a:off x="6490575" y="4123528"/>
            <a:ext cx="0" cy="12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22"/>
          <p:cNvSpPr txBox="1"/>
          <p:nvPr/>
        </p:nvSpPr>
        <p:spPr>
          <a:xfrm>
            <a:off x="84600" y="6099711"/>
            <a:ext cx="47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388968" y="6325805"/>
            <a:ext cx="7790100" cy="464700"/>
          </a:xfrm>
          <a:prstGeom prst="roundRect">
            <a:avLst>
              <a:gd fmla="val 7647" name="adj"/>
            </a:avLst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lang="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ls -il </a:t>
            </a:r>
            <a:r>
              <a:rPr b="1" lang="es" sz="13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etc/shadow</a:t>
            </a:r>
            <a:endParaRPr b="1" sz="1300">
              <a:solidFill>
                <a:srgbClr val="A64D7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0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1486</a:t>
            </a:r>
            <a:r>
              <a:rPr lang="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-r-------- 1 root root 554 Sep 25 18:45 etc/shadow</a:t>
            </a:r>
            <a:endParaRPr b="1" i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7" name="Google Shape;307;p22"/>
          <p:cNvCxnSpPr>
            <a:stCxn id="308" idx="1"/>
            <a:endCxn id="306" idx="1"/>
          </p:cNvCxnSpPr>
          <p:nvPr/>
        </p:nvCxnSpPr>
        <p:spPr>
          <a:xfrm flipH="1">
            <a:off x="389075" y="5149400"/>
            <a:ext cx="1604100" cy="1408800"/>
          </a:xfrm>
          <a:prstGeom prst="bentConnector3">
            <a:avLst>
              <a:gd fmla="val 11485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" name="Google Shape;308;p22"/>
          <p:cNvSpPr/>
          <p:nvPr/>
        </p:nvSpPr>
        <p:spPr>
          <a:xfrm>
            <a:off x="1993175" y="5043200"/>
            <a:ext cx="3912600" cy="2124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Enlaces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130475" y="827950"/>
            <a:ext cx="4386300" cy="597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Enlaces Duros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Cada entrada en un directorio que asocia un nombre con el mismo i-nodo.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Número de enlaces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st_nlink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): número de entradas en un directorio que apuntan a ese i-nodo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enlaces duros solo pueden referir a i-nodos en en el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mismo SF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23"/>
          <p:cNvSpPr txBox="1"/>
          <p:nvPr/>
        </p:nvSpPr>
        <p:spPr>
          <a:xfrm>
            <a:off x="807435" y="3814394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/dir1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" name="Google Shape;317;p23"/>
          <p:cNvSpPr txBox="1"/>
          <p:nvPr/>
        </p:nvSpPr>
        <p:spPr>
          <a:xfrm>
            <a:off x="1498383" y="3814394"/>
            <a:ext cx="6888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8" name="Google Shape;318;p23"/>
          <p:cNvSpPr txBox="1"/>
          <p:nvPr/>
        </p:nvSpPr>
        <p:spPr>
          <a:xfrm>
            <a:off x="2189331" y="3814394"/>
            <a:ext cx="6888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2880279" y="3814394"/>
            <a:ext cx="6888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1502027" y="4224702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1a34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2191760" y="4224702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1a30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2881494" y="4224702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2341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3" name="Google Shape;323;p23"/>
          <p:cNvSpPr txBox="1"/>
          <p:nvPr/>
        </p:nvSpPr>
        <p:spPr>
          <a:xfrm>
            <a:off x="3571227" y="3814394"/>
            <a:ext cx="688800" cy="400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file2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3571227" y="4224702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23f0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331185" y="6353906"/>
            <a:ext cx="116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/tmp/dir2/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1498383" y="6353906"/>
            <a:ext cx="6888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7" name="Google Shape;327;p23"/>
          <p:cNvSpPr txBox="1"/>
          <p:nvPr/>
        </p:nvSpPr>
        <p:spPr>
          <a:xfrm>
            <a:off x="2189331" y="6353906"/>
            <a:ext cx="6888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8" name="Google Shape;328;p23"/>
          <p:cNvSpPr txBox="1"/>
          <p:nvPr/>
        </p:nvSpPr>
        <p:spPr>
          <a:xfrm>
            <a:off x="2880279" y="6353906"/>
            <a:ext cx="6888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>
            <a:off x="1502027" y="5962648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00c1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2191760" y="5962648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0a0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" name="Google Shape;331;p23"/>
          <p:cNvSpPr txBox="1"/>
          <p:nvPr/>
        </p:nvSpPr>
        <p:spPr>
          <a:xfrm>
            <a:off x="2881494" y="5962648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0145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" name="Google Shape;332;p23"/>
          <p:cNvSpPr txBox="1"/>
          <p:nvPr/>
        </p:nvSpPr>
        <p:spPr>
          <a:xfrm>
            <a:off x="3571227" y="6353906"/>
            <a:ext cx="688800" cy="400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data2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p23"/>
          <p:cNvSpPr txBox="1"/>
          <p:nvPr/>
        </p:nvSpPr>
        <p:spPr>
          <a:xfrm>
            <a:off x="3571227" y="5962648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23f0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1406631" y="5032382"/>
            <a:ext cx="16530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1406631" y="5145782"/>
            <a:ext cx="16530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1406633" y="4814435"/>
            <a:ext cx="1653000" cy="22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23f0 - Links = 2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3"/>
          <p:cNvSpPr txBox="1"/>
          <p:nvPr/>
        </p:nvSpPr>
        <p:spPr>
          <a:xfrm>
            <a:off x="1406631" y="5237582"/>
            <a:ext cx="1653000" cy="11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1406631" y="5351548"/>
            <a:ext cx="1653000" cy="3972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punteros bloque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166226" y="4881994"/>
            <a:ext cx="1270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inodo</a:t>
            </a:r>
            <a:endParaRPr sz="16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del archivo</a:t>
            </a:r>
            <a:endParaRPr sz="12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40" name="Google Shape;340;p23"/>
          <p:cNvCxnSpPr>
            <a:stCxn id="324" idx="2"/>
            <a:endCxn id="335" idx="3"/>
          </p:cNvCxnSpPr>
          <p:nvPr/>
        </p:nvCxnSpPr>
        <p:spPr>
          <a:xfrm rot="5400000">
            <a:off x="3198927" y="4485702"/>
            <a:ext cx="577500" cy="855900"/>
          </a:xfrm>
          <a:prstGeom prst="bentConnector2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23"/>
          <p:cNvCxnSpPr>
            <a:stCxn id="333" idx="0"/>
            <a:endCxn id="335" idx="3"/>
          </p:cNvCxnSpPr>
          <p:nvPr/>
        </p:nvCxnSpPr>
        <p:spPr>
          <a:xfrm flipH="1" rot="5400000">
            <a:off x="3107577" y="5154598"/>
            <a:ext cx="760200" cy="855900"/>
          </a:xfrm>
          <a:prstGeom prst="bentConnector2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2" name="Google Shape;342;p23"/>
          <p:cNvSpPr/>
          <p:nvPr/>
        </p:nvSpPr>
        <p:spPr>
          <a:xfrm>
            <a:off x="4702475" y="827950"/>
            <a:ext cx="4386300" cy="597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Enlaces Simb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ólicos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Fichero especial que guarda la ruta a otro archivo o directorio (en el inodo o en un bloque de datos)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Tamaño del fichero es la longitud de la ruta.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Puede referir a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distintos SF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23"/>
          <p:cNvSpPr txBox="1"/>
          <p:nvPr/>
        </p:nvSpPr>
        <p:spPr>
          <a:xfrm>
            <a:off x="4942750" y="3512525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/dir1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4" name="Google Shape;344;p23"/>
          <p:cNvSpPr txBox="1"/>
          <p:nvPr/>
        </p:nvSpPr>
        <p:spPr>
          <a:xfrm>
            <a:off x="5633698" y="3512525"/>
            <a:ext cx="6888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6324646" y="3512525"/>
            <a:ext cx="6888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7015594" y="3512525"/>
            <a:ext cx="6888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7706542" y="3512525"/>
            <a:ext cx="688800" cy="4002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file2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" name="Google Shape;348;p23"/>
          <p:cNvSpPr txBox="1"/>
          <p:nvPr/>
        </p:nvSpPr>
        <p:spPr>
          <a:xfrm>
            <a:off x="6075346" y="4882913"/>
            <a:ext cx="1653000" cy="1134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23"/>
          <p:cNvSpPr txBox="1"/>
          <p:nvPr/>
        </p:nvSpPr>
        <p:spPr>
          <a:xfrm>
            <a:off x="6075346" y="4996313"/>
            <a:ext cx="1653000" cy="1134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6075348" y="4664965"/>
            <a:ext cx="1653000" cy="221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23f0 - Links = 1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6075346" y="5088113"/>
            <a:ext cx="1653000" cy="1134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6075346" y="5202078"/>
            <a:ext cx="1653000" cy="397200"/>
          </a:xfrm>
          <a:prstGeom prst="rect">
            <a:avLst/>
          </a:prstGeom>
          <a:solidFill>
            <a:srgbClr val="741B47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/tmp/dir2/data2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4834942" y="4732524"/>
            <a:ext cx="1270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inodo</a:t>
            </a:r>
            <a:endParaRPr sz="16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del archivo</a:t>
            </a:r>
            <a:endParaRPr sz="12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p23"/>
          <p:cNvSpPr txBox="1"/>
          <p:nvPr/>
        </p:nvSpPr>
        <p:spPr>
          <a:xfrm>
            <a:off x="5637342" y="3915506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1a34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" name="Google Shape;355;p23"/>
          <p:cNvSpPr txBox="1"/>
          <p:nvPr/>
        </p:nvSpPr>
        <p:spPr>
          <a:xfrm>
            <a:off x="6327076" y="3915506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1a30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" name="Google Shape;356;p23"/>
          <p:cNvSpPr txBox="1"/>
          <p:nvPr/>
        </p:nvSpPr>
        <p:spPr>
          <a:xfrm>
            <a:off x="7016809" y="3915506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2341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p23"/>
          <p:cNvSpPr txBox="1"/>
          <p:nvPr/>
        </p:nvSpPr>
        <p:spPr>
          <a:xfrm>
            <a:off x="7706542" y="3915506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23f0</a:t>
            </a:r>
            <a:endParaRPr b="1"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4771300" y="6280637"/>
            <a:ext cx="116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/tmp/dir2/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23"/>
          <p:cNvSpPr txBox="1"/>
          <p:nvPr/>
        </p:nvSpPr>
        <p:spPr>
          <a:xfrm>
            <a:off x="5938498" y="6280637"/>
            <a:ext cx="6888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23"/>
          <p:cNvSpPr txBox="1"/>
          <p:nvPr/>
        </p:nvSpPr>
        <p:spPr>
          <a:xfrm>
            <a:off x="6629446" y="6280637"/>
            <a:ext cx="6888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23"/>
          <p:cNvSpPr txBox="1"/>
          <p:nvPr/>
        </p:nvSpPr>
        <p:spPr>
          <a:xfrm>
            <a:off x="7320394" y="6280637"/>
            <a:ext cx="6888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2" name="Google Shape;362;p23"/>
          <p:cNvSpPr txBox="1"/>
          <p:nvPr/>
        </p:nvSpPr>
        <p:spPr>
          <a:xfrm>
            <a:off x="5942142" y="5889379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00c1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6631876" y="5889379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00a0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p23"/>
          <p:cNvSpPr txBox="1"/>
          <p:nvPr/>
        </p:nvSpPr>
        <p:spPr>
          <a:xfrm>
            <a:off x="7321609" y="5889379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0145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" name="Google Shape;365;p23"/>
          <p:cNvSpPr txBox="1"/>
          <p:nvPr/>
        </p:nvSpPr>
        <p:spPr>
          <a:xfrm>
            <a:off x="8011342" y="6280637"/>
            <a:ext cx="688800" cy="400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data2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8011342" y="5889379"/>
            <a:ext cx="6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01fe</a:t>
            </a:r>
            <a:endParaRPr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7" name="Google Shape;367;p23"/>
          <p:cNvCxnSpPr>
            <a:stCxn id="357" idx="2"/>
            <a:endCxn id="350" idx="3"/>
          </p:cNvCxnSpPr>
          <p:nvPr/>
        </p:nvCxnSpPr>
        <p:spPr>
          <a:xfrm rot="5400000">
            <a:off x="7659742" y="4384406"/>
            <a:ext cx="459900" cy="322500"/>
          </a:xfrm>
          <a:prstGeom prst="bentConnector2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23"/>
          <p:cNvCxnSpPr>
            <a:stCxn id="352" idx="3"/>
            <a:endCxn id="365" idx="3"/>
          </p:cNvCxnSpPr>
          <p:nvPr/>
        </p:nvCxnSpPr>
        <p:spPr>
          <a:xfrm>
            <a:off x="7728346" y="5400678"/>
            <a:ext cx="971700" cy="1080000"/>
          </a:xfrm>
          <a:prstGeom prst="bentConnector3">
            <a:avLst>
              <a:gd fmla="val 124516" name="adj1"/>
            </a:avLst>
          </a:prstGeom>
          <a:noFill/>
          <a:ln cap="flat" cmpd="sng" w="19050">
            <a:solidFill>
              <a:srgbClr val="741B4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4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Enlaces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75" name="Google Shape;375;p24"/>
          <p:cNvSpPr txBox="1"/>
          <p:nvPr/>
        </p:nvSpPr>
        <p:spPr>
          <a:xfrm>
            <a:off x="4075225" y="1978275"/>
            <a:ext cx="411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B5394"/>
                </a:solidFill>
                <a:latin typeface="Inter"/>
                <a:ea typeface="Inter"/>
                <a:cs typeface="Inter"/>
                <a:sym typeface="Inter"/>
              </a:rPr>
              <a:t>El directorio tiene 2 enlaces. ¿Cuáles?</a:t>
            </a:r>
            <a:endParaRPr b="1" sz="1600">
              <a:solidFill>
                <a:srgbClr val="0B539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3760175" y="6022717"/>
            <a:ext cx="430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file1</a:t>
            </a:r>
            <a:r>
              <a:rPr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y </a:t>
            </a:r>
            <a:r>
              <a:rPr b="1" lang="es" sz="16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hardlink1</a:t>
            </a:r>
            <a:r>
              <a:rPr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6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refieren al mismo inodo 12489469</a:t>
            </a:r>
            <a:endParaRPr sz="16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Hay 2 enlaces a este inodo</a:t>
            </a:r>
            <a:endParaRPr sz="16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4"/>
          <p:cNvSpPr txBox="1"/>
          <p:nvPr/>
        </p:nvSpPr>
        <p:spPr>
          <a:xfrm>
            <a:off x="4674575" y="4059102"/>
            <a:ext cx="4302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symlink es un enlace simbólico (l) que tiene el path (file1 = 5 bytes)</a:t>
            </a:r>
            <a:endParaRPr b="1" sz="1600">
              <a:solidFill>
                <a:srgbClr val="A64D7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197850" y="4659917"/>
            <a:ext cx="8748300" cy="1472700"/>
          </a:xfrm>
          <a:prstGeom prst="roundRect">
            <a:avLst>
              <a:gd fmla="val 5691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4"/>
          <p:cNvSpPr/>
          <p:nvPr/>
        </p:nvSpPr>
        <p:spPr>
          <a:xfrm>
            <a:off x="168525" y="2337300"/>
            <a:ext cx="8748300" cy="1809900"/>
          </a:xfrm>
          <a:prstGeom prst="roundRect">
            <a:avLst>
              <a:gd fmla="val 5691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4"/>
          <p:cNvSpPr/>
          <p:nvPr/>
        </p:nvSpPr>
        <p:spPr>
          <a:xfrm>
            <a:off x="197825" y="842600"/>
            <a:ext cx="8675100" cy="1189500"/>
          </a:xfrm>
          <a:prstGeom prst="roundRect">
            <a:avLst>
              <a:gd fmla="val 764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228600" y="789842"/>
            <a:ext cx="8250000" cy="54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mkdir dir1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touch file1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ln -s file1 symlink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ln file1 hardlink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ls -l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4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drwxr-xr-x </a:t>
            </a:r>
            <a:r>
              <a:rPr b="1" lang="es" sz="190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ruben ruben 4096 Feb  3 10:38 dir1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-rw-r--r-- </a:t>
            </a:r>
            <a:r>
              <a:rPr b="1" lang="es" sz="19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ruben ruben    0 Feb  3 10:38 </a:t>
            </a:r>
            <a:r>
              <a:rPr lang="es" sz="19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file1</a:t>
            </a:r>
            <a:endParaRPr sz="19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-rw-r--r-- </a:t>
            </a:r>
            <a:r>
              <a:rPr b="1" lang="es" sz="19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ruben ruben    0 Feb  3 10:38 </a:t>
            </a:r>
            <a:r>
              <a:rPr lang="es" sz="19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hardlink</a:t>
            </a:r>
            <a:endParaRPr sz="19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rwxrwxrwx 1 ruben ruben    </a:t>
            </a:r>
            <a:r>
              <a:rPr b="1" lang="es" sz="19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Feb  3 10:39 symlink </a:t>
            </a:r>
            <a:r>
              <a:rPr lang="es" sz="19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-&gt; file1</a:t>
            </a:r>
            <a:endParaRPr sz="1900">
              <a:solidFill>
                <a:srgbClr val="A64D7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ls -i1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12489415 dir1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12489469</a:t>
            </a: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9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file1</a:t>
            </a:r>
            <a:endParaRPr sz="19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12489469</a:t>
            </a: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9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hardlink</a:t>
            </a:r>
            <a:endParaRPr sz="19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12489493 symlink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2" name="Google Shape;382;p24"/>
          <p:cNvCxnSpPr>
            <a:endCxn id="376" idx="1"/>
          </p:cNvCxnSpPr>
          <p:nvPr/>
        </p:nvCxnSpPr>
        <p:spPr>
          <a:xfrm>
            <a:off x="1934375" y="3780817"/>
            <a:ext cx="1825800" cy="2703600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83" name="Google Shape;383;p24"/>
          <p:cNvCxnSpPr>
            <a:endCxn id="376" idx="1"/>
          </p:cNvCxnSpPr>
          <p:nvPr/>
        </p:nvCxnSpPr>
        <p:spPr>
          <a:xfrm>
            <a:off x="2571875" y="5575717"/>
            <a:ext cx="1188300" cy="908700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84" name="Google Shape;384;p24"/>
          <p:cNvCxnSpPr/>
          <p:nvPr/>
        </p:nvCxnSpPr>
        <p:spPr>
          <a:xfrm>
            <a:off x="4169025" y="4088425"/>
            <a:ext cx="606600" cy="346500"/>
          </a:xfrm>
          <a:prstGeom prst="straightConnector1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24"/>
          <p:cNvCxnSpPr>
            <a:stCxn id="375" idx="1"/>
          </p:cNvCxnSpPr>
          <p:nvPr/>
        </p:nvCxnSpPr>
        <p:spPr>
          <a:xfrm flipH="1">
            <a:off x="1897825" y="2193825"/>
            <a:ext cx="2177400" cy="744300"/>
          </a:xfrm>
          <a:prstGeom prst="straightConnector1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5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5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2.3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Interfaz del Sistema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5" name="Google Shape;395;p25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6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Interfaz del Sistema Operativo. CLI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130475" y="827950"/>
            <a:ext cx="8889000" cy="51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Línea de Comandos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Comandos para consultar y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actualizar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el estado (inodo) de un fichero: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stat(1)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muestra información sobre el fichero o sistema de ficheros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touch(1)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actualiza los tiempos de acceso y modificaci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chown(1)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cambia el propietario (usuario y/o grupo)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chmod(1)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cambia el modo (permisos)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ln(1)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creaci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 de enlaces simbólicos y duros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readlink(1)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leer el path de un enlace simbólico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Otros comandos estudiados en el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Tema 1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ls(1)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istar los contenidos de un directorio y atributos de los ficheros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rm(1)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cp(1)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mv(1)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borrado, copia y renombrado de ficheros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mkdir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rmdir(1)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creación y borrado de directorios.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7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Interfaz del Sistema Operativo. API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09" name="Google Shape;409;p27"/>
          <p:cNvSpPr/>
          <p:nvPr/>
        </p:nvSpPr>
        <p:spPr>
          <a:xfrm>
            <a:off x="-14598" y="751750"/>
            <a:ext cx="8889000" cy="59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stat(2)</a:t>
            </a:r>
            <a:endParaRPr b="1" sz="20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Información sobre el fichero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lstat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versión para enlaces simbólicos)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stat(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const char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*pathname,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struct stat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buf);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fstat(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fd,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struct stat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*buf);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 {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7700" lvl="0" marL="1104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dev_t     st_dev;    </a:t>
            </a:r>
            <a:r>
              <a:rPr i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Dispositivo que lo contiene*/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7700" lvl="0" marL="1104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ino_t     st_ino;    </a:t>
            </a:r>
            <a:r>
              <a:rPr i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Inodo */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7700" lvl="0" marL="1104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mode_t    st_mode;   </a:t>
            </a:r>
            <a:r>
              <a:rPr i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Tipo de fichero y permisos */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7700" lvl="0" marL="1104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nlink_t   st_link;   </a:t>
            </a:r>
            <a:r>
              <a:rPr i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Número de enlaces rígidos */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7700" lvl="0" marL="1104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uid_t     st_uid;    </a:t>
            </a:r>
            <a:r>
              <a:rPr i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UID del propietario */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7700" lvl="0" marL="1104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gid_t     st_gid;    </a:t>
            </a:r>
            <a:r>
              <a:rPr i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GID del propietario */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7700" lvl="0" marL="1104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dev_t     st_rdev;   </a:t>
            </a:r>
            <a:r>
              <a:rPr i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Disp. si fichero especial */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7700" lvl="0" marL="1104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off_t     st_size;   </a:t>
            </a:r>
            <a:r>
              <a:rPr i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Tamaño en bytes */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7700" lvl="0" marL="1104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blksize_t st_blksize;</a:t>
            </a:r>
            <a:r>
              <a:rPr i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Tamaño bloque E/S ficheros */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7700" lvl="0" marL="1104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blkcnt_t  st_blocks; </a:t>
            </a:r>
            <a:r>
              <a:rPr i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Bloques físicos asignados */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7700" lvl="0" marL="1104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time_t    st_atime;  </a:t>
            </a:r>
            <a:r>
              <a:rPr i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Último acceso */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7700" lvl="0" marL="1104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time_t    st_mtime;  </a:t>
            </a:r>
            <a:r>
              <a:rPr i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Última modificación */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time_t    st_ctime;  </a:t>
            </a:r>
            <a:r>
              <a:rPr i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Último cambio de estado */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7377800" y="814450"/>
            <a:ext cx="1713600" cy="372600"/>
          </a:xfrm>
          <a:prstGeom prst="rect">
            <a:avLst/>
          </a:prstGeom>
          <a:solidFill>
            <a:srgbClr val="F3F3F3"/>
          </a:solidFill>
          <a:ln cap="rnd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&lt;sys/stat.h&gt;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8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8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Interfaz del Sistema Operativo. API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17" name="Google Shape;417;p28"/>
          <p:cNvSpPr txBox="1"/>
          <p:nvPr/>
        </p:nvSpPr>
        <p:spPr>
          <a:xfrm>
            <a:off x="0" y="758100"/>
            <a:ext cx="9117600" cy="6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Crear un enlace rígido (</a:t>
            </a:r>
            <a:r>
              <a:rPr i="1" lang="es" sz="1700">
                <a:solidFill>
                  <a:srgbClr val="000000"/>
                </a:solidFill>
              </a:rPr>
              <a:t>hard link</a:t>
            </a: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i="1"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6350" lvl="0" marL="93345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es" sz="17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link(</a:t>
            </a:r>
            <a:r>
              <a:rPr b="1" lang="es" sz="17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const char</a:t>
            </a:r>
            <a:r>
              <a:rPr b="1"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old, </a:t>
            </a:r>
            <a:r>
              <a:rPr b="1" lang="es" sz="17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const char</a:t>
            </a:r>
            <a:r>
              <a:rPr b="1"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new);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puede hacerse a otro sistema de ficheros ni con directorios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Crear un enlace simbólico (</a:t>
            </a:r>
            <a:r>
              <a:rPr i="1" lang="es" sz="1700">
                <a:solidFill>
                  <a:srgbClr val="000000"/>
                </a:solidFill>
              </a:rPr>
              <a:t>soft link</a:t>
            </a:r>
            <a:r>
              <a:rPr lang="es" sz="1700">
                <a:solidFill>
                  <a:srgbClr val="000000"/>
                </a:solidFill>
              </a:rPr>
              <a:t> o </a:t>
            </a:r>
            <a:r>
              <a:rPr i="1" lang="es" sz="1700">
                <a:solidFill>
                  <a:srgbClr val="000000"/>
                </a:solidFill>
              </a:rPr>
              <a:t>symlink</a:t>
            </a: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6350" lvl="0" marL="93345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es" sz="17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symlink(</a:t>
            </a:r>
            <a:r>
              <a:rPr b="1" lang="es" sz="17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const char</a:t>
            </a:r>
            <a:r>
              <a:rPr b="1"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old, </a:t>
            </a:r>
            <a:r>
              <a:rPr b="1" lang="es" sz="17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const char</a:t>
            </a:r>
            <a:r>
              <a:rPr b="1"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new);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Puede hacerse a otro sistemas de ficheros y con directorios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fichero original puede no existir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Leer el contenido de la ruta de un enlace simbólico: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6350" lvl="0" marL="93345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es" sz="17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readlink(</a:t>
            </a:r>
            <a:r>
              <a:rPr b="1" lang="es" sz="17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const char *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path, </a:t>
            </a:r>
            <a:r>
              <a:rPr b="1" lang="es" sz="17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char *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buf, size_t bufsize);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tamaño del enlace puede determinarse con 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lstat(2)</a:t>
            </a:r>
            <a:endParaRPr sz="17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cadena devuelta en buf no contiene el carácter de fin de cadena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Eliminar un nombre de fichero y posiblemente el fichero al que se refiere: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unlink(</a:t>
            </a:r>
            <a:r>
              <a:rPr b="1" lang="es" sz="17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const char</a:t>
            </a:r>
            <a:r>
              <a:rPr b="1" lang="e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name);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Borra la entrada del directorio y decrementa el número de enlaces en el inodo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 número de enlaces es 0 se elimina y el espacio se libera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fichero no se eliminará mientras que exista un proceso que lo mantenga abierto.</a:t>
            </a:r>
            <a:endParaRPr sz="17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Google Shape;418;p28"/>
          <p:cNvSpPr txBox="1"/>
          <p:nvPr/>
        </p:nvSpPr>
        <p:spPr>
          <a:xfrm>
            <a:off x="7120100" y="838200"/>
            <a:ext cx="1966200" cy="381000"/>
          </a:xfrm>
          <a:prstGeom prst="rect">
            <a:avLst/>
          </a:prstGeom>
          <a:solidFill>
            <a:srgbClr val="FFFFFF"/>
          </a:solidFill>
          <a:ln cap="rnd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9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9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Interfaz del Sistema Operativo. API (III)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25" name="Google Shape;425;p29"/>
          <p:cNvSpPr txBox="1"/>
          <p:nvPr/>
        </p:nvSpPr>
        <p:spPr>
          <a:xfrm>
            <a:off x="0" y="755169"/>
            <a:ext cx="9144000" cy="6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00000"/>
                </a:solidFill>
              </a:rPr>
              <a:t>Abrir </a:t>
            </a:r>
            <a:r>
              <a:rPr b="0" i="0" lang="es" sz="1700" u="none" cap="none" strike="noStrike">
                <a:solidFill>
                  <a:srgbClr val="000000"/>
                </a:solidFill>
              </a:rPr>
              <a:t>y</a:t>
            </a:r>
            <a:r>
              <a:rPr lang="es" sz="1700">
                <a:solidFill>
                  <a:srgbClr val="000000"/>
                </a:solidFill>
              </a:rPr>
              <a:t> </a:t>
            </a:r>
            <a:r>
              <a:rPr lang="es" sz="1700"/>
              <a:t>opcionalmente</a:t>
            </a:r>
            <a:r>
              <a:rPr b="0" i="0" lang="es" sz="1700" u="none" cap="none" strike="noStrike">
                <a:solidFill>
                  <a:srgbClr val="000000"/>
                </a:solidFill>
              </a:rPr>
              <a:t> </a:t>
            </a:r>
            <a:r>
              <a:rPr lang="es" sz="1700">
                <a:solidFill>
                  <a:srgbClr val="000000"/>
                </a:solidFill>
              </a:rPr>
              <a:t>crear</a:t>
            </a:r>
            <a:r>
              <a:rPr b="0" i="0" lang="es" sz="1700" u="none" cap="none" strike="noStrike">
                <a:solidFill>
                  <a:srgbClr val="000000"/>
                </a:solidFill>
              </a:rPr>
              <a:t> un </a:t>
            </a:r>
            <a:r>
              <a:rPr lang="es" sz="1700">
                <a:solidFill>
                  <a:srgbClr val="000000"/>
                </a:solidFill>
              </a:rPr>
              <a:t>fichero</a:t>
            </a:r>
            <a:r>
              <a:rPr b="0" i="0" lang="es" sz="1700" u="none" cap="none" strike="noStrike">
                <a:solidFill>
                  <a:srgbClr val="000000"/>
                </a:solidFill>
              </a:rPr>
              <a:t>:</a:t>
            </a:r>
            <a:endParaRPr b="0" i="0" sz="1700" u="none" cap="none" strike="noStrike">
              <a:solidFill>
                <a:srgbClr val="000000"/>
              </a:solidFill>
            </a:endParaRPr>
          </a:p>
          <a:p>
            <a:pPr indent="457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0" lang="es" sz="1700" u="none" cap="none" strike="noStrike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open(</a:t>
            </a:r>
            <a:r>
              <a:rPr b="1" i="0" lang="es" sz="1700" u="none" cap="none" strike="noStrike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const char</a:t>
            </a:r>
            <a:r>
              <a:rPr b="0" i="0" lang="es" sz="1700" u="none" cap="none" strike="noStrike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700" u="none" cap="none" strike="noStrike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b="0" i="0" lang="e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s" sz="1700" u="none" cap="none" strike="noStrike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flags);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0" lang="es" sz="1700" u="none" cap="none" strike="noStrike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open(</a:t>
            </a:r>
            <a:r>
              <a:rPr b="1" i="0" lang="es" sz="1700" u="none" cap="none" strike="noStrike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const char</a:t>
            </a:r>
            <a:r>
              <a:rPr b="0" i="0" lang="es" sz="1700" u="none" cap="none" strike="noStrike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700" u="none" cap="none" strike="noStrike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b="0" i="0" lang="e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s" sz="1700" u="none" cap="none" strike="noStrike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flags, mode_t mode);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b="1" lang="es" sz="17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flags</a:t>
            </a:r>
            <a:r>
              <a:rPr lang="es" sz="1700">
                <a:solidFill>
                  <a:srgbClr val="000000"/>
                </a:solidFill>
              </a:rPr>
              <a:t> </a:t>
            </a: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debe indicar el modo de acceso y puede incluir otras opciones: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O_RDONLY</a:t>
            </a: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Acceso de sólo lectura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O_WRONLY</a:t>
            </a: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Acceso de sólo escritura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O_RDWR</a:t>
            </a: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Acceso de lectura y escritura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O_CREAT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Si el fichero no existe, se crea con los permisos en </a:t>
            </a:r>
            <a:r>
              <a:rPr lang="es" sz="17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mode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(si se omite, se usa un</a:t>
            </a:r>
            <a:r>
              <a:rPr lang="es" sz="17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7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valor arbitrario de la pila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O_EXCL</a:t>
            </a:r>
            <a:r>
              <a:rPr lang="es" sz="1700">
                <a:solidFill>
                  <a:schemeClr val="dk1"/>
                </a:solidFill>
              </a:rPr>
              <a:t>: Con </a:t>
            </a:r>
            <a:r>
              <a:rPr lang="e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O_CREAT</a:t>
            </a:r>
            <a:r>
              <a:rPr lang="es" sz="1700">
                <a:solidFill>
                  <a:schemeClr val="dk1"/>
                </a:solidFill>
              </a:rPr>
              <a:t> para provocar un error si el fichero existe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O_TRUNC</a:t>
            </a:r>
            <a:r>
              <a:rPr lang="es" sz="1700">
                <a:solidFill>
                  <a:schemeClr val="dk1"/>
                </a:solidFill>
              </a:rPr>
              <a:t>: Se trunca el tamaño del fichero a 0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O_APPEND</a:t>
            </a:r>
            <a:r>
              <a:rPr lang="es" sz="1700">
                <a:solidFill>
                  <a:schemeClr val="dk1"/>
                </a:solidFill>
              </a:rPr>
              <a:t>: Antes de realizar cualquier escritura se posiciona el puntero de fichero a la última posición.</a:t>
            </a: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b="1" lang="es" sz="17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mode</a:t>
            </a:r>
            <a:r>
              <a:rPr lang="es" sz="1700">
                <a:solidFill>
                  <a:srgbClr val="000000"/>
                </a:solidFill>
              </a:rPr>
              <a:t> </a:t>
            </a: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indica los permisos a aplicar en caso de que se cree un nuevo fichero (con la opción 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O_CREAT</a:t>
            </a:r>
            <a:r>
              <a:rPr lang="es" sz="1700">
                <a:latin typeface="Inter"/>
                <a:ea typeface="Inter"/>
                <a:cs typeface="Inter"/>
                <a:sym typeface="Inter"/>
              </a:rPr>
              <a:t>). </a:t>
            </a: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octal o como OR bit a bit de </a:t>
            </a:r>
            <a:r>
              <a:rPr i="1"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flags.</a:t>
            </a:r>
            <a:endParaRPr sz="1700">
              <a:solidFill>
                <a:srgbClr val="FF0000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Devuelve un descriptor de fichero con el puntero de acceso posicionado al principio del fichero, o -1 si ocurre un error (y establece</a:t>
            </a:r>
            <a:r>
              <a:rPr lang="es" sz="1700">
                <a:solidFill>
                  <a:srgbClr val="000000"/>
                </a:solidFill>
              </a:rPr>
              <a:t> </a:t>
            </a:r>
            <a:r>
              <a:rPr lang="e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errno</a:t>
            </a:r>
            <a:r>
              <a:rPr lang="e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0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0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Interfaz del Sistema Operativo. API (IV)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2" name="Google Shape;432;p30"/>
          <p:cNvSpPr txBox="1"/>
          <p:nvPr/>
        </p:nvSpPr>
        <p:spPr>
          <a:xfrm>
            <a:off x="0" y="758100"/>
            <a:ext cx="9127200" cy="609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solidFill>
                  <a:srgbClr val="000000"/>
                </a:solidFill>
              </a:rPr>
              <a:t>Leer, escribir, posicionar y cerrar ficheros:</a:t>
            </a:r>
            <a:endParaRPr sz="1800">
              <a:solidFill>
                <a:srgbClr val="000000"/>
              </a:solidFill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ssize_t write(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fd, 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buffer, size_t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count);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1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ssize_t read(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fd, 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buffer, size_t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count);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off_t lseek(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fd, off_t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offset, 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whence);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close(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fd);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whence</a:t>
            </a:r>
            <a:r>
              <a:rPr lang="es" sz="1800">
                <a:solidFill>
                  <a:srgbClr val="000000"/>
                </a:solidFill>
              </a:rPr>
              <a:t> puede ser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SEEK_SET</a:t>
            </a:r>
            <a:r>
              <a:rPr lang="es" sz="1800">
                <a:solidFill>
                  <a:srgbClr val="000000"/>
                </a:solidFill>
              </a:rPr>
              <a:t>,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SEEK_CUR</a:t>
            </a:r>
            <a:r>
              <a:rPr lang="es" sz="1800">
                <a:solidFill>
                  <a:srgbClr val="000000"/>
                </a:solidFill>
              </a:rPr>
              <a:t> o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SEEK_END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b="1" lang="es" sz="1800">
                <a:solidFill>
                  <a:srgbClr val="CC0000"/>
                </a:solidFill>
              </a:rPr>
              <a:t>No</a:t>
            </a:r>
            <a:r>
              <a:rPr lang="es" sz="1800">
                <a:solidFill>
                  <a:srgbClr val="000000"/>
                </a:solidFill>
              </a:rPr>
              <a:t> deben </a:t>
            </a:r>
            <a:r>
              <a:rPr b="1" lang="es" sz="1800">
                <a:solidFill>
                  <a:srgbClr val="CC0000"/>
                </a:solidFill>
              </a:rPr>
              <a:t>mezclarse</a:t>
            </a:r>
            <a:r>
              <a:rPr lang="es" sz="1800">
                <a:solidFill>
                  <a:srgbClr val="000000"/>
                </a:solidFill>
              </a:rPr>
              <a:t> estas llamadas al sistema </a:t>
            </a:r>
            <a:r>
              <a:rPr b="1" lang="es" sz="1800">
                <a:solidFill>
                  <a:srgbClr val="CC0000"/>
                </a:solidFill>
              </a:rPr>
              <a:t>con funciones de librería</a:t>
            </a:r>
            <a:r>
              <a:rPr lang="es" sz="1800">
                <a:solidFill>
                  <a:srgbClr val="000000"/>
                </a:solidFill>
              </a:rPr>
              <a:t> </a:t>
            </a:r>
            <a:r>
              <a:rPr lang="es" sz="1800">
                <a:solidFill>
                  <a:srgbClr val="000000"/>
                </a:solidFill>
              </a:rPr>
              <a:t>(ej.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fopen</a:t>
            </a:r>
            <a:r>
              <a:rPr lang="es" sz="1800">
                <a:solidFill>
                  <a:srgbClr val="000000"/>
                </a:solidFill>
              </a:rPr>
              <a:t>,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fread</a:t>
            </a:r>
            <a:r>
              <a:rPr lang="es" sz="1800">
                <a:solidFill>
                  <a:srgbClr val="000000"/>
                </a:solidFill>
              </a:rPr>
              <a:t>,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fwrite…</a:t>
            </a:r>
            <a:r>
              <a:rPr lang="es" sz="1800">
                <a:solidFill>
                  <a:srgbClr val="000000"/>
                </a:solidFill>
              </a:rPr>
              <a:t> de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r>
              <a:rPr lang="es" sz="1800"/>
              <a:t> o </a:t>
            </a:r>
            <a:r>
              <a:rPr lang="es" sz="1800">
                <a:solidFill>
                  <a:srgbClr val="000000"/>
                </a:solidFill>
              </a:rPr>
              <a:t>clases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fstream</a:t>
            </a:r>
            <a:r>
              <a:rPr lang="es" sz="1800">
                <a:solidFill>
                  <a:srgbClr val="000000"/>
                </a:solidFill>
              </a:rPr>
              <a:t> en C++)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solidFill>
                  <a:srgbClr val="000000"/>
                </a:solidFill>
              </a:rPr>
              <a:t>La escritura de ficheros se realiza a través de la </a:t>
            </a:r>
            <a:r>
              <a:rPr i="1" lang="es" sz="1800"/>
              <a:t>caché</a:t>
            </a:r>
            <a:r>
              <a:rPr lang="es" sz="1800">
                <a:solidFill>
                  <a:srgbClr val="000000"/>
                </a:solidFill>
              </a:rPr>
              <a:t> de páginas, </a:t>
            </a:r>
            <a:r>
              <a:rPr lang="es" sz="1800"/>
              <a:t>acelerando el </a:t>
            </a:r>
            <a:r>
              <a:rPr lang="es" sz="1800">
                <a:solidFill>
                  <a:srgbClr val="000000"/>
                </a:solidFill>
              </a:rPr>
              <a:t>acceso</a:t>
            </a:r>
            <a:r>
              <a:rPr lang="es" sz="1800"/>
              <a:t> </a:t>
            </a:r>
            <a:r>
              <a:rPr lang="es" sz="1800">
                <a:solidFill>
                  <a:srgbClr val="000000"/>
                </a:solidFill>
              </a:rPr>
              <a:t>(puede evitarse con la opción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O_DIRECT</a:t>
            </a:r>
            <a:r>
              <a:rPr lang="es" sz="1800">
                <a:solidFill>
                  <a:srgbClr val="000000"/>
                </a:solidFill>
              </a:rPr>
              <a:t>).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solidFill>
                  <a:srgbClr val="000000"/>
                </a:solidFill>
              </a:rPr>
              <a:t>Sincronizar un fichero </a:t>
            </a:r>
            <a:r>
              <a:rPr lang="es" sz="1800">
                <a:solidFill>
                  <a:schemeClr val="dk1"/>
                </a:solidFill>
              </a:rPr>
              <a:t>caché</a:t>
            </a:r>
            <a:r>
              <a:rPr lang="es" sz="1800">
                <a:solidFill>
                  <a:schemeClr val="dk1"/>
                </a:solidFill>
              </a:rPr>
              <a:t> de páginas y bloques de disco: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fsync(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fd);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899" lvl="1" marL="899999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s" sz="1800">
                <a:solidFill>
                  <a:srgbClr val="000000"/>
                </a:solidFill>
              </a:rPr>
              <a:t>La llamada se bloquea hasta que el dispositivo informa de que la transferencia se ha completado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1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Interfaz del Sistema Operativo. API (V)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9" name="Google Shape;439;p31"/>
          <p:cNvSpPr txBox="1"/>
          <p:nvPr/>
        </p:nvSpPr>
        <p:spPr>
          <a:xfrm>
            <a:off x="0" y="758100"/>
            <a:ext cx="9144000" cy="6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68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Abrir un directorio: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DIR 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opendir(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const char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name);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Devuelve un puntero al flujo de directorio, posicionado en la primera entrada del directorio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tipo de datos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DIR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se usa de forma similar al tipo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especificado por la librería de E/S estándar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Leer entradas de un directorio: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6350" lvl="0" marL="9334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dirent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readdir(DIR 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dir);</a:t>
            </a:r>
            <a:endParaRPr sz="1800">
              <a:solidFill>
                <a:srgbClr val="000000"/>
              </a:solidFill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s" sz="1800">
                <a:solidFill>
                  <a:srgbClr val="000000"/>
                </a:solidFill>
              </a:rPr>
              <a:t>La función retorna una estructura </a:t>
            </a:r>
            <a:r>
              <a:rPr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dirent</a:t>
            </a:r>
            <a:r>
              <a:rPr lang="e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" sz="1800">
                <a:solidFill>
                  <a:srgbClr val="000000"/>
                </a:solidFill>
              </a:rPr>
              <a:t>que apunta a la siguiente entrada en el directorio, y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" sz="1800">
                <a:solidFill>
                  <a:srgbClr val="000000"/>
                </a:solidFill>
              </a:rPr>
              <a:t>cuando llega al final u ocurre un error</a:t>
            </a:r>
            <a:endParaRPr sz="1800">
              <a:solidFill>
                <a:srgbClr val="000000"/>
              </a:solidFill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s" sz="1800">
                <a:solidFill>
                  <a:srgbClr val="000000"/>
                </a:solidFill>
              </a:rPr>
              <a:t>El único campo contemplado por el estándar POSIX es</a:t>
            </a:r>
            <a:r>
              <a:rPr lang="e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d_name</a:t>
            </a:r>
            <a:r>
              <a:rPr lang="es" sz="1800">
                <a:solidFill>
                  <a:srgbClr val="000000"/>
                </a:solidFill>
              </a:rPr>
              <a:t>, de longitud variable (menor que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NAME_MAX</a:t>
            </a:r>
            <a:r>
              <a:rPr lang="es" sz="1800">
                <a:solidFill>
                  <a:srgbClr val="000000"/>
                </a:solidFill>
              </a:rPr>
              <a:t>)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solidFill>
                  <a:srgbClr val="000000"/>
                </a:solidFill>
              </a:rPr>
              <a:t>Cerrar un directorio: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6350" lvl="0" marL="9334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closedir(DIR 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dir);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440" name="Google Shape;440;p31"/>
          <p:cNvSpPr txBox="1"/>
          <p:nvPr/>
        </p:nvSpPr>
        <p:spPr>
          <a:xfrm>
            <a:off x="6978373" y="833561"/>
            <a:ext cx="2100571" cy="590700"/>
          </a:xfrm>
          <a:prstGeom prst="rect">
            <a:avLst/>
          </a:prstGeom>
          <a:solidFill>
            <a:srgbClr val="FFFFFF"/>
          </a:solidFill>
          <a:ln cap="rnd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&lt;sys/types.h&gt;</a:t>
            </a:r>
            <a:endParaRPr b="0" i="0" sz="1800" u="none" cap="none" strike="noStrike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&lt;dirent.h&gt;</a:t>
            </a:r>
            <a:endParaRPr b="0" i="0" sz="1800" u="none" cap="none" strike="noStrike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2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2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2.4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Sistemas de Ficheros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50" name="Google Shape;450;p32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"/>
          <p:cNvSpPr txBox="1"/>
          <p:nvPr/>
        </p:nvSpPr>
        <p:spPr>
          <a:xfrm>
            <a:off x="2144725" y="2651400"/>
            <a:ext cx="4923000" cy="24936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Organización en árbol </a:t>
            </a:r>
            <a:r>
              <a:rPr b="1" i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b="1" i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~</a:t>
            </a:r>
            <a:r>
              <a:rPr b="1" i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UNIX):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3"/>
          <p:cNvSpPr/>
          <p:nvPr/>
        </p:nvSpPr>
        <p:spPr>
          <a:xfrm>
            <a:off x="6050575" y="3905375"/>
            <a:ext cx="770700" cy="2015100"/>
          </a:xfrm>
          <a:prstGeom prst="roundRect">
            <a:avLst>
              <a:gd fmla="val 7692" name="adj"/>
            </a:avLst>
          </a:prstGeom>
          <a:noFill/>
          <a:ln cap="flat" cmpd="sng" w="9525">
            <a:solidFill>
              <a:srgbClr val="43434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Sistemas de Ficheros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59" name="Google Shape;459;p33"/>
          <p:cNvSpPr txBox="1"/>
          <p:nvPr/>
        </p:nvSpPr>
        <p:spPr>
          <a:xfrm>
            <a:off x="8700" y="749125"/>
            <a:ext cx="91440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 sistema de ficheros permite organizar datos en ficheros y carpetas.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sistema de ficheros ofrece un interfaz (</a:t>
            </a:r>
            <a:r>
              <a:rPr b="1" i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POSIX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sobre estos ficheros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Abrir, cerrar, leer, escribir..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kernel soporta distintos sistemas de ficheros accesibles desde un interfaz común independiente del tipo.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33"/>
          <p:cNvSpPr txBox="1"/>
          <p:nvPr/>
        </p:nvSpPr>
        <p:spPr>
          <a:xfrm>
            <a:off x="0" y="6510027"/>
            <a:ext cx="90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30000" i="1" lang="es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Un sistema de ficheros accesible en el árbol está </a:t>
            </a:r>
            <a:r>
              <a:rPr i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montado</a:t>
            </a:r>
            <a:endParaRPr i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Google Shape;461;p33"/>
          <p:cNvSpPr txBox="1"/>
          <p:nvPr/>
        </p:nvSpPr>
        <p:spPr>
          <a:xfrm>
            <a:off x="4220161" y="3257150"/>
            <a:ext cx="5556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Google Shape;462;p33"/>
          <p:cNvSpPr txBox="1"/>
          <p:nvPr/>
        </p:nvSpPr>
        <p:spPr>
          <a:xfrm>
            <a:off x="2344575" y="4030238"/>
            <a:ext cx="5556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etc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33"/>
          <p:cNvSpPr txBox="1"/>
          <p:nvPr/>
        </p:nvSpPr>
        <p:spPr>
          <a:xfrm>
            <a:off x="3280488" y="4030238"/>
            <a:ext cx="5556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usr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Google Shape;464;p33"/>
          <p:cNvSpPr txBox="1"/>
          <p:nvPr/>
        </p:nvSpPr>
        <p:spPr>
          <a:xfrm>
            <a:off x="6197425" y="4030238"/>
            <a:ext cx="5556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proc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33"/>
          <p:cNvSpPr txBox="1"/>
          <p:nvPr/>
        </p:nvSpPr>
        <p:spPr>
          <a:xfrm>
            <a:off x="4220161" y="4645363"/>
            <a:ext cx="5556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log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33"/>
          <p:cNvSpPr txBox="1"/>
          <p:nvPr/>
        </p:nvSpPr>
        <p:spPr>
          <a:xfrm>
            <a:off x="2995139" y="4645363"/>
            <a:ext cx="5556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bin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33"/>
          <p:cNvSpPr txBox="1"/>
          <p:nvPr/>
        </p:nvSpPr>
        <p:spPr>
          <a:xfrm>
            <a:off x="5152313" y="4030238"/>
            <a:ext cx="6648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home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8" name="Google Shape;468;p33"/>
          <p:cNvSpPr/>
          <p:nvPr/>
        </p:nvSpPr>
        <p:spPr>
          <a:xfrm>
            <a:off x="5030000" y="3905375"/>
            <a:ext cx="888300" cy="2015100"/>
          </a:xfrm>
          <a:prstGeom prst="roundRect">
            <a:avLst>
              <a:gd fmla="val 7692" name="adj"/>
            </a:avLst>
          </a:prstGeom>
          <a:noFill/>
          <a:ln cap="flat" cmpd="sng" w="9525">
            <a:solidFill>
              <a:srgbClr val="43434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3"/>
          <p:cNvSpPr txBox="1"/>
          <p:nvPr/>
        </p:nvSpPr>
        <p:spPr>
          <a:xfrm>
            <a:off x="3620161" y="4645363"/>
            <a:ext cx="5556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lib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" name="Google Shape;470;p33"/>
          <p:cNvSpPr txBox="1"/>
          <p:nvPr/>
        </p:nvSpPr>
        <p:spPr>
          <a:xfrm>
            <a:off x="4220161" y="4030238"/>
            <a:ext cx="5556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var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71" name="Google Shape;471;p33"/>
          <p:cNvCxnSpPr>
            <a:stCxn id="461" idx="2"/>
            <a:endCxn id="462" idx="0"/>
          </p:cNvCxnSpPr>
          <p:nvPr/>
        </p:nvCxnSpPr>
        <p:spPr>
          <a:xfrm flipH="1">
            <a:off x="2622361" y="3626450"/>
            <a:ext cx="1875600" cy="40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33"/>
          <p:cNvCxnSpPr>
            <a:stCxn id="461" idx="2"/>
            <a:endCxn id="463" idx="0"/>
          </p:cNvCxnSpPr>
          <p:nvPr/>
        </p:nvCxnSpPr>
        <p:spPr>
          <a:xfrm flipH="1">
            <a:off x="3558361" y="3626450"/>
            <a:ext cx="939600" cy="40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33"/>
          <p:cNvSpPr/>
          <p:nvPr/>
        </p:nvSpPr>
        <p:spPr>
          <a:xfrm>
            <a:off x="2240400" y="3905375"/>
            <a:ext cx="2715000" cy="2015100"/>
          </a:xfrm>
          <a:prstGeom prst="roundRect">
            <a:avLst>
              <a:gd fmla="val 5029" name="adj"/>
            </a:avLst>
          </a:prstGeom>
          <a:noFill/>
          <a:ln cap="flat" cmpd="sng" w="9525">
            <a:solidFill>
              <a:srgbClr val="43434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4" name="Google Shape;474;p33"/>
          <p:cNvCxnSpPr>
            <a:stCxn id="461" idx="2"/>
            <a:endCxn id="470" idx="0"/>
          </p:cNvCxnSpPr>
          <p:nvPr/>
        </p:nvCxnSpPr>
        <p:spPr>
          <a:xfrm>
            <a:off x="4497961" y="3626450"/>
            <a:ext cx="0" cy="40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33"/>
          <p:cNvCxnSpPr>
            <a:stCxn id="461" idx="2"/>
            <a:endCxn id="467" idx="0"/>
          </p:cNvCxnSpPr>
          <p:nvPr/>
        </p:nvCxnSpPr>
        <p:spPr>
          <a:xfrm>
            <a:off x="4497961" y="3626450"/>
            <a:ext cx="986700" cy="40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33"/>
          <p:cNvCxnSpPr>
            <a:stCxn id="461" idx="2"/>
            <a:endCxn id="464" idx="0"/>
          </p:cNvCxnSpPr>
          <p:nvPr/>
        </p:nvCxnSpPr>
        <p:spPr>
          <a:xfrm>
            <a:off x="4497961" y="3626450"/>
            <a:ext cx="1977300" cy="40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33"/>
          <p:cNvCxnSpPr>
            <a:stCxn id="463" idx="2"/>
            <a:endCxn id="466" idx="0"/>
          </p:cNvCxnSpPr>
          <p:nvPr/>
        </p:nvCxnSpPr>
        <p:spPr>
          <a:xfrm flipH="1">
            <a:off x="3272988" y="4399538"/>
            <a:ext cx="285300" cy="2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33"/>
          <p:cNvCxnSpPr>
            <a:stCxn id="463" idx="2"/>
            <a:endCxn id="469" idx="0"/>
          </p:cNvCxnSpPr>
          <p:nvPr/>
        </p:nvCxnSpPr>
        <p:spPr>
          <a:xfrm>
            <a:off x="3558288" y="4399538"/>
            <a:ext cx="339600" cy="2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33"/>
          <p:cNvCxnSpPr>
            <a:stCxn id="470" idx="2"/>
            <a:endCxn id="465" idx="0"/>
          </p:cNvCxnSpPr>
          <p:nvPr/>
        </p:nvCxnSpPr>
        <p:spPr>
          <a:xfrm>
            <a:off x="4497961" y="4399538"/>
            <a:ext cx="0" cy="2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" name="Google Shape;480;p33"/>
          <p:cNvSpPr/>
          <p:nvPr/>
        </p:nvSpPr>
        <p:spPr>
          <a:xfrm>
            <a:off x="5099325" y="5269213"/>
            <a:ext cx="770796" cy="583200"/>
          </a:xfrm>
          <a:prstGeom prst="cloud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Inter"/>
                <a:ea typeface="Inter"/>
                <a:cs typeface="Inter"/>
                <a:sym typeface="Inter"/>
              </a:rPr>
              <a:t>Red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1" name="Google Shape;481;p33"/>
          <p:cNvSpPr/>
          <p:nvPr/>
        </p:nvSpPr>
        <p:spPr>
          <a:xfrm>
            <a:off x="3202950" y="5199473"/>
            <a:ext cx="664800" cy="635100"/>
          </a:xfrm>
          <a:prstGeom prst="can">
            <a:avLst>
              <a:gd fmla="val 25000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Inter"/>
                <a:ea typeface="Inter"/>
                <a:cs typeface="Inter"/>
                <a:sym typeface="Inter"/>
              </a:rPr>
              <a:t>Disco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2" name="Google Shape;482;p33"/>
          <p:cNvSpPr/>
          <p:nvPr/>
        </p:nvSpPr>
        <p:spPr>
          <a:xfrm>
            <a:off x="6118900" y="5243263"/>
            <a:ext cx="636300" cy="635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Inter"/>
                <a:ea typeface="Inter"/>
                <a:cs typeface="Inter"/>
                <a:sym typeface="Inter"/>
              </a:rPr>
              <a:t>Mem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33"/>
          <p:cNvSpPr txBox="1"/>
          <p:nvPr/>
        </p:nvSpPr>
        <p:spPr>
          <a:xfrm>
            <a:off x="2214724" y="564528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30000" i="1" lang="es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4"/>
          <p:cNvSpPr txBox="1"/>
          <p:nvPr/>
        </p:nvSpPr>
        <p:spPr>
          <a:xfrm>
            <a:off x="4190150" y="2209800"/>
            <a:ext cx="4878900" cy="29451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Entradas de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Directorios</a:t>
            </a:r>
            <a:r>
              <a:rPr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Representan elementos de una ruta en el SF (p.ej. /home/user/data: /, home, user, data)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Cada entrada </a:t>
            </a:r>
            <a:r>
              <a:rPr lang="es" sz="16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dentry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incluye metadatos y el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inodo asociado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Las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dentry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se guardan en memoria (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caché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directorios,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dcache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para acelerar el acceso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Cache negativa (guarda rutas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inexistentes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89" name="Google Shape;489;p34"/>
          <p:cNvCxnSpPr>
            <a:stCxn id="490" idx="3"/>
            <a:endCxn id="491" idx="1"/>
          </p:cNvCxnSpPr>
          <p:nvPr/>
        </p:nvCxnSpPr>
        <p:spPr>
          <a:xfrm flipH="1" rot="10800000">
            <a:off x="1973775" y="3141700"/>
            <a:ext cx="236100" cy="3183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34"/>
          <p:cNvCxnSpPr>
            <a:stCxn id="493" idx="0"/>
            <a:endCxn id="490" idx="2"/>
          </p:cNvCxnSpPr>
          <p:nvPr/>
        </p:nvCxnSpPr>
        <p:spPr>
          <a:xfrm flipH="1" rot="10800000">
            <a:off x="1028275" y="3744015"/>
            <a:ext cx="3000" cy="49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34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4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VFS (I)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96" name="Google Shape;496;p34"/>
          <p:cNvSpPr txBox="1"/>
          <p:nvPr/>
        </p:nvSpPr>
        <p:spPr>
          <a:xfrm>
            <a:off x="91426" y="3743492"/>
            <a:ext cx="5556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ext4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7" name="Google Shape;497;p34"/>
          <p:cNvSpPr txBox="1"/>
          <p:nvPr/>
        </p:nvSpPr>
        <p:spPr>
          <a:xfrm>
            <a:off x="652771" y="3743492"/>
            <a:ext cx="5556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xfs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8" name="Google Shape;498;p34"/>
          <p:cNvSpPr txBox="1"/>
          <p:nvPr/>
        </p:nvSpPr>
        <p:spPr>
          <a:xfrm>
            <a:off x="1214128" y="3743494"/>
            <a:ext cx="756600" cy="36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…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9" name="Google Shape;499;p34"/>
          <p:cNvSpPr/>
          <p:nvPr/>
        </p:nvSpPr>
        <p:spPr>
          <a:xfrm>
            <a:off x="91425" y="2536575"/>
            <a:ext cx="1885200" cy="361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Llamadas al Sistema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00" name="Google Shape;500;p34"/>
          <p:cNvCxnSpPr>
            <a:stCxn id="499" idx="2"/>
            <a:endCxn id="501" idx="0"/>
          </p:cNvCxnSpPr>
          <p:nvPr/>
        </p:nvCxnSpPr>
        <p:spPr>
          <a:xfrm flipH="1">
            <a:off x="1028325" y="2898075"/>
            <a:ext cx="5700" cy="302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" name="Google Shape;502;p34"/>
          <p:cNvSpPr txBox="1"/>
          <p:nvPr/>
        </p:nvSpPr>
        <p:spPr>
          <a:xfrm>
            <a:off x="2209900" y="2879775"/>
            <a:ext cx="16839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3" name="Google Shape;503;p34"/>
          <p:cNvSpPr txBox="1"/>
          <p:nvPr/>
        </p:nvSpPr>
        <p:spPr>
          <a:xfrm>
            <a:off x="2209900" y="2971575"/>
            <a:ext cx="16839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1" name="Google Shape;491;p34"/>
          <p:cNvSpPr txBox="1"/>
          <p:nvPr/>
        </p:nvSpPr>
        <p:spPr>
          <a:xfrm>
            <a:off x="2209900" y="3084975"/>
            <a:ext cx="16839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4" name="Google Shape;504;p34"/>
          <p:cNvSpPr txBox="1"/>
          <p:nvPr/>
        </p:nvSpPr>
        <p:spPr>
          <a:xfrm>
            <a:off x="2209900" y="3176775"/>
            <a:ext cx="16839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5" name="Google Shape;505;p34"/>
          <p:cNvSpPr txBox="1"/>
          <p:nvPr/>
        </p:nvSpPr>
        <p:spPr>
          <a:xfrm>
            <a:off x="2209900" y="3290175"/>
            <a:ext cx="16839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Google Shape;506;p34"/>
          <p:cNvSpPr txBox="1"/>
          <p:nvPr/>
        </p:nvSpPr>
        <p:spPr>
          <a:xfrm>
            <a:off x="2209900" y="3403575"/>
            <a:ext cx="16839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34"/>
          <p:cNvSpPr txBox="1"/>
          <p:nvPr/>
        </p:nvSpPr>
        <p:spPr>
          <a:xfrm>
            <a:off x="2209900" y="3495375"/>
            <a:ext cx="16839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34"/>
          <p:cNvSpPr txBox="1"/>
          <p:nvPr/>
        </p:nvSpPr>
        <p:spPr>
          <a:xfrm>
            <a:off x="2209900" y="3608775"/>
            <a:ext cx="16839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Google Shape;509;p34"/>
          <p:cNvSpPr txBox="1"/>
          <p:nvPr/>
        </p:nvSpPr>
        <p:spPr>
          <a:xfrm>
            <a:off x="2483805" y="3005016"/>
            <a:ext cx="1169400" cy="5682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Caché de Páginas</a:t>
            </a:r>
            <a:endParaRPr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0" name="Google Shape;510;p34"/>
          <p:cNvSpPr txBox="1"/>
          <p:nvPr/>
        </p:nvSpPr>
        <p:spPr>
          <a:xfrm>
            <a:off x="2209900" y="4025446"/>
            <a:ext cx="1683900" cy="252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54000" spcFirstLastPara="1" rIns="54000" wrap="square" tIns="18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Caché Directorios</a:t>
            </a:r>
            <a:endParaRPr b="1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1" name="Google Shape;511;p34"/>
          <p:cNvSpPr txBox="1"/>
          <p:nvPr/>
        </p:nvSpPr>
        <p:spPr>
          <a:xfrm>
            <a:off x="2209900" y="4406446"/>
            <a:ext cx="1683900" cy="252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Cach</a:t>
            </a: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é</a:t>
            </a: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inodos</a:t>
            </a:r>
            <a:endParaRPr b="1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85675" y="4240815"/>
            <a:ext cx="1885200" cy="5187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Gestor de </a:t>
            </a:r>
            <a:r>
              <a:rPr b="1" lang="es">
                <a:latin typeface="Inter"/>
                <a:ea typeface="Inter"/>
                <a:cs typeface="Inter"/>
                <a:sym typeface="Inter"/>
              </a:rPr>
              <a:t>Volúmenes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88575" y="3175900"/>
            <a:ext cx="1885200" cy="5682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E69138"/>
                </a:solidFill>
              </a:rPr>
              <a:t>Virtual File System</a:t>
            </a:r>
            <a:endParaRPr b="1">
              <a:solidFill>
                <a:srgbClr val="E69138"/>
              </a:solidFill>
            </a:endParaRPr>
          </a:p>
        </p:txBody>
      </p:sp>
      <p:cxnSp>
        <p:nvCxnSpPr>
          <p:cNvPr id="512" name="Google Shape;512;p34"/>
          <p:cNvCxnSpPr>
            <a:stCxn id="490" idx="3"/>
            <a:endCxn id="511" idx="1"/>
          </p:cNvCxnSpPr>
          <p:nvPr/>
        </p:nvCxnSpPr>
        <p:spPr>
          <a:xfrm>
            <a:off x="1973775" y="3460000"/>
            <a:ext cx="236100" cy="10725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4"/>
          <p:cNvCxnSpPr>
            <a:stCxn id="490" idx="3"/>
            <a:endCxn id="510" idx="1"/>
          </p:cNvCxnSpPr>
          <p:nvPr/>
        </p:nvCxnSpPr>
        <p:spPr>
          <a:xfrm>
            <a:off x="1973775" y="3460000"/>
            <a:ext cx="236100" cy="6915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4"/>
          <p:cNvCxnSpPr>
            <a:stCxn id="493" idx="0"/>
            <a:endCxn id="493" idx="0"/>
          </p:cNvCxnSpPr>
          <p:nvPr/>
        </p:nvCxnSpPr>
        <p:spPr>
          <a:xfrm>
            <a:off x="1028275" y="424081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34"/>
          <p:cNvSpPr txBox="1"/>
          <p:nvPr/>
        </p:nvSpPr>
        <p:spPr>
          <a:xfrm>
            <a:off x="8200" y="766926"/>
            <a:ext cx="91440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Interfaz común a diferentes tipos de sistemas de ficheros. Permite a las aplicaciones usar el mismo interfaz del sistema (p.ej.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open()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read()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VFS construye abstracciones de objetos (ficheros, entradas de directorio, inodos y superbloques) que usa el kernel para manipular ficheros.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16" name="Google Shape;516;p34"/>
          <p:cNvSpPr txBox="1"/>
          <p:nvPr/>
        </p:nvSpPr>
        <p:spPr>
          <a:xfrm>
            <a:off x="76300" y="5230475"/>
            <a:ext cx="8992800" cy="15855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inodos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Informaci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 genérica (modo, tamaño, tipo…) (</a:t>
            </a:r>
            <a:r>
              <a:rPr lang="es" sz="16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inode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uniforme para cada SF.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inodo se construye usando la información del 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inodo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ext4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del SF en particular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inodos se guardan en memoria (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caché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inodos) para acelerar el acceso.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17" name="Google Shape;517;p34"/>
          <p:cNvCxnSpPr>
            <a:stCxn id="511" idx="2"/>
          </p:cNvCxnSpPr>
          <p:nvPr/>
        </p:nvCxnSpPr>
        <p:spPr>
          <a:xfrm flipH="1">
            <a:off x="3051250" y="4658446"/>
            <a:ext cx="600" cy="5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34"/>
          <p:cNvCxnSpPr>
            <a:stCxn id="510" idx="3"/>
          </p:cNvCxnSpPr>
          <p:nvPr/>
        </p:nvCxnSpPr>
        <p:spPr>
          <a:xfrm>
            <a:off x="3893800" y="4151446"/>
            <a:ext cx="30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9" name="Google Shape;519;p34"/>
          <p:cNvSpPr txBox="1"/>
          <p:nvPr/>
        </p:nvSpPr>
        <p:spPr>
          <a:xfrm>
            <a:off x="2175013" y="2209800"/>
            <a:ext cx="176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Caché de bloques de disco. </a:t>
            </a:r>
            <a:r>
              <a:rPr b="1" lang="es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Tema 4</a:t>
            </a:r>
            <a:endParaRPr b="1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5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5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VFS (II)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26" name="Google Shape;526;p35"/>
          <p:cNvSpPr txBox="1"/>
          <p:nvPr/>
        </p:nvSpPr>
        <p:spPr>
          <a:xfrm>
            <a:off x="56500" y="910550"/>
            <a:ext cx="9005100" cy="3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Superbloque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Representan información global de un sistema de ficheros montado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 corresponde con un bloque de control del SF, información de control almacenada en sectores específicos del disco (varias copias), del sistema de ficheros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Información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Tipo de sistema de fichero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Tamaño de bloque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Tamaño máximo de fichero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Estado (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dirty flag)</a:t>
            </a:r>
            <a:endParaRPr i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istas de control de acceso,...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7" name="Google Shape;527;p35"/>
          <p:cNvSpPr txBox="1"/>
          <p:nvPr/>
        </p:nvSpPr>
        <p:spPr>
          <a:xfrm>
            <a:off x="56500" y="4849475"/>
            <a:ext cx="9005100" cy="14571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Interfaz del Sistema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statfs(2) obtiene estadísticas del sistema de ficheros accediendo al superbloque y algunas de las operaciones asociadas.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Comandos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df -T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 -f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muestran algunas de estas características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6"/>
          <p:cNvSpPr/>
          <p:nvPr/>
        </p:nvSpPr>
        <p:spPr>
          <a:xfrm>
            <a:off x="84750" y="5134850"/>
            <a:ext cx="8998200" cy="1647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6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6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VFS (III)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0" y="834350"/>
            <a:ext cx="91440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Ficheros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Representaci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 en memoria de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un fichero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abierto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por un proceso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Contiene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métodos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implementados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por el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SF,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para realizar operaciones sobre el fichero (read, write, seek, open…)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Diferentes objetos </a:t>
            </a:r>
            <a:r>
              <a:rPr lang="e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fichero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pueden referir al mismo archivo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Puntero al fichero, representado como un desplazamiento desde el inicio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Google Shape;536;p36"/>
          <p:cNvSpPr txBox="1"/>
          <p:nvPr/>
        </p:nvSpPr>
        <p:spPr>
          <a:xfrm>
            <a:off x="123458" y="4544923"/>
            <a:ext cx="1653000" cy="2211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inode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7" name="Google Shape;537;p36"/>
          <p:cNvSpPr txBox="1"/>
          <p:nvPr/>
        </p:nvSpPr>
        <p:spPr>
          <a:xfrm>
            <a:off x="123456" y="4770198"/>
            <a:ext cx="1653000" cy="113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36"/>
          <p:cNvSpPr txBox="1"/>
          <p:nvPr/>
        </p:nvSpPr>
        <p:spPr>
          <a:xfrm>
            <a:off x="123456" y="4883598"/>
            <a:ext cx="1653000" cy="113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9" name="Google Shape;539;p36"/>
          <p:cNvSpPr txBox="1"/>
          <p:nvPr/>
        </p:nvSpPr>
        <p:spPr>
          <a:xfrm>
            <a:off x="123456" y="5166489"/>
            <a:ext cx="1653000" cy="113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Google Shape;540;p36"/>
          <p:cNvSpPr txBox="1"/>
          <p:nvPr/>
        </p:nvSpPr>
        <p:spPr>
          <a:xfrm>
            <a:off x="123456" y="5279889"/>
            <a:ext cx="1653000" cy="612900"/>
          </a:xfrm>
          <a:prstGeom prst="rect">
            <a:avLst/>
          </a:prstGeom>
          <a:solidFill>
            <a:srgbClr val="45818E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punteros a  bloques de datos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1" name="Google Shape;541;p36"/>
          <p:cNvSpPr txBox="1"/>
          <p:nvPr/>
        </p:nvSpPr>
        <p:spPr>
          <a:xfrm>
            <a:off x="2316938" y="4178049"/>
            <a:ext cx="1653000" cy="2211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2" name="Google Shape;542;p36"/>
          <p:cNvSpPr txBox="1"/>
          <p:nvPr/>
        </p:nvSpPr>
        <p:spPr>
          <a:xfrm>
            <a:off x="2316938" y="4639803"/>
            <a:ext cx="1653000" cy="113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3" name="Google Shape;543;p36"/>
          <p:cNvSpPr txBox="1"/>
          <p:nvPr/>
        </p:nvSpPr>
        <p:spPr>
          <a:xfrm>
            <a:off x="2316938" y="4756889"/>
            <a:ext cx="1653000" cy="113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4" name="Google Shape;544;p36"/>
          <p:cNvSpPr txBox="1"/>
          <p:nvPr/>
        </p:nvSpPr>
        <p:spPr>
          <a:xfrm>
            <a:off x="3348424" y="3194512"/>
            <a:ext cx="1653000" cy="22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dentry (data.txt)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5" name="Google Shape;545;p36"/>
          <p:cNvSpPr txBox="1"/>
          <p:nvPr/>
        </p:nvSpPr>
        <p:spPr>
          <a:xfrm>
            <a:off x="3348424" y="3419112"/>
            <a:ext cx="16530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Google Shape;546;p36"/>
          <p:cNvSpPr txBox="1"/>
          <p:nvPr/>
        </p:nvSpPr>
        <p:spPr>
          <a:xfrm>
            <a:off x="3348424" y="3530626"/>
            <a:ext cx="16530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Google Shape;547;p36"/>
          <p:cNvSpPr txBox="1"/>
          <p:nvPr/>
        </p:nvSpPr>
        <p:spPr>
          <a:xfrm>
            <a:off x="5297292" y="3194512"/>
            <a:ext cx="1653000" cy="22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dentry (tmp)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8" name="Google Shape;548;p36"/>
          <p:cNvSpPr txBox="1"/>
          <p:nvPr/>
        </p:nvSpPr>
        <p:spPr>
          <a:xfrm>
            <a:off x="5297292" y="3419112"/>
            <a:ext cx="16530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9" name="Google Shape;549;p36"/>
          <p:cNvSpPr txBox="1"/>
          <p:nvPr/>
        </p:nvSpPr>
        <p:spPr>
          <a:xfrm>
            <a:off x="5297292" y="3530626"/>
            <a:ext cx="16530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50" name="Google Shape;550;p36"/>
          <p:cNvCxnSpPr>
            <a:stCxn id="546" idx="3"/>
            <a:endCxn id="549" idx="1"/>
          </p:cNvCxnSpPr>
          <p:nvPr/>
        </p:nvCxnSpPr>
        <p:spPr>
          <a:xfrm>
            <a:off x="5001424" y="3587326"/>
            <a:ext cx="29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51" name="Google Shape;551;p36"/>
          <p:cNvSpPr txBox="1"/>
          <p:nvPr/>
        </p:nvSpPr>
        <p:spPr>
          <a:xfrm>
            <a:off x="7234624" y="3195900"/>
            <a:ext cx="1653000" cy="22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dentry (/)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2" name="Google Shape;552;p36"/>
          <p:cNvSpPr txBox="1"/>
          <p:nvPr/>
        </p:nvSpPr>
        <p:spPr>
          <a:xfrm>
            <a:off x="7234624" y="3420501"/>
            <a:ext cx="16530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3" name="Google Shape;553;p36"/>
          <p:cNvSpPr txBox="1"/>
          <p:nvPr/>
        </p:nvSpPr>
        <p:spPr>
          <a:xfrm>
            <a:off x="7234624" y="3532015"/>
            <a:ext cx="1653000" cy="113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54" name="Google Shape;554;p36"/>
          <p:cNvCxnSpPr>
            <a:stCxn id="549" idx="3"/>
            <a:endCxn id="553" idx="1"/>
          </p:cNvCxnSpPr>
          <p:nvPr/>
        </p:nvCxnSpPr>
        <p:spPr>
          <a:xfrm>
            <a:off x="6950292" y="3587326"/>
            <a:ext cx="2844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55" name="Google Shape;555;p36"/>
          <p:cNvCxnSpPr>
            <a:stCxn id="556" idx="3"/>
            <a:endCxn id="546" idx="2"/>
          </p:cNvCxnSpPr>
          <p:nvPr/>
        </p:nvCxnSpPr>
        <p:spPr>
          <a:xfrm flipH="1" rot="10800000">
            <a:off x="3969938" y="3643949"/>
            <a:ext cx="204900" cy="815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57" name="Google Shape;557;p36"/>
          <p:cNvSpPr/>
          <p:nvPr/>
        </p:nvSpPr>
        <p:spPr>
          <a:xfrm>
            <a:off x="4126875" y="4752875"/>
            <a:ext cx="303600" cy="221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</a:t>
            </a:r>
            <a:endParaRPr/>
          </a:p>
        </p:txBody>
      </p:sp>
      <p:sp>
        <p:nvSpPr>
          <p:cNvPr id="558" name="Google Shape;558;p36"/>
          <p:cNvSpPr/>
          <p:nvPr/>
        </p:nvSpPr>
        <p:spPr>
          <a:xfrm>
            <a:off x="4431675" y="4752875"/>
            <a:ext cx="303600" cy="221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</a:t>
            </a:r>
            <a:endParaRPr/>
          </a:p>
        </p:txBody>
      </p:sp>
      <p:sp>
        <p:nvSpPr>
          <p:cNvPr id="559" name="Google Shape;559;p36"/>
          <p:cNvSpPr/>
          <p:nvPr/>
        </p:nvSpPr>
        <p:spPr>
          <a:xfrm>
            <a:off x="4736475" y="4752875"/>
            <a:ext cx="303600" cy="221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</a:t>
            </a:r>
            <a:endParaRPr/>
          </a:p>
        </p:txBody>
      </p:sp>
      <p:sp>
        <p:nvSpPr>
          <p:cNvPr id="560" name="Google Shape;560;p36"/>
          <p:cNvSpPr/>
          <p:nvPr/>
        </p:nvSpPr>
        <p:spPr>
          <a:xfrm>
            <a:off x="5041275" y="4752875"/>
            <a:ext cx="303600" cy="221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</a:t>
            </a:r>
            <a:endParaRPr/>
          </a:p>
        </p:txBody>
      </p:sp>
      <p:sp>
        <p:nvSpPr>
          <p:cNvPr id="561" name="Google Shape;561;p36"/>
          <p:cNvSpPr/>
          <p:nvPr/>
        </p:nvSpPr>
        <p:spPr>
          <a:xfrm>
            <a:off x="5346075" y="4752875"/>
            <a:ext cx="303600" cy="221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</a:t>
            </a:r>
            <a:endParaRPr/>
          </a:p>
        </p:txBody>
      </p:sp>
      <p:sp>
        <p:nvSpPr>
          <p:cNvPr id="562" name="Google Shape;562;p36"/>
          <p:cNvSpPr/>
          <p:nvPr/>
        </p:nvSpPr>
        <p:spPr>
          <a:xfrm>
            <a:off x="5650875" y="4752875"/>
            <a:ext cx="303600" cy="221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</a:t>
            </a:r>
            <a:endParaRPr/>
          </a:p>
        </p:txBody>
      </p:sp>
      <p:sp>
        <p:nvSpPr>
          <p:cNvPr id="563" name="Google Shape;563;p36"/>
          <p:cNvSpPr/>
          <p:nvPr/>
        </p:nvSpPr>
        <p:spPr>
          <a:xfrm>
            <a:off x="5955675" y="4752875"/>
            <a:ext cx="303600" cy="221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</a:t>
            </a:r>
            <a:endParaRPr/>
          </a:p>
        </p:txBody>
      </p:sp>
      <p:sp>
        <p:nvSpPr>
          <p:cNvPr id="564" name="Google Shape;564;p36"/>
          <p:cNvSpPr/>
          <p:nvPr/>
        </p:nvSpPr>
        <p:spPr>
          <a:xfrm>
            <a:off x="6260475" y="4752875"/>
            <a:ext cx="303600" cy="221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7</a:t>
            </a:r>
            <a:endParaRPr/>
          </a:p>
        </p:txBody>
      </p:sp>
      <p:sp>
        <p:nvSpPr>
          <p:cNvPr id="565" name="Google Shape;565;p36"/>
          <p:cNvSpPr/>
          <p:nvPr/>
        </p:nvSpPr>
        <p:spPr>
          <a:xfrm>
            <a:off x="6565275" y="4752875"/>
            <a:ext cx="1861200" cy="221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…</a:t>
            </a:r>
            <a:endParaRPr/>
          </a:p>
        </p:txBody>
      </p:sp>
      <p:sp>
        <p:nvSpPr>
          <p:cNvPr id="566" name="Google Shape;566;p36"/>
          <p:cNvSpPr/>
          <p:nvPr/>
        </p:nvSpPr>
        <p:spPr>
          <a:xfrm>
            <a:off x="8426475" y="4752875"/>
            <a:ext cx="576000" cy="221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EOF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7" name="Google Shape;567;p36"/>
          <p:cNvCxnSpPr>
            <a:stCxn id="568" idx="3"/>
            <a:endCxn id="561" idx="0"/>
          </p:cNvCxnSpPr>
          <p:nvPr/>
        </p:nvCxnSpPr>
        <p:spPr>
          <a:xfrm>
            <a:off x="3969938" y="4577926"/>
            <a:ext cx="1527900" cy="174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69" name="Google Shape;569;p36"/>
          <p:cNvSpPr txBox="1"/>
          <p:nvPr/>
        </p:nvSpPr>
        <p:spPr>
          <a:xfrm>
            <a:off x="4809012" y="4258676"/>
            <a:ext cx="285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puntero del fichero (+4)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0" name="Google Shape;570;p36"/>
          <p:cNvSpPr/>
          <p:nvPr/>
        </p:nvSpPr>
        <p:spPr>
          <a:xfrm>
            <a:off x="4126875" y="5362475"/>
            <a:ext cx="1218000" cy="22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</a:t>
            </a:r>
            <a:endParaRPr/>
          </a:p>
        </p:txBody>
      </p:sp>
      <p:sp>
        <p:nvSpPr>
          <p:cNvPr id="571" name="Google Shape;571;p36"/>
          <p:cNvSpPr/>
          <p:nvPr/>
        </p:nvSpPr>
        <p:spPr>
          <a:xfrm>
            <a:off x="5346075" y="5362475"/>
            <a:ext cx="1218000" cy="22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</a:t>
            </a:r>
            <a:endParaRPr/>
          </a:p>
        </p:txBody>
      </p:sp>
      <p:sp>
        <p:nvSpPr>
          <p:cNvPr id="572" name="Google Shape;572;p36"/>
          <p:cNvSpPr/>
          <p:nvPr/>
        </p:nvSpPr>
        <p:spPr>
          <a:xfrm>
            <a:off x="6565275" y="5362475"/>
            <a:ext cx="1218000" cy="22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…</a:t>
            </a:r>
            <a:endParaRPr/>
          </a:p>
        </p:txBody>
      </p:sp>
      <p:sp>
        <p:nvSpPr>
          <p:cNvPr id="573" name="Google Shape;573;p36"/>
          <p:cNvSpPr/>
          <p:nvPr/>
        </p:nvSpPr>
        <p:spPr>
          <a:xfrm>
            <a:off x="7784475" y="5362475"/>
            <a:ext cx="1218000" cy="22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13</a:t>
            </a:r>
            <a:endParaRPr/>
          </a:p>
        </p:txBody>
      </p:sp>
      <p:sp>
        <p:nvSpPr>
          <p:cNvPr id="574" name="Google Shape;574;p36"/>
          <p:cNvSpPr/>
          <p:nvPr/>
        </p:nvSpPr>
        <p:spPr>
          <a:xfrm>
            <a:off x="4126875" y="6124475"/>
            <a:ext cx="1218000" cy="22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1520</a:t>
            </a:r>
            <a:endParaRPr/>
          </a:p>
        </p:txBody>
      </p:sp>
      <p:sp>
        <p:nvSpPr>
          <p:cNvPr id="575" name="Google Shape;575;p36"/>
          <p:cNvSpPr/>
          <p:nvPr/>
        </p:nvSpPr>
        <p:spPr>
          <a:xfrm>
            <a:off x="5346075" y="6124475"/>
            <a:ext cx="1218000" cy="22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1521</a:t>
            </a:r>
            <a:endParaRPr/>
          </a:p>
        </p:txBody>
      </p:sp>
      <p:sp>
        <p:nvSpPr>
          <p:cNvPr id="576" name="Google Shape;576;p36"/>
          <p:cNvSpPr/>
          <p:nvPr/>
        </p:nvSpPr>
        <p:spPr>
          <a:xfrm>
            <a:off x="6565275" y="6124475"/>
            <a:ext cx="1218000" cy="22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…</a:t>
            </a:r>
            <a:endParaRPr/>
          </a:p>
        </p:txBody>
      </p:sp>
      <p:sp>
        <p:nvSpPr>
          <p:cNvPr id="577" name="Google Shape;577;p36"/>
          <p:cNvSpPr/>
          <p:nvPr/>
        </p:nvSpPr>
        <p:spPr>
          <a:xfrm>
            <a:off x="7784475" y="6124475"/>
            <a:ext cx="1218000" cy="22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843</a:t>
            </a:r>
            <a:endParaRPr/>
          </a:p>
        </p:txBody>
      </p:sp>
      <p:sp>
        <p:nvSpPr>
          <p:cNvPr id="578" name="Google Shape;578;p36"/>
          <p:cNvSpPr txBox="1"/>
          <p:nvPr/>
        </p:nvSpPr>
        <p:spPr>
          <a:xfrm>
            <a:off x="50950" y="6424042"/>
            <a:ext cx="40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Driver Sistema de Ficheros</a:t>
            </a:r>
            <a:endParaRPr b="1" sz="15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79" name="Google Shape;579;p36"/>
          <p:cNvCxnSpPr>
            <a:stCxn id="561" idx="2"/>
            <a:endCxn id="571" idx="0"/>
          </p:cNvCxnSpPr>
          <p:nvPr/>
        </p:nvCxnSpPr>
        <p:spPr>
          <a:xfrm>
            <a:off x="5497875" y="4973975"/>
            <a:ext cx="457200" cy="388500"/>
          </a:xfrm>
          <a:prstGeom prst="straightConnector1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0" name="Google Shape;580;p36"/>
          <p:cNvCxnSpPr>
            <a:stCxn id="571" idx="2"/>
            <a:endCxn id="575" idx="0"/>
          </p:cNvCxnSpPr>
          <p:nvPr/>
        </p:nvCxnSpPr>
        <p:spPr>
          <a:xfrm>
            <a:off x="5955075" y="5583575"/>
            <a:ext cx="0" cy="5409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1" name="Google Shape;581;p36"/>
          <p:cNvSpPr txBox="1"/>
          <p:nvPr/>
        </p:nvSpPr>
        <p:spPr>
          <a:xfrm>
            <a:off x="2316541" y="5166884"/>
            <a:ext cx="1653000" cy="397200"/>
          </a:xfrm>
          <a:prstGeom prst="rect">
            <a:avLst/>
          </a:prstGeom>
          <a:solidFill>
            <a:srgbClr val="45818E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read(), write()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6" name="Google Shape;556;p36"/>
          <p:cNvSpPr txBox="1"/>
          <p:nvPr/>
        </p:nvSpPr>
        <p:spPr>
          <a:xfrm>
            <a:off x="2316938" y="4402649"/>
            <a:ext cx="1653000" cy="113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2" name="Google Shape;582;p36"/>
          <p:cNvSpPr txBox="1"/>
          <p:nvPr/>
        </p:nvSpPr>
        <p:spPr>
          <a:xfrm>
            <a:off x="2316938" y="4875466"/>
            <a:ext cx="1653000" cy="113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3" name="Google Shape;583;p36"/>
          <p:cNvSpPr txBox="1"/>
          <p:nvPr/>
        </p:nvSpPr>
        <p:spPr>
          <a:xfrm>
            <a:off x="2316938" y="4994043"/>
            <a:ext cx="1653000" cy="113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4" name="Google Shape;584;p36"/>
          <p:cNvSpPr txBox="1"/>
          <p:nvPr/>
        </p:nvSpPr>
        <p:spPr>
          <a:xfrm>
            <a:off x="123456" y="4988049"/>
            <a:ext cx="1653000" cy="113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85" name="Google Shape;585;p36"/>
          <p:cNvCxnSpPr>
            <a:stCxn id="545" idx="1"/>
            <a:endCxn id="538" idx="3"/>
          </p:cNvCxnSpPr>
          <p:nvPr/>
        </p:nvCxnSpPr>
        <p:spPr>
          <a:xfrm flipH="1">
            <a:off x="1776424" y="3475812"/>
            <a:ext cx="1572000" cy="1464600"/>
          </a:xfrm>
          <a:prstGeom prst="bentConnector3">
            <a:avLst>
              <a:gd fmla="val 7282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68" name="Google Shape;568;p36"/>
          <p:cNvSpPr txBox="1"/>
          <p:nvPr/>
        </p:nvSpPr>
        <p:spPr>
          <a:xfrm>
            <a:off x="2316938" y="4521226"/>
            <a:ext cx="1653000" cy="113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Google Shape;586;p36"/>
          <p:cNvSpPr txBox="1"/>
          <p:nvPr/>
        </p:nvSpPr>
        <p:spPr>
          <a:xfrm>
            <a:off x="123457" y="3184563"/>
            <a:ext cx="1653000" cy="22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superbloque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7" name="Google Shape;587;p36"/>
          <p:cNvSpPr txBox="1"/>
          <p:nvPr/>
        </p:nvSpPr>
        <p:spPr>
          <a:xfrm>
            <a:off x="123460" y="3405663"/>
            <a:ext cx="1653000" cy="113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Google Shape;588;p36"/>
          <p:cNvSpPr txBox="1"/>
          <p:nvPr/>
        </p:nvSpPr>
        <p:spPr>
          <a:xfrm>
            <a:off x="123460" y="3522748"/>
            <a:ext cx="1653000" cy="113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Google Shape;589;p36"/>
          <p:cNvSpPr txBox="1"/>
          <p:nvPr/>
        </p:nvSpPr>
        <p:spPr>
          <a:xfrm>
            <a:off x="123460" y="3627200"/>
            <a:ext cx="1653000" cy="113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Google Shape;590;p36"/>
          <p:cNvSpPr txBox="1"/>
          <p:nvPr/>
        </p:nvSpPr>
        <p:spPr>
          <a:xfrm>
            <a:off x="123460" y="3744286"/>
            <a:ext cx="1653000" cy="113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91" name="Google Shape;591;p36"/>
          <p:cNvCxnSpPr>
            <a:stCxn id="537" idx="3"/>
            <a:endCxn id="589" idx="3"/>
          </p:cNvCxnSpPr>
          <p:nvPr/>
        </p:nvCxnSpPr>
        <p:spPr>
          <a:xfrm flipH="1" rot="10800000">
            <a:off x="1776456" y="3683898"/>
            <a:ext cx="600" cy="1143000"/>
          </a:xfrm>
          <a:prstGeom prst="bentConnector3">
            <a:avLst>
              <a:gd fmla="val 3968817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92" name="Google Shape;592;p36"/>
          <p:cNvSpPr txBox="1"/>
          <p:nvPr/>
        </p:nvSpPr>
        <p:spPr>
          <a:xfrm>
            <a:off x="7087950" y="5520250"/>
            <a:ext cx="199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 de datos </a:t>
            </a:r>
            <a:r>
              <a:rPr b="1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lógico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3" name="Google Shape;593;p36"/>
          <p:cNvSpPr txBox="1"/>
          <p:nvPr/>
        </p:nvSpPr>
        <p:spPr>
          <a:xfrm>
            <a:off x="7123264" y="6282250"/>
            <a:ext cx="195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 de datos </a:t>
            </a:r>
            <a:r>
              <a:rPr b="1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físico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4" name="Google Shape;594;p36"/>
          <p:cNvSpPr txBox="1"/>
          <p:nvPr/>
        </p:nvSpPr>
        <p:spPr>
          <a:xfrm>
            <a:off x="47823" y="5838100"/>
            <a:ext cx="406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134F5C"/>
                </a:solidFill>
                <a:latin typeface="Inter"/>
                <a:ea typeface="Inter"/>
                <a:cs typeface="Inter"/>
                <a:sym typeface="Inter"/>
              </a:rPr>
              <a:t>Datos y funciones específicas del Sistema de Ficheros</a:t>
            </a:r>
            <a:endParaRPr>
              <a:solidFill>
                <a:srgbClr val="134F5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7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Gesti</a:t>
            </a: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ón de Bloques (I)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01" name="Google Shape;601;p37"/>
          <p:cNvSpPr txBox="1"/>
          <p:nvPr/>
        </p:nvSpPr>
        <p:spPr>
          <a:xfrm>
            <a:off x="0" y="771670"/>
            <a:ext cx="9144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Asignación de Bloques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Localidad Espacial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Mantener los datos de un fichero juntos mejora el rendimiento: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Discos mecánicos. Menos movimiento de la cabeza lectora.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SSD. Menos operaciones (de mayor tamaño) potencialmente concentradas en un bloque. Optimización de la asignación del espacio del disco.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Fragmentación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Externa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El espacio libre está fragmentado en huecos relativamente pequeños no contiguos del disco. (rendimiento)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Interna: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Espacio no utilizado dentro de un bloque de disco. (espacio desperdiciado)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2" name="Google Shape;602;p37"/>
          <p:cNvSpPr txBox="1"/>
          <p:nvPr/>
        </p:nvSpPr>
        <p:spPr>
          <a:xfrm>
            <a:off x="604575" y="4757675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3" name="Google Shape;603;p37"/>
          <p:cNvSpPr txBox="1"/>
          <p:nvPr/>
        </p:nvSpPr>
        <p:spPr>
          <a:xfrm>
            <a:off x="181198" y="4757675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4" name="Google Shape;604;p37"/>
          <p:cNvSpPr txBox="1"/>
          <p:nvPr/>
        </p:nvSpPr>
        <p:spPr>
          <a:xfrm>
            <a:off x="1442775" y="4757675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5" name="Google Shape;605;p37"/>
          <p:cNvSpPr txBox="1"/>
          <p:nvPr/>
        </p:nvSpPr>
        <p:spPr>
          <a:xfrm>
            <a:off x="1019398" y="4757675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6" name="Google Shape;606;p37"/>
          <p:cNvSpPr/>
          <p:nvPr/>
        </p:nvSpPr>
        <p:spPr>
          <a:xfrm>
            <a:off x="1736475" y="4751200"/>
            <a:ext cx="116100" cy="414000"/>
          </a:xfrm>
          <a:prstGeom prst="rect">
            <a:avLst/>
          </a:prstGeom>
          <a:solidFill>
            <a:srgbClr val="9E9E9E">
              <a:alpha val="23420"/>
            </a:srgbClr>
          </a:solidFill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7"/>
          <p:cNvSpPr txBox="1"/>
          <p:nvPr/>
        </p:nvSpPr>
        <p:spPr>
          <a:xfrm>
            <a:off x="2280975" y="4757675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8" name="Google Shape;608;p37"/>
          <p:cNvSpPr txBox="1"/>
          <p:nvPr/>
        </p:nvSpPr>
        <p:spPr>
          <a:xfrm>
            <a:off x="604575" y="5172498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9" name="Google Shape;609;p37"/>
          <p:cNvSpPr txBox="1"/>
          <p:nvPr/>
        </p:nvSpPr>
        <p:spPr>
          <a:xfrm>
            <a:off x="181198" y="5172498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0" name="Google Shape;610;p37"/>
          <p:cNvSpPr txBox="1"/>
          <p:nvPr/>
        </p:nvSpPr>
        <p:spPr>
          <a:xfrm>
            <a:off x="2280975" y="5172498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1" name="Google Shape;611;p37"/>
          <p:cNvSpPr txBox="1"/>
          <p:nvPr/>
        </p:nvSpPr>
        <p:spPr>
          <a:xfrm>
            <a:off x="1857598" y="5172498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2" name="Google Shape;612;p37"/>
          <p:cNvSpPr txBox="1"/>
          <p:nvPr/>
        </p:nvSpPr>
        <p:spPr>
          <a:xfrm>
            <a:off x="604575" y="6005126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3" name="Google Shape;613;p37"/>
          <p:cNvSpPr txBox="1"/>
          <p:nvPr/>
        </p:nvSpPr>
        <p:spPr>
          <a:xfrm>
            <a:off x="181198" y="6005126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4" name="Google Shape;614;p37"/>
          <p:cNvSpPr txBox="1"/>
          <p:nvPr/>
        </p:nvSpPr>
        <p:spPr>
          <a:xfrm>
            <a:off x="2280975" y="6005126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5" name="Google Shape;615;p37"/>
          <p:cNvSpPr txBox="1"/>
          <p:nvPr/>
        </p:nvSpPr>
        <p:spPr>
          <a:xfrm>
            <a:off x="1857598" y="6005126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6" name="Google Shape;616;p37"/>
          <p:cNvSpPr txBox="1"/>
          <p:nvPr/>
        </p:nvSpPr>
        <p:spPr>
          <a:xfrm>
            <a:off x="181198" y="5587321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7" name="Google Shape;617;p37"/>
          <p:cNvSpPr txBox="1"/>
          <p:nvPr/>
        </p:nvSpPr>
        <p:spPr>
          <a:xfrm>
            <a:off x="1442775" y="5587321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8" name="Google Shape;618;p37"/>
          <p:cNvSpPr txBox="1"/>
          <p:nvPr/>
        </p:nvSpPr>
        <p:spPr>
          <a:xfrm>
            <a:off x="1019398" y="5587321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9" name="Google Shape;619;p37"/>
          <p:cNvSpPr txBox="1"/>
          <p:nvPr/>
        </p:nvSpPr>
        <p:spPr>
          <a:xfrm>
            <a:off x="2280975" y="5587321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0" name="Google Shape;620;p37"/>
          <p:cNvSpPr/>
          <p:nvPr/>
        </p:nvSpPr>
        <p:spPr>
          <a:xfrm>
            <a:off x="1024228" y="5589088"/>
            <a:ext cx="420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7"/>
          <p:cNvSpPr txBox="1"/>
          <p:nvPr/>
        </p:nvSpPr>
        <p:spPr>
          <a:xfrm>
            <a:off x="1857598" y="5587321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2" name="Google Shape;622;p37"/>
          <p:cNvSpPr txBox="1"/>
          <p:nvPr/>
        </p:nvSpPr>
        <p:spPr>
          <a:xfrm>
            <a:off x="90326" y="4329274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Disco. Bloques Físicos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3" name="Google Shape;623;p37"/>
          <p:cNvSpPr/>
          <p:nvPr/>
        </p:nvSpPr>
        <p:spPr>
          <a:xfrm>
            <a:off x="181200" y="4757675"/>
            <a:ext cx="420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7"/>
          <p:cNvSpPr/>
          <p:nvPr/>
        </p:nvSpPr>
        <p:spPr>
          <a:xfrm>
            <a:off x="609341" y="4757675"/>
            <a:ext cx="420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7"/>
          <p:cNvSpPr/>
          <p:nvPr/>
        </p:nvSpPr>
        <p:spPr>
          <a:xfrm>
            <a:off x="1019400" y="4757675"/>
            <a:ext cx="420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7"/>
          <p:cNvSpPr/>
          <p:nvPr/>
        </p:nvSpPr>
        <p:spPr>
          <a:xfrm>
            <a:off x="1442775" y="4757675"/>
            <a:ext cx="2937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7"/>
          <p:cNvSpPr/>
          <p:nvPr/>
        </p:nvSpPr>
        <p:spPr>
          <a:xfrm>
            <a:off x="2276200" y="4758152"/>
            <a:ext cx="420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7"/>
          <p:cNvSpPr/>
          <p:nvPr/>
        </p:nvSpPr>
        <p:spPr>
          <a:xfrm>
            <a:off x="177487" y="5174999"/>
            <a:ext cx="420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7"/>
          <p:cNvSpPr/>
          <p:nvPr/>
        </p:nvSpPr>
        <p:spPr>
          <a:xfrm>
            <a:off x="605626" y="5175000"/>
            <a:ext cx="2154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7"/>
          <p:cNvSpPr/>
          <p:nvPr/>
        </p:nvSpPr>
        <p:spPr>
          <a:xfrm>
            <a:off x="175211" y="5589088"/>
            <a:ext cx="420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7"/>
          <p:cNvSpPr/>
          <p:nvPr/>
        </p:nvSpPr>
        <p:spPr>
          <a:xfrm>
            <a:off x="2276350" y="5168200"/>
            <a:ext cx="420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7"/>
          <p:cNvSpPr/>
          <p:nvPr/>
        </p:nvSpPr>
        <p:spPr>
          <a:xfrm>
            <a:off x="1445103" y="5589088"/>
            <a:ext cx="420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7"/>
          <p:cNvSpPr/>
          <p:nvPr/>
        </p:nvSpPr>
        <p:spPr>
          <a:xfrm>
            <a:off x="1867251" y="5588075"/>
            <a:ext cx="108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7"/>
          <p:cNvSpPr/>
          <p:nvPr/>
        </p:nvSpPr>
        <p:spPr>
          <a:xfrm>
            <a:off x="2283303" y="5589088"/>
            <a:ext cx="420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7"/>
          <p:cNvSpPr/>
          <p:nvPr/>
        </p:nvSpPr>
        <p:spPr>
          <a:xfrm>
            <a:off x="175050" y="5999147"/>
            <a:ext cx="420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7"/>
          <p:cNvSpPr/>
          <p:nvPr/>
        </p:nvSpPr>
        <p:spPr>
          <a:xfrm>
            <a:off x="603190" y="5999147"/>
            <a:ext cx="420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7"/>
          <p:cNvSpPr/>
          <p:nvPr/>
        </p:nvSpPr>
        <p:spPr>
          <a:xfrm>
            <a:off x="1862270" y="5999150"/>
            <a:ext cx="2154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7"/>
          <p:cNvSpPr/>
          <p:nvPr/>
        </p:nvSpPr>
        <p:spPr>
          <a:xfrm>
            <a:off x="2283151" y="5999150"/>
            <a:ext cx="2274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7"/>
          <p:cNvSpPr/>
          <p:nvPr/>
        </p:nvSpPr>
        <p:spPr>
          <a:xfrm>
            <a:off x="1873400" y="5168200"/>
            <a:ext cx="420900" cy="415500"/>
          </a:xfrm>
          <a:prstGeom prst="rect">
            <a:avLst/>
          </a:prstGeom>
          <a:solidFill>
            <a:srgbClr val="45818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7"/>
          <p:cNvSpPr txBox="1"/>
          <p:nvPr/>
        </p:nvSpPr>
        <p:spPr>
          <a:xfrm>
            <a:off x="1442775" y="5172498"/>
            <a:ext cx="420900" cy="4140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1" name="Google Shape;641;p37"/>
          <p:cNvSpPr txBox="1"/>
          <p:nvPr/>
        </p:nvSpPr>
        <p:spPr>
          <a:xfrm>
            <a:off x="604575" y="5587321"/>
            <a:ext cx="420900" cy="4140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2" name="Google Shape;642;p37"/>
          <p:cNvSpPr txBox="1"/>
          <p:nvPr/>
        </p:nvSpPr>
        <p:spPr>
          <a:xfrm>
            <a:off x="1442775" y="6005126"/>
            <a:ext cx="420900" cy="4140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3" name="Google Shape;643;p37"/>
          <p:cNvSpPr txBox="1"/>
          <p:nvPr/>
        </p:nvSpPr>
        <p:spPr>
          <a:xfrm>
            <a:off x="2902600" y="4824150"/>
            <a:ext cx="293700" cy="283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4" name="Google Shape;644;p37"/>
          <p:cNvSpPr txBox="1"/>
          <p:nvPr/>
        </p:nvSpPr>
        <p:spPr>
          <a:xfrm>
            <a:off x="3193125" y="4735225"/>
            <a:ext cx="429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Bloques libres no contiguos (F. externa)</a:t>
            </a:r>
            <a:endParaRPr/>
          </a:p>
        </p:txBody>
      </p:sp>
      <p:sp>
        <p:nvSpPr>
          <p:cNvPr id="645" name="Google Shape;645;p37"/>
          <p:cNvSpPr txBox="1"/>
          <p:nvPr/>
        </p:nvSpPr>
        <p:spPr>
          <a:xfrm>
            <a:off x="1019398" y="5172498"/>
            <a:ext cx="420900" cy="4140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6" name="Google Shape;646;p37"/>
          <p:cNvSpPr txBox="1"/>
          <p:nvPr/>
        </p:nvSpPr>
        <p:spPr>
          <a:xfrm>
            <a:off x="1857598" y="4757675"/>
            <a:ext cx="420900" cy="4140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7" name="Google Shape;647;p37"/>
          <p:cNvSpPr txBox="1"/>
          <p:nvPr/>
        </p:nvSpPr>
        <p:spPr>
          <a:xfrm>
            <a:off x="1019398" y="6005126"/>
            <a:ext cx="420900" cy="4140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8" name="Google Shape;648;p37"/>
          <p:cNvSpPr/>
          <p:nvPr/>
        </p:nvSpPr>
        <p:spPr>
          <a:xfrm>
            <a:off x="803950" y="5168525"/>
            <a:ext cx="215400" cy="414000"/>
          </a:xfrm>
          <a:prstGeom prst="rect">
            <a:avLst/>
          </a:prstGeom>
          <a:solidFill>
            <a:srgbClr val="9E9E9E">
              <a:alpha val="23420"/>
            </a:srgbClr>
          </a:solidFill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7"/>
          <p:cNvSpPr/>
          <p:nvPr/>
        </p:nvSpPr>
        <p:spPr>
          <a:xfrm>
            <a:off x="1981474" y="5585850"/>
            <a:ext cx="293700" cy="414000"/>
          </a:xfrm>
          <a:prstGeom prst="rect">
            <a:avLst/>
          </a:prstGeom>
          <a:solidFill>
            <a:srgbClr val="9E9E9E">
              <a:alpha val="23420"/>
            </a:srgbClr>
          </a:solidFill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7"/>
          <p:cNvSpPr/>
          <p:nvPr/>
        </p:nvSpPr>
        <p:spPr>
          <a:xfrm>
            <a:off x="2070150" y="6003175"/>
            <a:ext cx="215400" cy="414000"/>
          </a:xfrm>
          <a:prstGeom prst="rect">
            <a:avLst/>
          </a:prstGeom>
          <a:solidFill>
            <a:srgbClr val="9E9E9E">
              <a:alpha val="23420"/>
            </a:srgbClr>
          </a:solidFill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7"/>
          <p:cNvSpPr/>
          <p:nvPr/>
        </p:nvSpPr>
        <p:spPr>
          <a:xfrm>
            <a:off x="2510650" y="6002150"/>
            <a:ext cx="190200" cy="414000"/>
          </a:xfrm>
          <a:prstGeom prst="rect">
            <a:avLst/>
          </a:prstGeom>
          <a:solidFill>
            <a:srgbClr val="9E9E9E">
              <a:alpha val="23420"/>
            </a:srgbClr>
          </a:solidFill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7"/>
          <p:cNvSpPr/>
          <p:nvPr/>
        </p:nvSpPr>
        <p:spPr>
          <a:xfrm>
            <a:off x="2902600" y="5237750"/>
            <a:ext cx="293700" cy="283500"/>
          </a:xfrm>
          <a:prstGeom prst="rect">
            <a:avLst/>
          </a:prstGeom>
          <a:solidFill>
            <a:srgbClr val="9E9E9E">
              <a:alpha val="23420"/>
            </a:srgbClr>
          </a:solidFill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7"/>
          <p:cNvSpPr/>
          <p:nvPr/>
        </p:nvSpPr>
        <p:spPr>
          <a:xfrm>
            <a:off x="2909827" y="5651350"/>
            <a:ext cx="293700" cy="283500"/>
          </a:xfrm>
          <a:prstGeom prst="rect">
            <a:avLst/>
          </a:prstGeom>
          <a:solidFill>
            <a:srgbClr val="45818E">
              <a:alpha val="3481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7"/>
          <p:cNvSpPr txBox="1"/>
          <p:nvPr/>
        </p:nvSpPr>
        <p:spPr>
          <a:xfrm>
            <a:off x="3193125" y="5573425"/>
            <a:ext cx="285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Bloques asignados</a:t>
            </a:r>
            <a:endParaRPr/>
          </a:p>
        </p:txBody>
      </p:sp>
      <p:sp>
        <p:nvSpPr>
          <p:cNvPr id="655" name="Google Shape;655;p37"/>
          <p:cNvSpPr txBox="1"/>
          <p:nvPr/>
        </p:nvSpPr>
        <p:spPr>
          <a:xfrm>
            <a:off x="3193125" y="5141150"/>
            <a:ext cx="389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Espacio libre en bloques (F. Interna)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0" name="Google Shape;660;p38"/>
          <p:cNvCxnSpPr/>
          <p:nvPr/>
        </p:nvCxnSpPr>
        <p:spPr>
          <a:xfrm rot="10800000">
            <a:off x="2324750" y="4562350"/>
            <a:ext cx="0" cy="406800"/>
          </a:xfrm>
          <a:prstGeom prst="straightConnector1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1" name="Google Shape;661;p38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8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Gestión de Bloques (II)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63" name="Google Shape;663;p38"/>
          <p:cNvSpPr txBox="1"/>
          <p:nvPr/>
        </p:nvSpPr>
        <p:spPr>
          <a:xfrm>
            <a:off x="0" y="757140"/>
            <a:ext cx="9144000" cy="28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Estrategias para mitigar la fragmentación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Extents.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Grupo de bloques contiguos (bloque inicial + número) en lugar de usar bloques individuales en la gestión.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Asignación retardada.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bloques físicos se asignan cuando los datos tienen que escribirse en disco (de la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caché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páginas).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Preasignación de bloques.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Asignación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más bloques de los solicitados (ej. </a:t>
            </a:r>
            <a:r>
              <a:rPr lang="e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ext4 multi-block allocator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Reserva de bloques contiguos para un fichero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fallocate(2).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4" name="Google Shape;664;p38"/>
          <p:cNvSpPr/>
          <p:nvPr/>
        </p:nvSpPr>
        <p:spPr>
          <a:xfrm>
            <a:off x="290625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1520</a:t>
            </a:r>
            <a:endParaRPr/>
          </a:p>
        </p:txBody>
      </p:sp>
      <p:sp>
        <p:nvSpPr>
          <p:cNvPr id="665" name="Google Shape;665;p38"/>
          <p:cNvSpPr txBox="1"/>
          <p:nvPr/>
        </p:nvSpPr>
        <p:spPr>
          <a:xfrm>
            <a:off x="6077275" y="5291650"/>
            <a:ext cx="247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 de datos </a:t>
            </a:r>
            <a:r>
              <a:rPr b="1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lógicos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6" name="Google Shape;666;p38"/>
          <p:cNvSpPr txBox="1"/>
          <p:nvPr/>
        </p:nvSpPr>
        <p:spPr>
          <a:xfrm>
            <a:off x="6112212" y="6096800"/>
            <a:ext cx="284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 de datos </a:t>
            </a:r>
            <a:r>
              <a:rPr b="1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físicos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7" name="Google Shape;667;p38"/>
          <p:cNvSpPr/>
          <p:nvPr/>
        </p:nvSpPr>
        <p:spPr>
          <a:xfrm>
            <a:off x="1058625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1520</a:t>
            </a:r>
            <a:endParaRPr/>
          </a:p>
        </p:txBody>
      </p:sp>
      <p:sp>
        <p:nvSpPr>
          <p:cNvPr id="668" name="Google Shape;668;p38"/>
          <p:cNvSpPr/>
          <p:nvPr/>
        </p:nvSpPr>
        <p:spPr>
          <a:xfrm>
            <a:off x="1826625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1520</a:t>
            </a:r>
            <a:endParaRPr/>
          </a:p>
        </p:txBody>
      </p:sp>
      <p:sp>
        <p:nvSpPr>
          <p:cNvPr id="669" name="Google Shape;669;p38"/>
          <p:cNvSpPr/>
          <p:nvPr/>
        </p:nvSpPr>
        <p:spPr>
          <a:xfrm>
            <a:off x="2594625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1520</a:t>
            </a:r>
            <a:endParaRPr/>
          </a:p>
        </p:txBody>
      </p:sp>
      <p:sp>
        <p:nvSpPr>
          <p:cNvPr id="670" name="Google Shape;670;p38"/>
          <p:cNvSpPr/>
          <p:nvPr/>
        </p:nvSpPr>
        <p:spPr>
          <a:xfrm>
            <a:off x="4266150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1520</a:t>
            </a:r>
            <a:endParaRPr/>
          </a:p>
        </p:txBody>
      </p:sp>
      <p:sp>
        <p:nvSpPr>
          <p:cNvPr id="671" name="Google Shape;671;p38"/>
          <p:cNvSpPr/>
          <p:nvPr/>
        </p:nvSpPr>
        <p:spPr>
          <a:xfrm>
            <a:off x="5034150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1520</a:t>
            </a:r>
            <a:endParaRPr/>
          </a:p>
        </p:txBody>
      </p:sp>
      <p:sp>
        <p:nvSpPr>
          <p:cNvPr id="672" name="Google Shape;672;p38"/>
          <p:cNvSpPr/>
          <p:nvPr/>
        </p:nvSpPr>
        <p:spPr>
          <a:xfrm>
            <a:off x="5802150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1520</a:t>
            </a:r>
            <a:endParaRPr/>
          </a:p>
        </p:txBody>
      </p:sp>
      <p:sp>
        <p:nvSpPr>
          <p:cNvPr id="673" name="Google Shape;673;p38"/>
          <p:cNvSpPr/>
          <p:nvPr/>
        </p:nvSpPr>
        <p:spPr>
          <a:xfrm>
            <a:off x="6570150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1520</a:t>
            </a:r>
            <a:endParaRPr/>
          </a:p>
        </p:txBody>
      </p:sp>
      <p:sp>
        <p:nvSpPr>
          <p:cNvPr id="674" name="Google Shape;674;p38"/>
          <p:cNvSpPr/>
          <p:nvPr/>
        </p:nvSpPr>
        <p:spPr>
          <a:xfrm>
            <a:off x="7338150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1524</a:t>
            </a:r>
            <a:endParaRPr/>
          </a:p>
        </p:txBody>
      </p:sp>
      <p:sp>
        <p:nvSpPr>
          <p:cNvPr id="675" name="Google Shape;675;p38"/>
          <p:cNvSpPr/>
          <p:nvPr/>
        </p:nvSpPr>
        <p:spPr>
          <a:xfrm>
            <a:off x="3362625" y="5902769"/>
            <a:ext cx="909600" cy="26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…</a:t>
            </a:r>
            <a:endParaRPr/>
          </a:p>
        </p:txBody>
      </p:sp>
      <p:sp>
        <p:nvSpPr>
          <p:cNvPr id="676" name="Google Shape;676;p38"/>
          <p:cNvSpPr/>
          <p:nvPr/>
        </p:nvSpPr>
        <p:spPr>
          <a:xfrm>
            <a:off x="1061663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931</a:t>
            </a:r>
            <a:endParaRPr/>
          </a:p>
        </p:txBody>
      </p:sp>
      <p:sp>
        <p:nvSpPr>
          <p:cNvPr id="677" name="Google Shape;677;p38"/>
          <p:cNvSpPr/>
          <p:nvPr/>
        </p:nvSpPr>
        <p:spPr>
          <a:xfrm>
            <a:off x="1829663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932</a:t>
            </a:r>
            <a:endParaRPr/>
          </a:p>
        </p:txBody>
      </p:sp>
      <p:sp>
        <p:nvSpPr>
          <p:cNvPr id="678" name="Google Shape;678;p38"/>
          <p:cNvSpPr/>
          <p:nvPr/>
        </p:nvSpPr>
        <p:spPr>
          <a:xfrm>
            <a:off x="2597663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933</a:t>
            </a:r>
            <a:endParaRPr/>
          </a:p>
        </p:txBody>
      </p:sp>
      <p:sp>
        <p:nvSpPr>
          <p:cNvPr id="679" name="Google Shape;679;p38"/>
          <p:cNvSpPr/>
          <p:nvPr/>
        </p:nvSpPr>
        <p:spPr>
          <a:xfrm>
            <a:off x="4269188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1520</a:t>
            </a:r>
            <a:endParaRPr/>
          </a:p>
        </p:txBody>
      </p:sp>
      <p:sp>
        <p:nvSpPr>
          <p:cNvPr id="680" name="Google Shape;680;p38"/>
          <p:cNvSpPr/>
          <p:nvPr/>
        </p:nvSpPr>
        <p:spPr>
          <a:xfrm>
            <a:off x="5037188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1521</a:t>
            </a:r>
            <a:endParaRPr/>
          </a:p>
        </p:txBody>
      </p:sp>
      <p:sp>
        <p:nvSpPr>
          <p:cNvPr id="681" name="Google Shape;681;p38"/>
          <p:cNvSpPr/>
          <p:nvPr/>
        </p:nvSpPr>
        <p:spPr>
          <a:xfrm>
            <a:off x="5805188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1522</a:t>
            </a:r>
            <a:endParaRPr/>
          </a:p>
        </p:txBody>
      </p:sp>
      <p:sp>
        <p:nvSpPr>
          <p:cNvPr id="682" name="Google Shape;682;p38"/>
          <p:cNvSpPr/>
          <p:nvPr/>
        </p:nvSpPr>
        <p:spPr>
          <a:xfrm>
            <a:off x="6573188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1523</a:t>
            </a:r>
            <a:endParaRPr/>
          </a:p>
        </p:txBody>
      </p:sp>
      <p:sp>
        <p:nvSpPr>
          <p:cNvPr id="683" name="Google Shape;683;p38"/>
          <p:cNvSpPr/>
          <p:nvPr/>
        </p:nvSpPr>
        <p:spPr>
          <a:xfrm>
            <a:off x="6982496" y="5064569"/>
            <a:ext cx="768000" cy="260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8</a:t>
            </a:r>
            <a:endParaRPr/>
          </a:p>
        </p:txBody>
      </p:sp>
      <p:sp>
        <p:nvSpPr>
          <p:cNvPr id="684" name="Google Shape;684;p38"/>
          <p:cNvSpPr/>
          <p:nvPr/>
        </p:nvSpPr>
        <p:spPr>
          <a:xfrm>
            <a:off x="7750496" y="5064569"/>
            <a:ext cx="768000" cy="260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9</a:t>
            </a:r>
            <a:endParaRPr/>
          </a:p>
        </p:txBody>
      </p:sp>
      <p:sp>
        <p:nvSpPr>
          <p:cNvPr id="685" name="Google Shape;685;p38"/>
          <p:cNvSpPr/>
          <p:nvPr/>
        </p:nvSpPr>
        <p:spPr>
          <a:xfrm>
            <a:off x="787187" y="5064569"/>
            <a:ext cx="768000" cy="260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</a:t>
            </a:r>
            <a:endParaRPr/>
          </a:p>
        </p:txBody>
      </p:sp>
      <p:sp>
        <p:nvSpPr>
          <p:cNvPr id="686" name="Google Shape;686;p38"/>
          <p:cNvSpPr/>
          <p:nvPr/>
        </p:nvSpPr>
        <p:spPr>
          <a:xfrm>
            <a:off x="1555187" y="5064569"/>
            <a:ext cx="768000" cy="260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</a:t>
            </a:r>
            <a:endParaRPr/>
          </a:p>
        </p:txBody>
      </p:sp>
      <p:sp>
        <p:nvSpPr>
          <p:cNvPr id="687" name="Google Shape;687;p38"/>
          <p:cNvSpPr/>
          <p:nvPr/>
        </p:nvSpPr>
        <p:spPr>
          <a:xfrm>
            <a:off x="2323187" y="5064569"/>
            <a:ext cx="768000" cy="260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</a:t>
            </a:r>
            <a:endParaRPr/>
          </a:p>
        </p:txBody>
      </p:sp>
      <p:sp>
        <p:nvSpPr>
          <p:cNvPr id="688" name="Google Shape;688;p38"/>
          <p:cNvSpPr/>
          <p:nvPr/>
        </p:nvSpPr>
        <p:spPr>
          <a:xfrm>
            <a:off x="4681534" y="5064569"/>
            <a:ext cx="768000" cy="260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</a:t>
            </a:r>
            <a:endParaRPr/>
          </a:p>
        </p:txBody>
      </p:sp>
      <p:sp>
        <p:nvSpPr>
          <p:cNvPr id="689" name="Google Shape;689;p38"/>
          <p:cNvSpPr/>
          <p:nvPr/>
        </p:nvSpPr>
        <p:spPr>
          <a:xfrm>
            <a:off x="5449534" y="5064569"/>
            <a:ext cx="768000" cy="260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</a:t>
            </a:r>
            <a:endParaRPr/>
          </a:p>
        </p:txBody>
      </p:sp>
      <p:sp>
        <p:nvSpPr>
          <p:cNvPr id="690" name="Google Shape;690;p38"/>
          <p:cNvSpPr/>
          <p:nvPr/>
        </p:nvSpPr>
        <p:spPr>
          <a:xfrm>
            <a:off x="6217534" y="5064569"/>
            <a:ext cx="768000" cy="260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7</a:t>
            </a:r>
            <a:endParaRPr/>
          </a:p>
        </p:txBody>
      </p:sp>
      <p:cxnSp>
        <p:nvCxnSpPr>
          <p:cNvPr id="691" name="Google Shape;691;p38"/>
          <p:cNvCxnSpPr>
            <a:stCxn id="692" idx="3"/>
            <a:endCxn id="678" idx="3"/>
          </p:cNvCxnSpPr>
          <p:nvPr/>
        </p:nvCxnSpPr>
        <p:spPr>
          <a:xfrm flipH="1">
            <a:off x="3365687" y="5194769"/>
            <a:ext cx="4935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38"/>
          <p:cNvCxnSpPr>
            <a:stCxn id="685" idx="1"/>
            <a:endCxn id="694" idx="1"/>
          </p:cNvCxnSpPr>
          <p:nvPr/>
        </p:nvCxnSpPr>
        <p:spPr>
          <a:xfrm flipH="1">
            <a:off x="293687" y="5194769"/>
            <a:ext cx="4935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94" name="Google Shape;694;p38"/>
          <p:cNvSpPr/>
          <p:nvPr/>
        </p:nvSpPr>
        <p:spPr>
          <a:xfrm>
            <a:off x="293663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93</a:t>
            </a:r>
            <a:r>
              <a:rPr lang="es"/>
              <a:t>0</a:t>
            </a:r>
            <a:endParaRPr/>
          </a:p>
        </p:txBody>
      </p:sp>
      <p:sp>
        <p:nvSpPr>
          <p:cNvPr id="692" name="Google Shape;692;p38"/>
          <p:cNvSpPr/>
          <p:nvPr/>
        </p:nvSpPr>
        <p:spPr>
          <a:xfrm>
            <a:off x="3091187" y="5064569"/>
            <a:ext cx="768000" cy="260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</a:t>
            </a:r>
            <a:endParaRPr/>
          </a:p>
        </p:txBody>
      </p:sp>
      <p:graphicFrame>
        <p:nvGraphicFramePr>
          <p:cNvPr id="695" name="Google Shape;695;p38"/>
          <p:cNvGraphicFramePr/>
          <p:nvPr/>
        </p:nvGraphicFramePr>
        <p:xfrm>
          <a:off x="1139013" y="3806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{22EF096E-7B61-4A85-9FDA-B53D0E27F26A}</a:tableStyleId>
              </a:tblPr>
              <a:tblGrid>
                <a:gridCol w="794375"/>
                <a:gridCol w="794375"/>
                <a:gridCol w="794375"/>
              </a:tblGrid>
              <a:tr h="18067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Extent 0</a:t>
                      </a:r>
                      <a:endParaRPr b="1" sz="13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3D85C6"/>
                    </a:solidFill>
                  </a:tcPr>
                </a:tc>
                <a:tc hMerge="1"/>
                <a:tc hMerge="1"/>
              </a:tr>
              <a:tr h="28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Offset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Start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Length</a:t>
                      </a:r>
                      <a:r>
                        <a:rPr b="1" baseline="30000" lang="es" sz="1300">
                          <a:solidFill>
                            <a:srgbClr val="CC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*</a:t>
                      </a:r>
                      <a:endParaRPr b="1" baseline="30000" sz="1300">
                        <a:solidFill>
                          <a:srgbClr val="CC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9FC5E8"/>
                    </a:solidFill>
                  </a:tcPr>
                </a:tc>
              </a:tr>
              <a:tr h="18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930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cxnSp>
        <p:nvCxnSpPr>
          <p:cNvPr id="696" name="Google Shape;696;p38"/>
          <p:cNvCxnSpPr>
            <a:stCxn id="697" idx="1"/>
            <a:endCxn id="679" idx="1"/>
          </p:cNvCxnSpPr>
          <p:nvPr/>
        </p:nvCxnSpPr>
        <p:spPr>
          <a:xfrm>
            <a:off x="3913534" y="5194769"/>
            <a:ext cx="3558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38"/>
          <p:cNvCxnSpPr>
            <a:stCxn id="684" idx="3"/>
            <a:endCxn id="699" idx="3"/>
          </p:cNvCxnSpPr>
          <p:nvPr/>
        </p:nvCxnSpPr>
        <p:spPr>
          <a:xfrm>
            <a:off x="8518496" y="5194769"/>
            <a:ext cx="3558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99" name="Google Shape;699;p38"/>
          <p:cNvSpPr/>
          <p:nvPr/>
        </p:nvSpPr>
        <p:spPr>
          <a:xfrm>
            <a:off x="8106150" y="59027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1525</a:t>
            </a:r>
            <a:endParaRPr/>
          </a:p>
        </p:txBody>
      </p:sp>
      <p:sp>
        <p:nvSpPr>
          <p:cNvPr id="697" name="Google Shape;697;p38"/>
          <p:cNvSpPr/>
          <p:nvPr/>
        </p:nvSpPr>
        <p:spPr>
          <a:xfrm>
            <a:off x="3913534" y="5064569"/>
            <a:ext cx="768000" cy="260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</a:t>
            </a:r>
            <a:endParaRPr/>
          </a:p>
        </p:txBody>
      </p:sp>
      <p:cxnSp>
        <p:nvCxnSpPr>
          <p:cNvPr id="700" name="Google Shape;700;p38"/>
          <p:cNvCxnSpPr/>
          <p:nvPr/>
        </p:nvCxnSpPr>
        <p:spPr>
          <a:xfrm>
            <a:off x="3908475" y="4969150"/>
            <a:ext cx="4598700" cy="0"/>
          </a:xfrm>
          <a:prstGeom prst="straightConnector1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38"/>
          <p:cNvCxnSpPr/>
          <p:nvPr/>
        </p:nvCxnSpPr>
        <p:spPr>
          <a:xfrm>
            <a:off x="762800" y="4969144"/>
            <a:ext cx="3072900" cy="0"/>
          </a:xfrm>
          <a:prstGeom prst="straightConnector1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38"/>
          <p:cNvCxnSpPr/>
          <p:nvPr/>
        </p:nvCxnSpPr>
        <p:spPr>
          <a:xfrm rot="10800000">
            <a:off x="6225480" y="4562350"/>
            <a:ext cx="0" cy="406800"/>
          </a:xfrm>
          <a:prstGeom prst="straightConnector1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703" name="Google Shape;703;p38"/>
          <p:cNvGraphicFramePr/>
          <p:nvPr/>
        </p:nvGraphicFramePr>
        <p:xfrm>
          <a:off x="5032478" y="3806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{22EF096E-7B61-4A85-9FDA-B53D0E27F26A}</a:tableStyleId>
              </a:tblPr>
              <a:tblGrid>
                <a:gridCol w="794375"/>
                <a:gridCol w="794375"/>
                <a:gridCol w="794375"/>
              </a:tblGrid>
              <a:tr h="18067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Extent 1</a:t>
                      </a:r>
                      <a:endParaRPr b="1" sz="13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3D85C6"/>
                    </a:solidFill>
                  </a:tcPr>
                </a:tc>
                <a:tc hMerge="1"/>
                <a:tc hMerge="1"/>
              </a:tr>
              <a:tr h="28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Offset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Start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Length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9FC5E8"/>
                    </a:solidFill>
                  </a:tcPr>
                </a:tc>
              </a:tr>
              <a:tr h="18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1520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6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704" name="Google Shape;704;p38"/>
          <p:cNvSpPr txBox="1"/>
          <p:nvPr/>
        </p:nvSpPr>
        <p:spPr>
          <a:xfrm>
            <a:off x="0" y="6481600"/>
            <a:ext cx="875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Length</a:t>
            </a:r>
            <a:r>
              <a:rPr b="1" baseline="30000" lang="es" sz="13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r>
              <a:rPr b="1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tamaño máximo fijo (ej. ext4 2</a:t>
            </a:r>
            <a:r>
              <a:rPr baseline="30000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* 4K bloques = 128MB, ver </a:t>
            </a:r>
            <a:r>
              <a:rPr lang="es" sz="13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ext4_extents.h</a:t>
            </a: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9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9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Gestión de Bloques (II)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11" name="Google Shape;711;p39"/>
          <p:cNvSpPr txBox="1"/>
          <p:nvPr/>
        </p:nvSpPr>
        <p:spPr>
          <a:xfrm>
            <a:off x="0" y="771670"/>
            <a:ext cx="91440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Ejemplo. Estructura del Sistema de ficheros ext4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Agrupación de bloques.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Las operaciones se restringen a un subconjunto de los bloques del disco.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Localidad de bloques para inodos y directorios.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Mantener los bloques de datos junto con el inodo y directorio para aprovechar la localidad temporal.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2" name="Google Shape;712;p39"/>
          <p:cNvSpPr txBox="1"/>
          <p:nvPr/>
        </p:nvSpPr>
        <p:spPr>
          <a:xfrm>
            <a:off x="3760787" y="5168900"/>
            <a:ext cx="228600" cy="349200"/>
          </a:xfrm>
          <a:prstGeom prst="rect">
            <a:avLst/>
          </a:prstGeom>
          <a:solidFill>
            <a:srgbClr val="E06666"/>
          </a:solidFill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9"/>
          <p:cNvSpPr txBox="1"/>
          <p:nvPr/>
        </p:nvSpPr>
        <p:spPr>
          <a:xfrm>
            <a:off x="3303587" y="4470400"/>
            <a:ext cx="228600" cy="349200"/>
          </a:xfrm>
          <a:prstGeom prst="rect">
            <a:avLst/>
          </a:prstGeom>
          <a:solidFill>
            <a:srgbClr val="E06666"/>
          </a:solidFill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9"/>
          <p:cNvSpPr txBox="1"/>
          <p:nvPr/>
        </p:nvSpPr>
        <p:spPr>
          <a:xfrm>
            <a:off x="3532187" y="4470400"/>
            <a:ext cx="228600" cy="349200"/>
          </a:xfrm>
          <a:prstGeom prst="rect">
            <a:avLst/>
          </a:prstGeom>
          <a:solidFill>
            <a:srgbClr val="E06666"/>
          </a:solidFill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9"/>
          <p:cNvSpPr txBox="1"/>
          <p:nvPr/>
        </p:nvSpPr>
        <p:spPr>
          <a:xfrm>
            <a:off x="3760787" y="4470400"/>
            <a:ext cx="228600" cy="349200"/>
          </a:xfrm>
          <a:prstGeom prst="rect">
            <a:avLst/>
          </a:prstGeom>
          <a:solidFill>
            <a:srgbClr val="E06666"/>
          </a:solidFill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9"/>
          <p:cNvSpPr txBox="1"/>
          <p:nvPr/>
        </p:nvSpPr>
        <p:spPr>
          <a:xfrm>
            <a:off x="3989387" y="4470400"/>
            <a:ext cx="228600" cy="349200"/>
          </a:xfrm>
          <a:prstGeom prst="rect">
            <a:avLst/>
          </a:prstGeom>
          <a:noFill/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9"/>
          <p:cNvSpPr txBox="1"/>
          <p:nvPr/>
        </p:nvSpPr>
        <p:spPr>
          <a:xfrm>
            <a:off x="3303587" y="4819650"/>
            <a:ext cx="228600" cy="349200"/>
          </a:xfrm>
          <a:prstGeom prst="rect">
            <a:avLst/>
          </a:prstGeom>
          <a:noFill/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9"/>
          <p:cNvSpPr txBox="1"/>
          <p:nvPr/>
        </p:nvSpPr>
        <p:spPr>
          <a:xfrm>
            <a:off x="3760787" y="4819650"/>
            <a:ext cx="228600" cy="349200"/>
          </a:xfrm>
          <a:prstGeom prst="rect">
            <a:avLst/>
          </a:prstGeom>
          <a:noFill/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9"/>
          <p:cNvSpPr txBox="1"/>
          <p:nvPr/>
        </p:nvSpPr>
        <p:spPr>
          <a:xfrm>
            <a:off x="3989387" y="4819650"/>
            <a:ext cx="228600" cy="349200"/>
          </a:xfrm>
          <a:prstGeom prst="rect">
            <a:avLst/>
          </a:prstGeom>
          <a:noFill/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9"/>
          <p:cNvSpPr txBox="1"/>
          <p:nvPr/>
        </p:nvSpPr>
        <p:spPr>
          <a:xfrm>
            <a:off x="3303587" y="5168900"/>
            <a:ext cx="228600" cy="349200"/>
          </a:xfrm>
          <a:prstGeom prst="rect">
            <a:avLst/>
          </a:prstGeom>
          <a:noFill/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9"/>
          <p:cNvSpPr txBox="1"/>
          <p:nvPr/>
        </p:nvSpPr>
        <p:spPr>
          <a:xfrm>
            <a:off x="3303587" y="5518150"/>
            <a:ext cx="228600" cy="349200"/>
          </a:xfrm>
          <a:prstGeom prst="rect">
            <a:avLst/>
          </a:prstGeom>
          <a:solidFill>
            <a:srgbClr val="E06666"/>
          </a:solidFill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9"/>
          <p:cNvSpPr txBox="1"/>
          <p:nvPr/>
        </p:nvSpPr>
        <p:spPr>
          <a:xfrm>
            <a:off x="3532187" y="5168900"/>
            <a:ext cx="228600" cy="349200"/>
          </a:xfrm>
          <a:prstGeom prst="rect">
            <a:avLst/>
          </a:prstGeom>
          <a:noFill/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9"/>
          <p:cNvSpPr txBox="1"/>
          <p:nvPr/>
        </p:nvSpPr>
        <p:spPr>
          <a:xfrm>
            <a:off x="3532187" y="5518150"/>
            <a:ext cx="228600" cy="349200"/>
          </a:xfrm>
          <a:prstGeom prst="rect">
            <a:avLst/>
          </a:prstGeom>
          <a:noFill/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9"/>
          <p:cNvSpPr txBox="1"/>
          <p:nvPr/>
        </p:nvSpPr>
        <p:spPr>
          <a:xfrm>
            <a:off x="3989387" y="5168900"/>
            <a:ext cx="228600" cy="349200"/>
          </a:xfrm>
          <a:prstGeom prst="rect">
            <a:avLst/>
          </a:prstGeom>
          <a:solidFill>
            <a:srgbClr val="E06666"/>
          </a:solidFill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9"/>
          <p:cNvSpPr txBox="1"/>
          <p:nvPr/>
        </p:nvSpPr>
        <p:spPr>
          <a:xfrm>
            <a:off x="3760787" y="5518150"/>
            <a:ext cx="228600" cy="349200"/>
          </a:xfrm>
          <a:prstGeom prst="rect">
            <a:avLst/>
          </a:prstGeom>
          <a:noFill/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9"/>
          <p:cNvSpPr txBox="1"/>
          <p:nvPr/>
        </p:nvSpPr>
        <p:spPr>
          <a:xfrm>
            <a:off x="3989387" y="5518150"/>
            <a:ext cx="228600" cy="349200"/>
          </a:xfrm>
          <a:prstGeom prst="rect">
            <a:avLst/>
          </a:prstGeom>
          <a:noFill/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9"/>
          <p:cNvSpPr/>
          <p:nvPr/>
        </p:nvSpPr>
        <p:spPr>
          <a:xfrm>
            <a:off x="319925" y="2590650"/>
            <a:ext cx="1386600" cy="5490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Grupo de Bloques 0</a:t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8" name="Google Shape;728;p39"/>
          <p:cNvSpPr/>
          <p:nvPr/>
        </p:nvSpPr>
        <p:spPr>
          <a:xfrm>
            <a:off x="1706525" y="2590650"/>
            <a:ext cx="1386600" cy="5490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Grupo de Bloques 1</a:t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9" name="Google Shape;729;p39"/>
          <p:cNvSpPr/>
          <p:nvPr/>
        </p:nvSpPr>
        <p:spPr>
          <a:xfrm>
            <a:off x="3093125" y="2590650"/>
            <a:ext cx="1386600" cy="5490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Grupo de Bloques 2</a:t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0" name="Google Shape;730;p39"/>
          <p:cNvSpPr/>
          <p:nvPr/>
        </p:nvSpPr>
        <p:spPr>
          <a:xfrm>
            <a:off x="4479725" y="2590650"/>
            <a:ext cx="2638500" cy="549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...</a:t>
            </a:r>
            <a:endParaRPr sz="1800"/>
          </a:p>
        </p:txBody>
      </p:sp>
      <p:sp>
        <p:nvSpPr>
          <p:cNvPr id="731" name="Google Shape;731;p39"/>
          <p:cNvSpPr/>
          <p:nvPr/>
        </p:nvSpPr>
        <p:spPr>
          <a:xfrm>
            <a:off x="339150" y="3586250"/>
            <a:ext cx="1386600" cy="622800"/>
          </a:xfrm>
          <a:prstGeom prst="rect">
            <a:avLst/>
          </a:prstGeom>
          <a:solidFill>
            <a:srgbClr val="0B539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Superbloque</a:t>
            </a:r>
            <a:endParaRPr b="1" sz="1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2" name="Google Shape;732;p39"/>
          <p:cNvSpPr/>
          <p:nvPr/>
        </p:nvSpPr>
        <p:spPr>
          <a:xfrm>
            <a:off x="1729481" y="3586250"/>
            <a:ext cx="1420200" cy="622800"/>
          </a:xfrm>
          <a:prstGeom prst="rect">
            <a:avLst/>
          </a:prstGeom>
          <a:solidFill>
            <a:srgbClr val="3D85C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Descriptores de Grupo</a:t>
            </a:r>
            <a:endParaRPr b="1" sz="1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3" name="Google Shape;733;p39"/>
          <p:cNvSpPr/>
          <p:nvPr/>
        </p:nvSpPr>
        <p:spPr>
          <a:xfrm>
            <a:off x="3148903" y="3586250"/>
            <a:ext cx="1084800" cy="622800"/>
          </a:xfrm>
          <a:prstGeom prst="rect">
            <a:avLst/>
          </a:prstGeom>
          <a:solidFill>
            <a:srgbClr val="6FA8D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Mapa de Bloques</a:t>
            </a:r>
            <a:endParaRPr b="1" sz="1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4" name="Google Shape;734;p39"/>
          <p:cNvSpPr/>
          <p:nvPr/>
        </p:nvSpPr>
        <p:spPr>
          <a:xfrm>
            <a:off x="4236370" y="3586250"/>
            <a:ext cx="1001700" cy="622800"/>
          </a:xfrm>
          <a:prstGeom prst="rect">
            <a:avLst/>
          </a:prstGeom>
          <a:solidFill>
            <a:srgbClr val="45818E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Mapa de Inodos</a:t>
            </a:r>
            <a:endParaRPr b="1" sz="1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5" name="Google Shape;735;p39"/>
          <p:cNvSpPr/>
          <p:nvPr/>
        </p:nvSpPr>
        <p:spPr>
          <a:xfrm>
            <a:off x="5229425" y="3586250"/>
            <a:ext cx="1084800" cy="6228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Inter"/>
                <a:ea typeface="Inter"/>
                <a:cs typeface="Inter"/>
                <a:sym typeface="Inter"/>
              </a:rPr>
              <a:t>Tabla de Inodos</a:t>
            </a:r>
            <a:endParaRPr b="1" sz="1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6" name="Google Shape;736;p39"/>
          <p:cNvSpPr/>
          <p:nvPr/>
        </p:nvSpPr>
        <p:spPr>
          <a:xfrm>
            <a:off x="6309472" y="3586250"/>
            <a:ext cx="2713500" cy="6228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Inter"/>
                <a:ea typeface="Inter"/>
                <a:cs typeface="Inter"/>
                <a:sym typeface="Inter"/>
              </a:rPr>
              <a:t>Bloques de Datos</a:t>
            </a:r>
            <a:endParaRPr b="1" sz="15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37" name="Google Shape;737;p39"/>
          <p:cNvCxnSpPr>
            <a:stCxn id="728" idx="2"/>
          </p:cNvCxnSpPr>
          <p:nvPr/>
        </p:nvCxnSpPr>
        <p:spPr>
          <a:xfrm>
            <a:off x="2399825" y="3139650"/>
            <a:ext cx="2400" cy="44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8" name="Google Shape;738;p39"/>
          <p:cNvCxnSpPr>
            <a:stCxn id="734" idx="2"/>
            <a:endCxn id="716" idx="3"/>
          </p:cNvCxnSpPr>
          <p:nvPr/>
        </p:nvCxnSpPr>
        <p:spPr>
          <a:xfrm flipH="1">
            <a:off x="4217920" y="4209050"/>
            <a:ext cx="519300" cy="43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9" name="Google Shape;739;p39"/>
          <p:cNvSpPr txBox="1"/>
          <p:nvPr/>
        </p:nvSpPr>
        <p:spPr>
          <a:xfrm>
            <a:off x="4587825" y="4689200"/>
            <a:ext cx="4184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Mapa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bits que indica si el inodo o bloque está libre 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Alternativas: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Lista de bloques libres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B+tree de bloques libres por número de bloque y tamaño (ej. XFS)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0"/>
          <p:cNvSpPr/>
          <p:nvPr/>
        </p:nvSpPr>
        <p:spPr>
          <a:xfrm>
            <a:off x="1143000" y="6400800"/>
            <a:ext cx="3107100" cy="2922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40"/>
          <p:cNvSpPr/>
          <p:nvPr/>
        </p:nvSpPr>
        <p:spPr>
          <a:xfrm>
            <a:off x="1143000" y="3389475"/>
            <a:ext cx="3107100" cy="3163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40"/>
          <p:cNvSpPr/>
          <p:nvPr/>
        </p:nvSpPr>
        <p:spPr>
          <a:xfrm>
            <a:off x="1143000" y="3251200"/>
            <a:ext cx="3107100" cy="2922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40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40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Gestión de Bloques (I)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49" name="Google Shape;749;p40"/>
          <p:cNvSpPr txBox="1"/>
          <p:nvPr/>
        </p:nvSpPr>
        <p:spPr>
          <a:xfrm>
            <a:off x="0" y="793464"/>
            <a:ext cx="91440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Asignación Contigua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bloques de datos del fichero se asignan de forma contigua.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ácil a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cceso secuencial y aleatorio.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Fragmentación externa.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Aplicación: Medios de solo lectura, o con tamaños de ficheros conocidos.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Ejemplos: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CD-ROM (ISO9660), cintas (LFTS)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0" name="Google Shape;750;p40"/>
          <p:cNvSpPr txBox="1"/>
          <p:nvPr/>
        </p:nvSpPr>
        <p:spPr>
          <a:xfrm>
            <a:off x="1899975" y="3995675"/>
            <a:ext cx="420900" cy="4140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1" name="Google Shape;751;p40"/>
          <p:cNvSpPr txBox="1"/>
          <p:nvPr/>
        </p:nvSpPr>
        <p:spPr>
          <a:xfrm>
            <a:off x="1476598" y="3995675"/>
            <a:ext cx="420900" cy="4140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2" name="Google Shape;752;p40"/>
          <p:cNvSpPr txBox="1"/>
          <p:nvPr/>
        </p:nvSpPr>
        <p:spPr>
          <a:xfrm>
            <a:off x="2738175" y="3995675"/>
            <a:ext cx="420900" cy="4140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3" name="Google Shape;753;p40"/>
          <p:cNvSpPr txBox="1"/>
          <p:nvPr/>
        </p:nvSpPr>
        <p:spPr>
          <a:xfrm>
            <a:off x="2314798" y="3995675"/>
            <a:ext cx="420900" cy="4140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4" name="Google Shape;754;p40"/>
          <p:cNvSpPr txBox="1"/>
          <p:nvPr/>
        </p:nvSpPr>
        <p:spPr>
          <a:xfrm>
            <a:off x="3576375" y="3995675"/>
            <a:ext cx="420900" cy="4140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5" name="Google Shape;755;p40"/>
          <p:cNvSpPr txBox="1"/>
          <p:nvPr/>
        </p:nvSpPr>
        <p:spPr>
          <a:xfrm>
            <a:off x="3152998" y="3995675"/>
            <a:ext cx="420900" cy="4140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6" name="Google Shape;756;p40"/>
          <p:cNvSpPr txBox="1"/>
          <p:nvPr/>
        </p:nvSpPr>
        <p:spPr>
          <a:xfrm>
            <a:off x="1899975" y="4410498"/>
            <a:ext cx="420900" cy="4140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7" name="Google Shape;757;p40"/>
          <p:cNvSpPr txBox="1"/>
          <p:nvPr/>
        </p:nvSpPr>
        <p:spPr>
          <a:xfrm>
            <a:off x="1476598" y="4410498"/>
            <a:ext cx="420900" cy="4140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8" name="Google Shape;758;p40"/>
          <p:cNvSpPr txBox="1"/>
          <p:nvPr/>
        </p:nvSpPr>
        <p:spPr>
          <a:xfrm>
            <a:off x="2738175" y="4410498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9" name="Google Shape;759;p40"/>
          <p:cNvSpPr txBox="1"/>
          <p:nvPr/>
        </p:nvSpPr>
        <p:spPr>
          <a:xfrm>
            <a:off x="2314798" y="4410498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0" name="Google Shape;760;p40"/>
          <p:cNvSpPr txBox="1"/>
          <p:nvPr/>
        </p:nvSpPr>
        <p:spPr>
          <a:xfrm>
            <a:off x="3576375" y="4410498"/>
            <a:ext cx="420900" cy="414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1" name="Google Shape;761;p40"/>
          <p:cNvSpPr txBox="1"/>
          <p:nvPr/>
        </p:nvSpPr>
        <p:spPr>
          <a:xfrm>
            <a:off x="3152998" y="4410498"/>
            <a:ext cx="420900" cy="414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2" name="Google Shape;762;p40"/>
          <p:cNvSpPr txBox="1"/>
          <p:nvPr/>
        </p:nvSpPr>
        <p:spPr>
          <a:xfrm>
            <a:off x="1899975" y="5243126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3" name="Google Shape;763;p40"/>
          <p:cNvSpPr txBox="1"/>
          <p:nvPr/>
        </p:nvSpPr>
        <p:spPr>
          <a:xfrm>
            <a:off x="1476598" y="5243126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4" name="Google Shape;764;p40"/>
          <p:cNvSpPr txBox="1"/>
          <p:nvPr/>
        </p:nvSpPr>
        <p:spPr>
          <a:xfrm>
            <a:off x="2738175" y="5243126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5" name="Google Shape;765;p40"/>
          <p:cNvSpPr txBox="1"/>
          <p:nvPr/>
        </p:nvSpPr>
        <p:spPr>
          <a:xfrm>
            <a:off x="2314798" y="5243126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6" name="Google Shape;766;p40"/>
          <p:cNvSpPr txBox="1"/>
          <p:nvPr/>
        </p:nvSpPr>
        <p:spPr>
          <a:xfrm>
            <a:off x="3576375" y="5243126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7" name="Google Shape;767;p40"/>
          <p:cNvSpPr txBox="1"/>
          <p:nvPr/>
        </p:nvSpPr>
        <p:spPr>
          <a:xfrm>
            <a:off x="3152998" y="5243126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8" name="Google Shape;768;p40"/>
          <p:cNvSpPr txBox="1"/>
          <p:nvPr/>
        </p:nvSpPr>
        <p:spPr>
          <a:xfrm>
            <a:off x="1899975" y="5657949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9" name="Google Shape;769;p40"/>
          <p:cNvSpPr txBox="1"/>
          <p:nvPr/>
        </p:nvSpPr>
        <p:spPr>
          <a:xfrm>
            <a:off x="1476598" y="5657949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0" name="Google Shape;770;p40"/>
          <p:cNvSpPr txBox="1"/>
          <p:nvPr/>
        </p:nvSpPr>
        <p:spPr>
          <a:xfrm>
            <a:off x="2738175" y="5657949"/>
            <a:ext cx="420900" cy="414000"/>
          </a:xfrm>
          <a:prstGeom prst="rect">
            <a:avLst/>
          </a:prstGeom>
          <a:solidFill>
            <a:srgbClr val="E69138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27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1" name="Google Shape;771;p40"/>
          <p:cNvSpPr txBox="1"/>
          <p:nvPr/>
        </p:nvSpPr>
        <p:spPr>
          <a:xfrm>
            <a:off x="2314798" y="5657949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2" name="Google Shape;772;p40"/>
          <p:cNvSpPr txBox="1"/>
          <p:nvPr/>
        </p:nvSpPr>
        <p:spPr>
          <a:xfrm>
            <a:off x="3576375" y="5657949"/>
            <a:ext cx="420900" cy="414000"/>
          </a:xfrm>
          <a:prstGeom prst="rect">
            <a:avLst/>
          </a:prstGeom>
          <a:solidFill>
            <a:srgbClr val="E69138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29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3" name="Google Shape;773;p40"/>
          <p:cNvSpPr txBox="1"/>
          <p:nvPr/>
        </p:nvSpPr>
        <p:spPr>
          <a:xfrm>
            <a:off x="3152998" y="5657949"/>
            <a:ext cx="420900" cy="414000"/>
          </a:xfrm>
          <a:prstGeom prst="rect">
            <a:avLst/>
          </a:prstGeom>
          <a:solidFill>
            <a:srgbClr val="E69138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28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4" name="Google Shape;774;p40"/>
          <p:cNvSpPr txBox="1"/>
          <p:nvPr/>
        </p:nvSpPr>
        <p:spPr>
          <a:xfrm>
            <a:off x="1899975" y="6072772"/>
            <a:ext cx="420900" cy="414000"/>
          </a:xfrm>
          <a:prstGeom prst="rect">
            <a:avLst/>
          </a:prstGeom>
          <a:solidFill>
            <a:srgbClr val="E69138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5" name="Google Shape;775;p40"/>
          <p:cNvSpPr txBox="1"/>
          <p:nvPr/>
        </p:nvSpPr>
        <p:spPr>
          <a:xfrm>
            <a:off x="1476598" y="6072772"/>
            <a:ext cx="420900" cy="414000"/>
          </a:xfrm>
          <a:prstGeom prst="rect">
            <a:avLst/>
          </a:prstGeom>
          <a:solidFill>
            <a:srgbClr val="E69138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6" name="Google Shape;776;p40"/>
          <p:cNvSpPr txBox="1"/>
          <p:nvPr/>
        </p:nvSpPr>
        <p:spPr>
          <a:xfrm>
            <a:off x="2738175" y="6072772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7" name="Google Shape;777;p40"/>
          <p:cNvSpPr txBox="1"/>
          <p:nvPr/>
        </p:nvSpPr>
        <p:spPr>
          <a:xfrm>
            <a:off x="2314798" y="6072772"/>
            <a:ext cx="420900" cy="414000"/>
          </a:xfrm>
          <a:prstGeom prst="rect">
            <a:avLst/>
          </a:prstGeom>
          <a:solidFill>
            <a:srgbClr val="E69138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8" name="Google Shape;778;p40"/>
          <p:cNvSpPr txBox="1"/>
          <p:nvPr/>
        </p:nvSpPr>
        <p:spPr>
          <a:xfrm>
            <a:off x="3576375" y="6072772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9" name="Google Shape;779;p40"/>
          <p:cNvSpPr txBox="1"/>
          <p:nvPr/>
        </p:nvSpPr>
        <p:spPr>
          <a:xfrm>
            <a:off x="3152998" y="6072772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0" name="Google Shape;780;p40"/>
          <p:cNvSpPr txBox="1"/>
          <p:nvPr/>
        </p:nvSpPr>
        <p:spPr>
          <a:xfrm>
            <a:off x="1899975" y="4825321"/>
            <a:ext cx="420900" cy="414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1" name="Google Shape;781;p40"/>
          <p:cNvSpPr txBox="1"/>
          <p:nvPr/>
        </p:nvSpPr>
        <p:spPr>
          <a:xfrm>
            <a:off x="1476598" y="4825321"/>
            <a:ext cx="420900" cy="414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2" name="Google Shape;782;p40"/>
          <p:cNvSpPr txBox="1"/>
          <p:nvPr/>
        </p:nvSpPr>
        <p:spPr>
          <a:xfrm>
            <a:off x="2738175" y="4825321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3" name="Google Shape;783;p40"/>
          <p:cNvSpPr txBox="1"/>
          <p:nvPr/>
        </p:nvSpPr>
        <p:spPr>
          <a:xfrm>
            <a:off x="2314798" y="4825321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4" name="Google Shape;784;p40"/>
          <p:cNvSpPr txBox="1"/>
          <p:nvPr/>
        </p:nvSpPr>
        <p:spPr>
          <a:xfrm>
            <a:off x="3576375" y="4825321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5" name="Google Shape;785;p40"/>
          <p:cNvSpPr txBox="1"/>
          <p:nvPr/>
        </p:nvSpPr>
        <p:spPr>
          <a:xfrm>
            <a:off x="3152998" y="4825321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86" name="Google Shape;786;p40"/>
          <p:cNvGraphicFramePr/>
          <p:nvPr/>
        </p:nvGraphicFramePr>
        <p:xfrm>
          <a:off x="4389875" y="3878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{22EF096E-7B61-4A85-9FDA-B53D0E27F26A}</a:tableStyleId>
              </a:tblPr>
              <a:tblGrid>
                <a:gridCol w="1023450"/>
                <a:gridCol w="1835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Fichero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Bloques Físicos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archivo.1</a:t>
                      </a:r>
                      <a:endParaRPr sz="1300">
                        <a:solidFill>
                          <a:srgbClr val="CC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0,1,2,3,4,5,6,7</a:t>
                      </a:r>
                      <a:endParaRPr sz="1300">
                        <a:solidFill>
                          <a:srgbClr val="CC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archivo.2</a:t>
                      </a:r>
                      <a:endParaRPr sz="13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10,11,12,13</a:t>
                      </a:r>
                      <a:endParaRPr sz="13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3D85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archivo.3</a:t>
                      </a:r>
                      <a:endParaRPr sz="1300">
                        <a:solidFill>
                          <a:srgbClr val="3D85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3D85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14,15,16,17,18,19</a:t>
                      </a:r>
                      <a:endParaRPr sz="1300">
                        <a:solidFill>
                          <a:srgbClr val="3D85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E691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archivo.4</a:t>
                      </a:r>
                      <a:endParaRPr sz="1300">
                        <a:solidFill>
                          <a:srgbClr val="E69138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E691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27,28,29,30,31,32</a:t>
                      </a:r>
                      <a:endParaRPr sz="1300">
                        <a:solidFill>
                          <a:srgbClr val="E69138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7" name="Google Shape;787;p40"/>
          <p:cNvSpPr txBox="1"/>
          <p:nvPr/>
        </p:nvSpPr>
        <p:spPr>
          <a:xfrm>
            <a:off x="1143000" y="3567275"/>
            <a:ext cx="310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Disco. Bloques Físicos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88" name="Google Shape;788;p40"/>
          <p:cNvCxnSpPr>
            <a:stCxn id="746" idx="2"/>
            <a:endCxn id="744" idx="2"/>
          </p:cNvCxnSpPr>
          <p:nvPr/>
        </p:nvCxnSpPr>
        <p:spPr>
          <a:xfrm>
            <a:off x="1143000" y="3397300"/>
            <a:ext cx="0" cy="31497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40"/>
          <p:cNvCxnSpPr>
            <a:stCxn id="746" idx="6"/>
            <a:endCxn id="744" idx="6"/>
          </p:cNvCxnSpPr>
          <p:nvPr/>
        </p:nvCxnSpPr>
        <p:spPr>
          <a:xfrm>
            <a:off x="4250100" y="3397300"/>
            <a:ext cx="0" cy="31497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1"/>
          <p:cNvSpPr txBox="1"/>
          <p:nvPr/>
        </p:nvSpPr>
        <p:spPr>
          <a:xfrm>
            <a:off x="0" y="729975"/>
            <a:ext cx="91440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Bloques Enlazados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bloques que constituyen el fichero se almacenan como una lista enlazada.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Sin fragmentaci</a:t>
            </a:r>
            <a:r>
              <a:rPr b="1" lang="es" sz="1600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ón externa</a:t>
            </a:r>
            <a:endParaRPr b="1" sz="1600">
              <a:solidFill>
                <a:srgbClr val="6AA8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Asignación dinámica simple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pero </a:t>
            </a:r>
            <a:r>
              <a:rPr b="1" lang="es" sz="16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sin localidad</a:t>
            </a:r>
            <a:endParaRPr b="1" sz="1600">
              <a:solidFill>
                <a:srgbClr val="CC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tabla FAT es un </a:t>
            </a:r>
            <a:r>
              <a:rPr b="1" lang="es" sz="16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único punto de fallo</a:t>
            </a:r>
            <a:endParaRPr b="1" sz="1600">
              <a:solidFill>
                <a:srgbClr val="CC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Aplicación: USBs (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escala para discos grandes)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Ejemplo: FAT16, FAT32.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41"/>
          <p:cNvSpPr/>
          <p:nvPr/>
        </p:nvSpPr>
        <p:spPr>
          <a:xfrm>
            <a:off x="5854700" y="5359400"/>
            <a:ext cx="3107100" cy="2922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41"/>
          <p:cNvSpPr/>
          <p:nvPr/>
        </p:nvSpPr>
        <p:spPr>
          <a:xfrm>
            <a:off x="5854700" y="2805275"/>
            <a:ext cx="3107100" cy="2709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41"/>
          <p:cNvSpPr/>
          <p:nvPr/>
        </p:nvSpPr>
        <p:spPr>
          <a:xfrm>
            <a:off x="5854700" y="2679700"/>
            <a:ext cx="3107100" cy="2922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41"/>
          <p:cNvSpPr/>
          <p:nvPr/>
        </p:nvSpPr>
        <p:spPr>
          <a:xfrm>
            <a:off x="3871200" y="3128825"/>
            <a:ext cx="1532400" cy="3594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41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41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Gestión de Bloques (II)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01" name="Google Shape;801;p41"/>
          <p:cNvSpPr txBox="1"/>
          <p:nvPr/>
        </p:nvSpPr>
        <p:spPr>
          <a:xfrm>
            <a:off x="6548175" y="3898287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2" name="Google Shape;802;p41"/>
          <p:cNvSpPr txBox="1"/>
          <p:nvPr/>
        </p:nvSpPr>
        <p:spPr>
          <a:xfrm>
            <a:off x="6124798" y="3898287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3" name="Google Shape;803;p41"/>
          <p:cNvSpPr txBox="1"/>
          <p:nvPr/>
        </p:nvSpPr>
        <p:spPr>
          <a:xfrm>
            <a:off x="7386375" y="3898287"/>
            <a:ext cx="420900" cy="414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4" name="Google Shape;804;p41"/>
          <p:cNvSpPr txBox="1"/>
          <p:nvPr/>
        </p:nvSpPr>
        <p:spPr>
          <a:xfrm>
            <a:off x="6962998" y="3898287"/>
            <a:ext cx="420900" cy="4140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5" name="Google Shape;805;p41"/>
          <p:cNvSpPr txBox="1"/>
          <p:nvPr/>
        </p:nvSpPr>
        <p:spPr>
          <a:xfrm>
            <a:off x="8224575" y="3898287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6" name="Google Shape;806;p41"/>
          <p:cNvSpPr txBox="1"/>
          <p:nvPr/>
        </p:nvSpPr>
        <p:spPr>
          <a:xfrm>
            <a:off x="7801198" y="3898287"/>
            <a:ext cx="420900" cy="4140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7" name="Google Shape;807;p41"/>
          <p:cNvSpPr txBox="1"/>
          <p:nvPr/>
        </p:nvSpPr>
        <p:spPr>
          <a:xfrm>
            <a:off x="6548175" y="4313110"/>
            <a:ext cx="420900" cy="414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8" name="Google Shape;808;p41"/>
          <p:cNvSpPr txBox="1"/>
          <p:nvPr/>
        </p:nvSpPr>
        <p:spPr>
          <a:xfrm>
            <a:off x="6124798" y="4313110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9" name="Google Shape;809;p41"/>
          <p:cNvSpPr txBox="1"/>
          <p:nvPr/>
        </p:nvSpPr>
        <p:spPr>
          <a:xfrm>
            <a:off x="7386375" y="4313110"/>
            <a:ext cx="420900" cy="4140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0" name="Google Shape;810;p41"/>
          <p:cNvSpPr txBox="1"/>
          <p:nvPr/>
        </p:nvSpPr>
        <p:spPr>
          <a:xfrm>
            <a:off x="6962998" y="4313110"/>
            <a:ext cx="420900" cy="4140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1" name="Google Shape;811;p41"/>
          <p:cNvSpPr txBox="1"/>
          <p:nvPr/>
        </p:nvSpPr>
        <p:spPr>
          <a:xfrm>
            <a:off x="8224575" y="4313110"/>
            <a:ext cx="420900" cy="4140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2" name="Google Shape;812;p41"/>
          <p:cNvSpPr txBox="1"/>
          <p:nvPr/>
        </p:nvSpPr>
        <p:spPr>
          <a:xfrm>
            <a:off x="7801198" y="4313110"/>
            <a:ext cx="420900" cy="4140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3" name="Google Shape;813;p41"/>
          <p:cNvSpPr txBox="1"/>
          <p:nvPr/>
        </p:nvSpPr>
        <p:spPr>
          <a:xfrm>
            <a:off x="6548175" y="4727933"/>
            <a:ext cx="420900" cy="414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4" name="Google Shape;814;p41"/>
          <p:cNvSpPr txBox="1"/>
          <p:nvPr/>
        </p:nvSpPr>
        <p:spPr>
          <a:xfrm>
            <a:off x="6124798" y="4727933"/>
            <a:ext cx="420900" cy="414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5" name="Google Shape;815;p41"/>
          <p:cNvSpPr txBox="1"/>
          <p:nvPr/>
        </p:nvSpPr>
        <p:spPr>
          <a:xfrm>
            <a:off x="7386375" y="4727933"/>
            <a:ext cx="420900" cy="414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00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6" name="Google Shape;816;p41"/>
          <p:cNvSpPr txBox="1"/>
          <p:nvPr/>
        </p:nvSpPr>
        <p:spPr>
          <a:xfrm>
            <a:off x="6962998" y="4727933"/>
            <a:ext cx="420900" cy="414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sz="1600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7" name="Google Shape;817;p41"/>
          <p:cNvSpPr txBox="1"/>
          <p:nvPr/>
        </p:nvSpPr>
        <p:spPr>
          <a:xfrm>
            <a:off x="8224575" y="4727933"/>
            <a:ext cx="420900" cy="414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sz="1600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8" name="Google Shape;818;p41"/>
          <p:cNvSpPr txBox="1"/>
          <p:nvPr/>
        </p:nvSpPr>
        <p:spPr>
          <a:xfrm>
            <a:off x="7801198" y="4727933"/>
            <a:ext cx="420900" cy="414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sz="1600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19" name="Google Shape;819;p41"/>
          <p:cNvGraphicFramePr/>
          <p:nvPr/>
        </p:nvGraphicFramePr>
        <p:xfrm>
          <a:off x="305809" y="36864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{22EF096E-7B61-4A85-9FDA-B53D0E27F26A}</a:tableStyleId>
              </a:tblPr>
              <a:tblGrid>
                <a:gridCol w="1099500"/>
                <a:gridCol w="1321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Entradas de directorio</a:t>
                      </a:r>
                      <a:endParaRPr b="1" sz="15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Nombre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Primer Bloque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archivo.1</a:t>
                      </a:r>
                      <a:endParaRPr sz="1300">
                        <a:solidFill>
                          <a:srgbClr val="CC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 sz="1300">
                        <a:solidFill>
                          <a:srgbClr val="CC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archivo.2</a:t>
                      </a:r>
                      <a:endParaRPr sz="13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3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0" name="Google Shape;820;p41"/>
          <p:cNvSpPr txBox="1"/>
          <p:nvPr/>
        </p:nvSpPr>
        <p:spPr>
          <a:xfrm>
            <a:off x="6124810" y="3489037"/>
            <a:ext cx="2520600" cy="414000"/>
          </a:xfrm>
          <a:prstGeom prst="rect">
            <a:avLst/>
          </a:prstGeom>
          <a:solidFill>
            <a:srgbClr val="45818E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File Allocation Table (FAT)</a:t>
            </a:r>
            <a:endParaRPr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21" name="Google Shape;821;p41"/>
          <p:cNvCxnSpPr>
            <a:endCxn id="798" idx="2"/>
          </p:cNvCxnSpPr>
          <p:nvPr/>
        </p:nvCxnSpPr>
        <p:spPr>
          <a:xfrm>
            <a:off x="4626900" y="3121025"/>
            <a:ext cx="10500" cy="360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41"/>
          <p:cNvCxnSpPr/>
          <p:nvPr/>
        </p:nvCxnSpPr>
        <p:spPr>
          <a:xfrm flipH="1" rot="10800000">
            <a:off x="3885325" y="3446675"/>
            <a:ext cx="1518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41"/>
          <p:cNvCxnSpPr>
            <a:endCxn id="824" idx="1"/>
          </p:cNvCxnSpPr>
          <p:nvPr/>
        </p:nvCxnSpPr>
        <p:spPr>
          <a:xfrm flipH="1" rot="10800000">
            <a:off x="2358825" y="4072962"/>
            <a:ext cx="1602000" cy="5142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25" name="Google Shape;825;p41"/>
          <p:cNvSpPr/>
          <p:nvPr/>
        </p:nvSpPr>
        <p:spPr>
          <a:xfrm>
            <a:off x="4570425" y="3969312"/>
            <a:ext cx="459000" cy="207300"/>
          </a:xfrm>
          <a:prstGeom prst="rect">
            <a:avLst/>
          </a:prstGeom>
          <a:solidFill>
            <a:srgbClr val="CC0000">
              <a:alpha val="1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41"/>
          <p:cNvSpPr/>
          <p:nvPr/>
        </p:nvSpPr>
        <p:spPr>
          <a:xfrm>
            <a:off x="4570425" y="4395663"/>
            <a:ext cx="459000" cy="207300"/>
          </a:xfrm>
          <a:prstGeom prst="rect">
            <a:avLst/>
          </a:prstGeom>
          <a:solidFill>
            <a:srgbClr val="CC0000">
              <a:alpha val="1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41"/>
          <p:cNvSpPr/>
          <p:nvPr/>
        </p:nvSpPr>
        <p:spPr>
          <a:xfrm>
            <a:off x="4570425" y="5240926"/>
            <a:ext cx="459000" cy="207300"/>
          </a:xfrm>
          <a:prstGeom prst="rect">
            <a:avLst/>
          </a:prstGeom>
          <a:solidFill>
            <a:srgbClr val="CC0000">
              <a:alpha val="1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41"/>
          <p:cNvSpPr/>
          <p:nvPr/>
        </p:nvSpPr>
        <p:spPr>
          <a:xfrm>
            <a:off x="4570425" y="5462463"/>
            <a:ext cx="459000" cy="207300"/>
          </a:xfrm>
          <a:prstGeom prst="rect">
            <a:avLst/>
          </a:prstGeom>
          <a:solidFill>
            <a:srgbClr val="CC0000">
              <a:alpha val="1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41"/>
          <p:cNvSpPr/>
          <p:nvPr/>
        </p:nvSpPr>
        <p:spPr>
          <a:xfrm>
            <a:off x="4570425" y="5676922"/>
            <a:ext cx="459000" cy="207300"/>
          </a:xfrm>
          <a:prstGeom prst="rect">
            <a:avLst/>
          </a:prstGeom>
          <a:solidFill>
            <a:srgbClr val="CC0000">
              <a:alpha val="1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41"/>
          <p:cNvSpPr/>
          <p:nvPr/>
        </p:nvSpPr>
        <p:spPr>
          <a:xfrm>
            <a:off x="4570437" y="5891377"/>
            <a:ext cx="459000" cy="207300"/>
          </a:xfrm>
          <a:prstGeom prst="rect">
            <a:avLst/>
          </a:prstGeom>
          <a:solidFill>
            <a:srgbClr val="CC0000">
              <a:alpha val="1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1" name="Google Shape;831;p41"/>
          <p:cNvCxnSpPr>
            <a:stCxn id="825" idx="3"/>
            <a:endCxn id="826" idx="3"/>
          </p:cNvCxnSpPr>
          <p:nvPr/>
        </p:nvCxnSpPr>
        <p:spPr>
          <a:xfrm>
            <a:off x="5029425" y="4072962"/>
            <a:ext cx="600" cy="4263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2" name="Google Shape;832;p41"/>
          <p:cNvCxnSpPr>
            <a:stCxn id="826" idx="1"/>
            <a:endCxn id="828" idx="1"/>
          </p:cNvCxnSpPr>
          <p:nvPr/>
        </p:nvCxnSpPr>
        <p:spPr>
          <a:xfrm>
            <a:off x="4570425" y="4499313"/>
            <a:ext cx="600" cy="1066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3" name="Google Shape;833;p41"/>
          <p:cNvCxnSpPr>
            <a:stCxn id="828" idx="3"/>
            <a:endCxn id="829" idx="3"/>
          </p:cNvCxnSpPr>
          <p:nvPr/>
        </p:nvCxnSpPr>
        <p:spPr>
          <a:xfrm>
            <a:off x="5029425" y="5566113"/>
            <a:ext cx="600" cy="2145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4" name="Google Shape;834;p41"/>
          <p:cNvCxnSpPr>
            <a:stCxn id="829" idx="1"/>
            <a:endCxn id="830" idx="1"/>
          </p:cNvCxnSpPr>
          <p:nvPr/>
        </p:nvCxnSpPr>
        <p:spPr>
          <a:xfrm>
            <a:off x="4570425" y="5780572"/>
            <a:ext cx="600" cy="2145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5" name="Google Shape;835;p41"/>
          <p:cNvCxnSpPr>
            <a:stCxn id="830" idx="3"/>
            <a:endCxn id="827" idx="3"/>
          </p:cNvCxnSpPr>
          <p:nvPr/>
        </p:nvCxnSpPr>
        <p:spPr>
          <a:xfrm flipH="1" rot="10800000">
            <a:off x="5029437" y="5344627"/>
            <a:ext cx="600" cy="650400"/>
          </a:xfrm>
          <a:prstGeom prst="bentConnector3">
            <a:avLst>
              <a:gd fmla="val 52985578" name="adj1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4" name="Google Shape;824;p41"/>
          <p:cNvSpPr/>
          <p:nvPr/>
        </p:nvSpPr>
        <p:spPr>
          <a:xfrm>
            <a:off x="3960825" y="3969312"/>
            <a:ext cx="459000" cy="207300"/>
          </a:xfrm>
          <a:prstGeom prst="rect">
            <a:avLst/>
          </a:prstGeom>
          <a:solidFill>
            <a:srgbClr val="CC0000">
              <a:alpha val="1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6" name="Google Shape;836;p41"/>
          <p:cNvCxnSpPr>
            <a:stCxn id="824" idx="3"/>
            <a:endCxn id="825" idx="1"/>
          </p:cNvCxnSpPr>
          <p:nvPr/>
        </p:nvCxnSpPr>
        <p:spPr>
          <a:xfrm>
            <a:off x="4419825" y="4072962"/>
            <a:ext cx="150600" cy="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7" name="Google Shape;837;p41"/>
          <p:cNvSpPr txBox="1"/>
          <p:nvPr/>
        </p:nvSpPr>
        <p:spPr>
          <a:xfrm>
            <a:off x="3902850" y="3098400"/>
            <a:ext cx="1629900" cy="3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Bloque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Estado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     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FREE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     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FREE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1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s">
                <a:solidFill>
                  <a:srgbClr val="6AA84F"/>
                </a:solidFill>
              </a:rPr>
              <a:t>13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1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     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FREE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     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FREE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      </a:t>
            </a:r>
            <a:r>
              <a:rPr b="1" lang="es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BAD</a:t>
            </a:r>
            <a:endParaRPr b="1">
              <a:solidFill>
                <a:srgbClr val="A64D7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EOF</a:t>
            </a:r>
            <a:endParaRPr b="1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1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1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1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     </a:t>
            </a:r>
            <a:r>
              <a:rPr b="1" lang="es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BAD</a:t>
            </a:r>
            <a:endParaRPr b="1">
              <a:solidFill>
                <a:srgbClr val="A64D7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1" lang="es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EOF</a:t>
            </a:r>
            <a:endParaRPr b="1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8" name="Google Shape;838;p41"/>
          <p:cNvCxnSpPr>
            <a:stCxn id="797" idx="2"/>
            <a:endCxn id="795" idx="2"/>
          </p:cNvCxnSpPr>
          <p:nvPr/>
        </p:nvCxnSpPr>
        <p:spPr>
          <a:xfrm>
            <a:off x="5854700" y="2825800"/>
            <a:ext cx="0" cy="267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41"/>
          <p:cNvCxnSpPr>
            <a:stCxn id="797" idx="6"/>
            <a:endCxn id="795" idx="6"/>
          </p:cNvCxnSpPr>
          <p:nvPr/>
        </p:nvCxnSpPr>
        <p:spPr>
          <a:xfrm>
            <a:off x="8961800" y="2825800"/>
            <a:ext cx="0" cy="267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41"/>
          <p:cNvCxnSpPr>
            <a:stCxn id="820" idx="1"/>
          </p:cNvCxnSpPr>
          <p:nvPr/>
        </p:nvCxnSpPr>
        <p:spPr>
          <a:xfrm rot="10800000">
            <a:off x="5234110" y="3696037"/>
            <a:ext cx="8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1" name="Google Shape;841;p41"/>
          <p:cNvSpPr txBox="1"/>
          <p:nvPr/>
        </p:nvSpPr>
        <p:spPr>
          <a:xfrm>
            <a:off x="5867400" y="3084675"/>
            <a:ext cx="310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Disco. Bloques Físicos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2" name="Google Shape;842;p41"/>
          <p:cNvSpPr txBox="1"/>
          <p:nvPr/>
        </p:nvSpPr>
        <p:spPr>
          <a:xfrm>
            <a:off x="289596" y="5514274"/>
            <a:ext cx="3291300" cy="1169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acceso a un byte en el fichero consiste en determinar el bloque en el que se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encuentra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y recorrer la lista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2"/>
          <p:cNvSpPr/>
          <p:nvPr/>
        </p:nvSpPr>
        <p:spPr>
          <a:xfrm>
            <a:off x="68750" y="2990700"/>
            <a:ext cx="8894700" cy="3721200"/>
          </a:xfrm>
          <a:prstGeom prst="roundRect">
            <a:avLst>
              <a:gd fmla="val 1389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42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42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Gestión de Bloques (VI)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50" name="Google Shape;850;p42"/>
          <p:cNvSpPr txBox="1"/>
          <p:nvPr/>
        </p:nvSpPr>
        <p:spPr>
          <a:xfrm>
            <a:off x="0" y="793464"/>
            <a:ext cx="91440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Árboles Balanceados de Bloques B+tree. ext4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Árbol de hasta 5 niveles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inodo guarda hasta 4 extents sin necesidad de crear el árbol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estructura </a:t>
            </a:r>
            <a:r>
              <a:rPr lang="e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extent ocupa 12 bytes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Para bloques de 4K se pueden guardar hasta 4096/12 ~ 340 extents por bloque.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extents ocupan hasta 128 MB como máximo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1" name="Google Shape;851;p42"/>
          <p:cNvSpPr txBox="1"/>
          <p:nvPr/>
        </p:nvSpPr>
        <p:spPr>
          <a:xfrm>
            <a:off x="189650" y="3972700"/>
            <a:ext cx="5439300" cy="169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sudo debugfs -R "dump_extents &lt;11417350&gt;" /dev/sda1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debugfs 1.47.2 (1-Jan-2025)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Level Entries       Logical    Physical Length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0/ 0   1/  4   768 -   768  322 -  322     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0/ 0   2/  4  1536 -  1536  455 -  455     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0/ 0   3/  4  2304 -  2304  562 -  562     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0/ 0   4/  4  3072 -  3072  564 -  564     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2" name="Google Shape;852;p42"/>
          <p:cNvSpPr txBox="1"/>
          <p:nvPr/>
        </p:nvSpPr>
        <p:spPr>
          <a:xfrm>
            <a:off x="76200" y="3045100"/>
            <a:ext cx="87585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Archivo con 4 secciones de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 Kbytes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escritas cada 1Mbyte (extents = 1 bloque)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3" name="Google Shape;853;p42"/>
          <p:cNvSpPr txBox="1"/>
          <p:nvPr/>
        </p:nvSpPr>
        <p:spPr>
          <a:xfrm>
            <a:off x="6295658" y="4087723"/>
            <a:ext cx="1653000" cy="2211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inode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4" name="Google Shape;854;p42"/>
          <p:cNvSpPr txBox="1"/>
          <p:nvPr/>
        </p:nvSpPr>
        <p:spPr>
          <a:xfrm>
            <a:off x="6295656" y="4312998"/>
            <a:ext cx="1653000" cy="113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5" name="Google Shape;855;p42"/>
          <p:cNvSpPr txBox="1"/>
          <p:nvPr/>
        </p:nvSpPr>
        <p:spPr>
          <a:xfrm>
            <a:off x="6295656" y="4426398"/>
            <a:ext cx="1653000" cy="113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6" name="Google Shape;856;p42"/>
          <p:cNvSpPr txBox="1"/>
          <p:nvPr/>
        </p:nvSpPr>
        <p:spPr>
          <a:xfrm>
            <a:off x="6295650" y="4530851"/>
            <a:ext cx="1653000" cy="2211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[768 - 768] 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7" name="Google Shape;857;p42"/>
          <p:cNvSpPr txBox="1"/>
          <p:nvPr/>
        </p:nvSpPr>
        <p:spPr>
          <a:xfrm>
            <a:off x="6295650" y="4749711"/>
            <a:ext cx="1653000" cy="2211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[1532 - 1532] 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8" name="Google Shape;858;p42"/>
          <p:cNvSpPr txBox="1"/>
          <p:nvPr/>
        </p:nvSpPr>
        <p:spPr>
          <a:xfrm>
            <a:off x="6295650" y="4970863"/>
            <a:ext cx="1653000" cy="2211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[2304 - 2304] 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9" name="Google Shape;859;p42"/>
          <p:cNvSpPr txBox="1"/>
          <p:nvPr/>
        </p:nvSpPr>
        <p:spPr>
          <a:xfrm>
            <a:off x="6295650" y="5189723"/>
            <a:ext cx="1653000" cy="2211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[3072 - 3072] 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0" name="Google Shape;860;p42"/>
          <p:cNvSpPr/>
          <p:nvPr/>
        </p:nvSpPr>
        <p:spPr>
          <a:xfrm>
            <a:off x="4414463" y="6207569"/>
            <a:ext cx="768000" cy="260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2"/>
          <p:cNvSpPr/>
          <p:nvPr/>
        </p:nvSpPr>
        <p:spPr>
          <a:xfrm>
            <a:off x="5182463" y="62075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455</a:t>
            </a:r>
            <a:endParaRPr/>
          </a:p>
        </p:txBody>
      </p:sp>
      <p:sp>
        <p:nvSpPr>
          <p:cNvPr id="862" name="Google Shape;862;p42"/>
          <p:cNvSpPr/>
          <p:nvPr/>
        </p:nvSpPr>
        <p:spPr>
          <a:xfrm>
            <a:off x="5950463" y="6207569"/>
            <a:ext cx="768000" cy="260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42"/>
          <p:cNvSpPr/>
          <p:nvPr/>
        </p:nvSpPr>
        <p:spPr>
          <a:xfrm>
            <a:off x="6723630" y="62075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562</a:t>
            </a:r>
            <a:endParaRPr/>
          </a:p>
        </p:txBody>
      </p:sp>
      <p:sp>
        <p:nvSpPr>
          <p:cNvPr id="864" name="Google Shape;864;p42"/>
          <p:cNvSpPr/>
          <p:nvPr/>
        </p:nvSpPr>
        <p:spPr>
          <a:xfrm>
            <a:off x="7856588" y="62075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564</a:t>
            </a:r>
            <a:endParaRPr/>
          </a:p>
        </p:txBody>
      </p:sp>
      <p:sp>
        <p:nvSpPr>
          <p:cNvPr id="865" name="Google Shape;865;p42"/>
          <p:cNvSpPr/>
          <p:nvPr/>
        </p:nvSpPr>
        <p:spPr>
          <a:xfrm>
            <a:off x="3646463" y="6207569"/>
            <a:ext cx="768000" cy="26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322</a:t>
            </a:r>
            <a:endParaRPr/>
          </a:p>
        </p:txBody>
      </p:sp>
      <p:sp>
        <p:nvSpPr>
          <p:cNvPr id="866" name="Google Shape;866;p42"/>
          <p:cNvSpPr/>
          <p:nvPr/>
        </p:nvSpPr>
        <p:spPr>
          <a:xfrm>
            <a:off x="7462470" y="6207575"/>
            <a:ext cx="462300" cy="260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42"/>
          <p:cNvSpPr txBox="1"/>
          <p:nvPr/>
        </p:nvSpPr>
        <p:spPr>
          <a:xfrm>
            <a:off x="6112212" y="6410194"/>
            <a:ext cx="284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 de datos </a:t>
            </a:r>
            <a:r>
              <a:rPr b="1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físicos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68" name="Google Shape;868;p42"/>
          <p:cNvCxnSpPr>
            <a:stCxn id="859" idx="3"/>
            <a:endCxn id="864" idx="0"/>
          </p:cNvCxnSpPr>
          <p:nvPr/>
        </p:nvCxnSpPr>
        <p:spPr>
          <a:xfrm>
            <a:off x="7948650" y="5300273"/>
            <a:ext cx="291900" cy="90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9" name="Google Shape;869;p42"/>
          <p:cNvCxnSpPr>
            <a:stCxn id="858" idx="1"/>
            <a:endCxn id="863" idx="0"/>
          </p:cNvCxnSpPr>
          <p:nvPr/>
        </p:nvCxnSpPr>
        <p:spPr>
          <a:xfrm>
            <a:off x="6295650" y="5081413"/>
            <a:ext cx="812100" cy="1126200"/>
          </a:xfrm>
          <a:prstGeom prst="bentConnector4">
            <a:avLst>
              <a:gd fmla="val -29322" name="adj1"/>
              <a:gd fmla="val 5490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3"/>
          <p:cNvSpPr/>
          <p:nvPr/>
        </p:nvSpPr>
        <p:spPr>
          <a:xfrm>
            <a:off x="5626100" y="6273800"/>
            <a:ext cx="3107100" cy="2922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43"/>
          <p:cNvSpPr/>
          <p:nvPr/>
        </p:nvSpPr>
        <p:spPr>
          <a:xfrm>
            <a:off x="5626100" y="3719675"/>
            <a:ext cx="3107100" cy="2709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43"/>
          <p:cNvSpPr/>
          <p:nvPr/>
        </p:nvSpPr>
        <p:spPr>
          <a:xfrm>
            <a:off x="5626100" y="3594100"/>
            <a:ext cx="3107100" cy="2922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7" name="Google Shape;877;p43"/>
          <p:cNvCxnSpPr>
            <a:stCxn id="876" idx="2"/>
            <a:endCxn id="874" idx="2"/>
          </p:cNvCxnSpPr>
          <p:nvPr/>
        </p:nvCxnSpPr>
        <p:spPr>
          <a:xfrm>
            <a:off x="5626100" y="3740200"/>
            <a:ext cx="0" cy="267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8" name="Google Shape;878;p43"/>
          <p:cNvCxnSpPr>
            <a:stCxn id="876" idx="6"/>
            <a:endCxn id="874" idx="6"/>
          </p:cNvCxnSpPr>
          <p:nvPr/>
        </p:nvCxnSpPr>
        <p:spPr>
          <a:xfrm>
            <a:off x="8733200" y="3740200"/>
            <a:ext cx="0" cy="267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9" name="Google Shape;879;p43"/>
          <p:cNvSpPr txBox="1"/>
          <p:nvPr/>
        </p:nvSpPr>
        <p:spPr>
          <a:xfrm>
            <a:off x="5638800" y="3999075"/>
            <a:ext cx="310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Disco. Bloques Físicos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0" name="Google Shape;880;p4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4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Gestión de Bloques (III)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82" name="Google Shape;882;p43"/>
          <p:cNvSpPr txBox="1"/>
          <p:nvPr/>
        </p:nvSpPr>
        <p:spPr>
          <a:xfrm>
            <a:off x="0" y="703128"/>
            <a:ext cx="91440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Bloques Indexados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bloques que constituyen el fichero se indexan en uno o m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ás niveles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Reducida fragmentación externa</a:t>
            </a:r>
            <a:endParaRPr b="1" sz="1600">
              <a:solidFill>
                <a:srgbClr val="6AA8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Acceso muy </a:t>
            </a:r>
            <a:r>
              <a:rPr b="1" lang="es" sz="1600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eficiente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b="1" lang="es" sz="1600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ficheros pequeños</a:t>
            </a:r>
            <a:endParaRPr b="1" sz="1600">
              <a:solidFill>
                <a:srgbClr val="6AA8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Operaciones de borrado </a:t>
            </a:r>
            <a:r>
              <a:rPr b="1" lang="es" sz="16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ineficientes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para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6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ficheros grandes</a:t>
            </a:r>
            <a:endParaRPr b="1" sz="1600">
              <a:solidFill>
                <a:srgbClr val="CC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Aplicaci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ón: sistemas de ficheros de propósito general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Ejemplos: ext2, UFS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3" name="Google Shape;883;p43"/>
          <p:cNvSpPr txBox="1"/>
          <p:nvPr/>
        </p:nvSpPr>
        <p:spPr>
          <a:xfrm>
            <a:off x="6395775" y="4529075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4" name="Google Shape;884;p43"/>
          <p:cNvSpPr txBox="1"/>
          <p:nvPr/>
        </p:nvSpPr>
        <p:spPr>
          <a:xfrm>
            <a:off x="5972398" y="4529075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5" name="Google Shape;885;p43"/>
          <p:cNvSpPr txBox="1"/>
          <p:nvPr/>
        </p:nvSpPr>
        <p:spPr>
          <a:xfrm>
            <a:off x="7233975" y="4529075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6" name="Google Shape;886;p43"/>
          <p:cNvSpPr txBox="1"/>
          <p:nvPr/>
        </p:nvSpPr>
        <p:spPr>
          <a:xfrm>
            <a:off x="6810598" y="4529075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7" name="Google Shape;887;p43"/>
          <p:cNvSpPr txBox="1"/>
          <p:nvPr/>
        </p:nvSpPr>
        <p:spPr>
          <a:xfrm>
            <a:off x="8072175" y="4529075"/>
            <a:ext cx="420900" cy="4140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351C75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1" sz="1600">
              <a:solidFill>
                <a:srgbClr val="351C7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8" name="Google Shape;888;p43"/>
          <p:cNvSpPr txBox="1"/>
          <p:nvPr/>
        </p:nvSpPr>
        <p:spPr>
          <a:xfrm>
            <a:off x="7648798" y="4529075"/>
            <a:ext cx="420900" cy="4140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34F5C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1" sz="1600">
              <a:solidFill>
                <a:srgbClr val="134F5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9" name="Google Shape;889;p43"/>
          <p:cNvSpPr txBox="1"/>
          <p:nvPr/>
        </p:nvSpPr>
        <p:spPr>
          <a:xfrm>
            <a:off x="6395775" y="4943898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0" name="Google Shape;890;p43"/>
          <p:cNvSpPr txBox="1"/>
          <p:nvPr/>
        </p:nvSpPr>
        <p:spPr>
          <a:xfrm>
            <a:off x="5972398" y="4943898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1" name="Google Shape;891;p43"/>
          <p:cNvSpPr txBox="1"/>
          <p:nvPr/>
        </p:nvSpPr>
        <p:spPr>
          <a:xfrm>
            <a:off x="7233975" y="4943898"/>
            <a:ext cx="420900" cy="4140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34F5C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1" sz="1600">
              <a:solidFill>
                <a:srgbClr val="134F5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2" name="Google Shape;892;p43"/>
          <p:cNvSpPr txBox="1"/>
          <p:nvPr/>
        </p:nvSpPr>
        <p:spPr>
          <a:xfrm>
            <a:off x="6810598" y="4943898"/>
            <a:ext cx="420900" cy="4140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34F5C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1" sz="1600">
              <a:solidFill>
                <a:srgbClr val="134F5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3" name="Google Shape;893;p43"/>
          <p:cNvSpPr txBox="1"/>
          <p:nvPr/>
        </p:nvSpPr>
        <p:spPr>
          <a:xfrm>
            <a:off x="8072175" y="4943898"/>
            <a:ext cx="420900" cy="41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4" name="Google Shape;894;p43"/>
          <p:cNvSpPr txBox="1"/>
          <p:nvPr/>
        </p:nvSpPr>
        <p:spPr>
          <a:xfrm>
            <a:off x="7648798" y="4943898"/>
            <a:ext cx="420900" cy="41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5" name="Google Shape;895;p43"/>
          <p:cNvSpPr txBox="1"/>
          <p:nvPr/>
        </p:nvSpPr>
        <p:spPr>
          <a:xfrm>
            <a:off x="6395775" y="5776526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19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6" name="Google Shape;896;p43"/>
          <p:cNvSpPr txBox="1"/>
          <p:nvPr/>
        </p:nvSpPr>
        <p:spPr>
          <a:xfrm>
            <a:off x="5972398" y="5776526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18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7" name="Google Shape;897;p43"/>
          <p:cNvSpPr txBox="1"/>
          <p:nvPr/>
        </p:nvSpPr>
        <p:spPr>
          <a:xfrm>
            <a:off x="7233975" y="5776526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8" name="Google Shape;898;p43"/>
          <p:cNvSpPr txBox="1"/>
          <p:nvPr/>
        </p:nvSpPr>
        <p:spPr>
          <a:xfrm>
            <a:off x="6810598" y="5776526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9" name="Google Shape;899;p43"/>
          <p:cNvSpPr txBox="1"/>
          <p:nvPr/>
        </p:nvSpPr>
        <p:spPr>
          <a:xfrm>
            <a:off x="8072175" y="5776526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0" name="Google Shape;900;p43"/>
          <p:cNvSpPr txBox="1"/>
          <p:nvPr/>
        </p:nvSpPr>
        <p:spPr>
          <a:xfrm>
            <a:off x="7648798" y="5776526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1" name="Google Shape;901;p43"/>
          <p:cNvSpPr txBox="1"/>
          <p:nvPr/>
        </p:nvSpPr>
        <p:spPr>
          <a:xfrm>
            <a:off x="6395775" y="5358721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2" name="Google Shape;902;p43"/>
          <p:cNvSpPr txBox="1"/>
          <p:nvPr/>
        </p:nvSpPr>
        <p:spPr>
          <a:xfrm>
            <a:off x="5972398" y="5358721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3" name="Google Shape;903;p43"/>
          <p:cNvSpPr txBox="1"/>
          <p:nvPr/>
        </p:nvSpPr>
        <p:spPr>
          <a:xfrm>
            <a:off x="7233975" y="5358721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4" name="Google Shape;904;p43"/>
          <p:cNvSpPr txBox="1"/>
          <p:nvPr/>
        </p:nvSpPr>
        <p:spPr>
          <a:xfrm>
            <a:off x="6810598" y="5358721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5" name="Google Shape;905;p43"/>
          <p:cNvSpPr txBox="1"/>
          <p:nvPr/>
        </p:nvSpPr>
        <p:spPr>
          <a:xfrm>
            <a:off x="8072175" y="5358721"/>
            <a:ext cx="420900" cy="41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17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6" name="Google Shape;906;p43"/>
          <p:cNvSpPr txBox="1"/>
          <p:nvPr/>
        </p:nvSpPr>
        <p:spPr>
          <a:xfrm>
            <a:off x="7648798" y="5358721"/>
            <a:ext cx="420900" cy="41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16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7" name="Google Shape;907;p43"/>
          <p:cNvSpPr/>
          <p:nvPr/>
        </p:nvSpPr>
        <p:spPr>
          <a:xfrm>
            <a:off x="487325" y="3634775"/>
            <a:ext cx="1236000" cy="2544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08" name="Google Shape;908;p43"/>
          <p:cNvSpPr/>
          <p:nvPr/>
        </p:nvSpPr>
        <p:spPr>
          <a:xfrm>
            <a:off x="487325" y="3891626"/>
            <a:ext cx="1236000" cy="2544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3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09" name="Google Shape;909;p43"/>
          <p:cNvSpPr/>
          <p:nvPr/>
        </p:nvSpPr>
        <p:spPr>
          <a:xfrm>
            <a:off x="487325" y="4146987"/>
            <a:ext cx="1236000" cy="2544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134F5C"/>
                </a:solidFill>
              </a:rPr>
              <a:t>4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910" name="Google Shape;910;p43"/>
          <p:cNvSpPr/>
          <p:nvPr/>
        </p:nvSpPr>
        <p:spPr>
          <a:xfrm>
            <a:off x="2232862" y="4403838"/>
            <a:ext cx="1236000" cy="2544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6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1" name="Google Shape;911;p43"/>
          <p:cNvSpPr/>
          <p:nvPr/>
        </p:nvSpPr>
        <p:spPr>
          <a:xfrm>
            <a:off x="2232862" y="4660689"/>
            <a:ext cx="1236000" cy="2544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7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2" name="Google Shape;912;p43"/>
          <p:cNvSpPr/>
          <p:nvPr/>
        </p:nvSpPr>
        <p:spPr>
          <a:xfrm>
            <a:off x="487325" y="4403838"/>
            <a:ext cx="1236000" cy="2544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351C75"/>
                </a:solidFill>
              </a:rPr>
              <a:t>5</a:t>
            </a:r>
            <a:endParaRPr b="1">
              <a:solidFill>
                <a:srgbClr val="351C75"/>
              </a:solidFill>
            </a:endParaRPr>
          </a:p>
        </p:txBody>
      </p:sp>
      <p:sp>
        <p:nvSpPr>
          <p:cNvPr id="913" name="Google Shape;913;p43"/>
          <p:cNvSpPr/>
          <p:nvPr/>
        </p:nvSpPr>
        <p:spPr>
          <a:xfrm>
            <a:off x="2232862" y="5436815"/>
            <a:ext cx="1236000" cy="2544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8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14" name="Google Shape;914;p43"/>
          <p:cNvSpPr/>
          <p:nvPr/>
        </p:nvSpPr>
        <p:spPr>
          <a:xfrm>
            <a:off x="2232862" y="5693666"/>
            <a:ext cx="1236000" cy="2544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9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15" name="Google Shape;915;p43"/>
          <p:cNvSpPr/>
          <p:nvPr/>
        </p:nvSpPr>
        <p:spPr>
          <a:xfrm>
            <a:off x="3840125" y="5438306"/>
            <a:ext cx="1236000" cy="2544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12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6" name="Google Shape;916;p43"/>
          <p:cNvSpPr/>
          <p:nvPr/>
        </p:nvSpPr>
        <p:spPr>
          <a:xfrm>
            <a:off x="3840125" y="5695157"/>
            <a:ext cx="1236000" cy="2544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13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7" name="Google Shape;917;p43"/>
          <p:cNvSpPr/>
          <p:nvPr/>
        </p:nvSpPr>
        <p:spPr>
          <a:xfrm>
            <a:off x="3840125" y="6276506"/>
            <a:ext cx="1236000" cy="2544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14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8" name="Google Shape;918;p43"/>
          <p:cNvSpPr/>
          <p:nvPr/>
        </p:nvSpPr>
        <p:spPr>
          <a:xfrm>
            <a:off x="3840125" y="6533357"/>
            <a:ext cx="1236000" cy="2544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15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9" name="Google Shape;919;p43"/>
          <p:cNvSpPr/>
          <p:nvPr/>
        </p:nvSpPr>
        <p:spPr>
          <a:xfrm>
            <a:off x="2232862" y="4148478"/>
            <a:ext cx="1236000" cy="254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Bloque 4</a:t>
            </a:r>
            <a:endParaRPr/>
          </a:p>
        </p:txBody>
      </p:sp>
      <p:sp>
        <p:nvSpPr>
          <p:cNvPr id="920" name="Google Shape;920;p43"/>
          <p:cNvSpPr/>
          <p:nvPr/>
        </p:nvSpPr>
        <p:spPr>
          <a:xfrm>
            <a:off x="2232862" y="5181455"/>
            <a:ext cx="1236000" cy="254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Bloque 5</a:t>
            </a:r>
            <a:endParaRPr/>
          </a:p>
        </p:txBody>
      </p:sp>
      <p:sp>
        <p:nvSpPr>
          <p:cNvPr id="921" name="Google Shape;921;p43"/>
          <p:cNvSpPr/>
          <p:nvPr/>
        </p:nvSpPr>
        <p:spPr>
          <a:xfrm>
            <a:off x="3840125" y="5182946"/>
            <a:ext cx="1236000" cy="254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Bloque 8</a:t>
            </a:r>
            <a:endParaRPr/>
          </a:p>
        </p:txBody>
      </p:sp>
      <p:sp>
        <p:nvSpPr>
          <p:cNvPr id="922" name="Google Shape;922;p43"/>
          <p:cNvSpPr/>
          <p:nvPr/>
        </p:nvSpPr>
        <p:spPr>
          <a:xfrm>
            <a:off x="3840125" y="6021146"/>
            <a:ext cx="1236000" cy="254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Bloque 9</a:t>
            </a:r>
            <a:endParaRPr/>
          </a:p>
        </p:txBody>
      </p:sp>
      <p:sp>
        <p:nvSpPr>
          <p:cNvPr id="923" name="Google Shape;923;p43"/>
          <p:cNvSpPr/>
          <p:nvPr/>
        </p:nvSpPr>
        <p:spPr>
          <a:xfrm>
            <a:off x="487325" y="3386478"/>
            <a:ext cx="1236000" cy="254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inodo</a:t>
            </a:r>
            <a:endParaRPr/>
          </a:p>
        </p:txBody>
      </p:sp>
      <p:cxnSp>
        <p:nvCxnSpPr>
          <p:cNvPr id="924" name="Google Shape;924;p43"/>
          <p:cNvCxnSpPr>
            <a:stCxn id="907" idx="3"/>
            <a:endCxn id="886" idx="0"/>
          </p:cNvCxnSpPr>
          <p:nvPr/>
        </p:nvCxnSpPr>
        <p:spPr>
          <a:xfrm>
            <a:off x="1723325" y="3761975"/>
            <a:ext cx="5297700" cy="767100"/>
          </a:xfrm>
          <a:prstGeom prst="bentConnector2">
            <a:avLst/>
          </a:prstGeom>
          <a:noFill/>
          <a:ln cap="flat" cmpd="sng" w="9525">
            <a:solidFill>
              <a:srgbClr val="0B5394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25" name="Google Shape;925;p43"/>
          <p:cNvCxnSpPr>
            <a:stCxn id="909" idx="3"/>
            <a:endCxn id="919" idx="1"/>
          </p:cNvCxnSpPr>
          <p:nvPr/>
        </p:nvCxnSpPr>
        <p:spPr>
          <a:xfrm>
            <a:off x="1723325" y="4274187"/>
            <a:ext cx="509400" cy="1500"/>
          </a:xfrm>
          <a:prstGeom prst="straightConnector1">
            <a:avLst/>
          </a:prstGeom>
          <a:noFill/>
          <a:ln cap="flat" cmpd="sng" w="9525">
            <a:solidFill>
              <a:srgbClr val="134F5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6" name="Google Shape;926;p43"/>
          <p:cNvCxnSpPr>
            <a:stCxn id="912" idx="3"/>
            <a:endCxn id="920" idx="1"/>
          </p:cNvCxnSpPr>
          <p:nvPr/>
        </p:nvCxnSpPr>
        <p:spPr>
          <a:xfrm>
            <a:off x="1723325" y="4531038"/>
            <a:ext cx="509400" cy="7776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7" name="Google Shape;927;p43"/>
          <p:cNvCxnSpPr>
            <a:stCxn id="913" idx="3"/>
            <a:endCxn id="921" idx="1"/>
          </p:cNvCxnSpPr>
          <p:nvPr/>
        </p:nvCxnSpPr>
        <p:spPr>
          <a:xfrm flipH="1" rot="10800000">
            <a:off x="3468862" y="5310215"/>
            <a:ext cx="371400" cy="253800"/>
          </a:xfrm>
          <a:prstGeom prst="straightConnector1">
            <a:avLst/>
          </a:prstGeom>
          <a:noFill/>
          <a:ln cap="flat" cmpd="sng" w="9525">
            <a:solidFill>
              <a:srgbClr val="134F5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8" name="Google Shape;928;p43"/>
          <p:cNvCxnSpPr>
            <a:stCxn id="914" idx="3"/>
            <a:endCxn id="922" idx="1"/>
          </p:cNvCxnSpPr>
          <p:nvPr/>
        </p:nvCxnSpPr>
        <p:spPr>
          <a:xfrm>
            <a:off x="3468862" y="5820866"/>
            <a:ext cx="371400" cy="327600"/>
          </a:xfrm>
          <a:prstGeom prst="straightConnector1">
            <a:avLst/>
          </a:prstGeom>
          <a:noFill/>
          <a:ln cap="flat" cmpd="sng" w="9525">
            <a:solidFill>
              <a:srgbClr val="134F5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9" name="Google Shape;929;p43"/>
          <p:cNvSpPr/>
          <p:nvPr/>
        </p:nvSpPr>
        <p:spPr>
          <a:xfrm>
            <a:off x="106325" y="6004037"/>
            <a:ext cx="544200" cy="2544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30" name="Google Shape;930;p43"/>
          <p:cNvSpPr/>
          <p:nvPr/>
        </p:nvSpPr>
        <p:spPr>
          <a:xfrm>
            <a:off x="106325" y="6280591"/>
            <a:ext cx="544200" cy="2544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931" name="Google Shape;931;p43"/>
          <p:cNvSpPr/>
          <p:nvPr/>
        </p:nvSpPr>
        <p:spPr>
          <a:xfrm>
            <a:off x="106325" y="6558637"/>
            <a:ext cx="544200" cy="2544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51C75"/>
              </a:solidFill>
            </a:endParaRPr>
          </a:p>
        </p:txBody>
      </p:sp>
      <p:sp>
        <p:nvSpPr>
          <p:cNvPr id="932" name="Google Shape;932;p43"/>
          <p:cNvSpPr/>
          <p:nvPr/>
        </p:nvSpPr>
        <p:spPr>
          <a:xfrm>
            <a:off x="615202" y="6004037"/>
            <a:ext cx="25983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Punteros Directos</a:t>
            </a:r>
            <a:endParaRPr/>
          </a:p>
        </p:txBody>
      </p:sp>
      <p:sp>
        <p:nvSpPr>
          <p:cNvPr id="933" name="Google Shape;933;p43"/>
          <p:cNvSpPr/>
          <p:nvPr/>
        </p:nvSpPr>
        <p:spPr>
          <a:xfrm>
            <a:off x="615202" y="6280592"/>
            <a:ext cx="25983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Punteros Indirectos</a:t>
            </a:r>
            <a:endParaRPr/>
          </a:p>
        </p:txBody>
      </p:sp>
      <p:sp>
        <p:nvSpPr>
          <p:cNvPr id="934" name="Google Shape;934;p43"/>
          <p:cNvSpPr/>
          <p:nvPr/>
        </p:nvSpPr>
        <p:spPr>
          <a:xfrm>
            <a:off x="615202" y="6558638"/>
            <a:ext cx="25983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Punteros Indirectos Dobles</a:t>
            </a:r>
            <a:endParaRPr/>
          </a:p>
        </p:txBody>
      </p:sp>
      <p:cxnSp>
        <p:nvCxnSpPr>
          <p:cNvPr id="935" name="Google Shape;935;p43"/>
          <p:cNvCxnSpPr>
            <a:stCxn id="910" idx="3"/>
            <a:endCxn id="890" idx="1"/>
          </p:cNvCxnSpPr>
          <p:nvPr/>
        </p:nvCxnSpPr>
        <p:spPr>
          <a:xfrm>
            <a:off x="3468862" y="4531038"/>
            <a:ext cx="2503500" cy="619800"/>
          </a:xfrm>
          <a:prstGeom prst="bentConnector3">
            <a:avLst>
              <a:gd fmla="val 82056" name="adj1"/>
            </a:avLst>
          </a:prstGeom>
          <a:noFill/>
          <a:ln cap="flat" cmpd="sng" w="9525">
            <a:solidFill>
              <a:srgbClr val="0B5394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43"/>
          <p:cNvCxnSpPr>
            <a:stCxn id="915" idx="3"/>
            <a:endCxn id="902" idx="1"/>
          </p:cNvCxnSpPr>
          <p:nvPr/>
        </p:nvCxnSpPr>
        <p:spPr>
          <a:xfrm>
            <a:off x="5076125" y="5565506"/>
            <a:ext cx="896400" cy="6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rgbClr val="0B5394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37" name="Google Shape;937;p43"/>
          <p:cNvSpPr txBox="1"/>
          <p:nvPr/>
        </p:nvSpPr>
        <p:spPr>
          <a:xfrm>
            <a:off x="226986" y="3528625"/>
            <a:ext cx="33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8" name="Google Shape;938;p43"/>
          <p:cNvSpPr txBox="1"/>
          <p:nvPr/>
        </p:nvSpPr>
        <p:spPr>
          <a:xfrm>
            <a:off x="218789" y="3781399"/>
            <a:ext cx="33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9" name="Google Shape;939;p43"/>
          <p:cNvSpPr txBox="1"/>
          <p:nvPr/>
        </p:nvSpPr>
        <p:spPr>
          <a:xfrm>
            <a:off x="1985362" y="4304287"/>
            <a:ext cx="33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0" name="Google Shape;940;p43"/>
          <p:cNvSpPr txBox="1"/>
          <p:nvPr/>
        </p:nvSpPr>
        <p:spPr>
          <a:xfrm>
            <a:off x="1977164" y="4557061"/>
            <a:ext cx="33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1" name="Google Shape;941;p43"/>
          <p:cNvSpPr txBox="1"/>
          <p:nvPr/>
        </p:nvSpPr>
        <p:spPr>
          <a:xfrm>
            <a:off x="3594662" y="5356450"/>
            <a:ext cx="33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2" name="Google Shape;942;p43"/>
          <p:cNvSpPr txBox="1"/>
          <p:nvPr/>
        </p:nvSpPr>
        <p:spPr>
          <a:xfrm>
            <a:off x="3586465" y="5609223"/>
            <a:ext cx="33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3" name="Google Shape;943;p43"/>
          <p:cNvSpPr txBox="1"/>
          <p:nvPr/>
        </p:nvSpPr>
        <p:spPr>
          <a:xfrm>
            <a:off x="3573648" y="6156274"/>
            <a:ext cx="33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4" name="Google Shape;944;p43"/>
          <p:cNvSpPr txBox="1"/>
          <p:nvPr/>
        </p:nvSpPr>
        <p:spPr>
          <a:xfrm>
            <a:off x="3565451" y="6409047"/>
            <a:ext cx="33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4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44"/>
          <p:cNvSpPr txBox="1"/>
          <p:nvPr>
            <p:ph type="ctrTitle"/>
          </p:nvPr>
        </p:nvSpPr>
        <p:spPr>
          <a:xfrm>
            <a:off x="0" y="0"/>
            <a:ext cx="91440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Gestión de Bloques (IV)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51" name="Google Shape;951;p44"/>
          <p:cNvSpPr txBox="1"/>
          <p:nvPr/>
        </p:nvSpPr>
        <p:spPr>
          <a:xfrm>
            <a:off x="0" y="853688"/>
            <a:ext cx="9144000" cy="58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Bloques Indexados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acceso a un byte en el fichero consiste en determinar: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bloque lógico en el que se encuentra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Determinar el nivel dónde está el bloque lógico (directos, indirectos, indirectos dobles)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Determinar el bloque de disco dentro del nivel para el bloque lógico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tamaño máximo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Tt = Tb ∙ (D + I + I</a:t>
            </a:r>
            <a:r>
              <a:rPr baseline="30000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Tb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Tamaño de bloque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Entradas directas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índices por bloque (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Tb / Tíndice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Ejemplo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ext2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(con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indexación triple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Tamaño de bloque 1 KiB, 4 bytes para índice bloque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Tt = 2</a:t>
            </a:r>
            <a:r>
              <a:rPr baseline="30000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∙ (12 + 2</a:t>
            </a:r>
            <a:r>
              <a:rPr baseline="30000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+ 2</a:t>
            </a:r>
            <a:r>
              <a:rPr baseline="30000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+ 2</a:t>
            </a:r>
            <a:r>
              <a:rPr baseline="30000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≃ 2</a:t>
            </a:r>
            <a:r>
              <a:rPr baseline="30000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= 16 GiB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Ejercicio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Calcular el número de bloques empleados en almacenar índices en este caso.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5"/>
          <p:cNvSpPr/>
          <p:nvPr/>
        </p:nvSpPr>
        <p:spPr>
          <a:xfrm>
            <a:off x="5805622" y="6064142"/>
            <a:ext cx="3107100" cy="2922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45"/>
          <p:cNvSpPr/>
          <p:nvPr/>
        </p:nvSpPr>
        <p:spPr>
          <a:xfrm>
            <a:off x="5805622" y="3510017"/>
            <a:ext cx="3107100" cy="2709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5"/>
          <p:cNvSpPr/>
          <p:nvPr/>
        </p:nvSpPr>
        <p:spPr>
          <a:xfrm>
            <a:off x="5805622" y="3384442"/>
            <a:ext cx="3107100" cy="2922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9" name="Google Shape;959;p45"/>
          <p:cNvCxnSpPr>
            <a:stCxn id="958" idx="2"/>
            <a:endCxn id="956" idx="2"/>
          </p:cNvCxnSpPr>
          <p:nvPr/>
        </p:nvCxnSpPr>
        <p:spPr>
          <a:xfrm>
            <a:off x="5805622" y="3530542"/>
            <a:ext cx="0" cy="267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45"/>
          <p:cNvCxnSpPr>
            <a:stCxn id="958" idx="6"/>
            <a:endCxn id="956" idx="6"/>
          </p:cNvCxnSpPr>
          <p:nvPr/>
        </p:nvCxnSpPr>
        <p:spPr>
          <a:xfrm>
            <a:off x="8912722" y="3530542"/>
            <a:ext cx="0" cy="267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1" name="Google Shape;961;p45"/>
          <p:cNvSpPr txBox="1"/>
          <p:nvPr/>
        </p:nvSpPr>
        <p:spPr>
          <a:xfrm>
            <a:off x="5818322" y="3789417"/>
            <a:ext cx="310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Disco. Bloques Físicos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Google Shape;962;p45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45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Gestión de Bloques (V)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64" name="Google Shape;964;p45"/>
          <p:cNvSpPr txBox="1"/>
          <p:nvPr/>
        </p:nvSpPr>
        <p:spPr>
          <a:xfrm>
            <a:off x="0" y="793464"/>
            <a:ext cx="91440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Árboles Balanceados de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Bloques B+tree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Usan extents en lugar de bloques individuales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extents se guardan en una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estructura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B+tree de profundidad reducida.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Gesti</a:t>
            </a:r>
            <a:r>
              <a:rPr b="1" lang="es" sz="16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ón eficiente para ficheros grandes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(búsquedas rápidas, mayor tamaño de fichero)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Aplicaci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ón: Usado en los SF actuales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Ejemplos: ext4, xfs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5" name="Google Shape;965;p45"/>
          <p:cNvSpPr txBox="1"/>
          <p:nvPr/>
        </p:nvSpPr>
        <p:spPr>
          <a:xfrm>
            <a:off x="6492639" y="4294017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6" name="Google Shape;966;p45"/>
          <p:cNvSpPr txBox="1"/>
          <p:nvPr/>
        </p:nvSpPr>
        <p:spPr>
          <a:xfrm>
            <a:off x="6069262" y="4294017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7" name="Google Shape;967;p45"/>
          <p:cNvSpPr txBox="1"/>
          <p:nvPr/>
        </p:nvSpPr>
        <p:spPr>
          <a:xfrm>
            <a:off x="7337297" y="4294017"/>
            <a:ext cx="420900" cy="414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34F5C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1" sz="1600">
              <a:solidFill>
                <a:srgbClr val="134F5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8" name="Google Shape;968;p45"/>
          <p:cNvSpPr txBox="1"/>
          <p:nvPr/>
        </p:nvSpPr>
        <p:spPr>
          <a:xfrm>
            <a:off x="6913920" y="4294017"/>
            <a:ext cx="420900" cy="414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34F5C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1" sz="1600">
              <a:solidFill>
                <a:srgbClr val="134F5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9" name="Google Shape;969;p45"/>
          <p:cNvSpPr txBox="1"/>
          <p:nvPr/>
        </p:nvSpPr>
        <p:spPr>
          <a:xfrm>
            <a:off x="8175497" y="4294017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0" name="Google Shape;970;p45"/>
          <p:cNvSpPr txBox="1"/>
          <p:nvPr/>
        </p:nvSpPr>
        <p:spPr>
          <a:xfrm>
            <a:off x="7752120" y="4294017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1" name="Google Shape;971;p45"/>
          <p:cNvSpPr txBox="1"/>
          <p:nvPr/>
        </p:nvSpPr>
        <p:spPr>
          <a:xfrm>
            <a:off x="6492639" y="4708840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2" name="Google Shape;972;p45"/>
          <p:cNvSpPr txBox="1"/>
          <p:nvPr/>
        </p:nvSpPr>
        <p:spPr>
          <a:xfrm>
            <a:off x="6069262" y="4708840"/>
            <a:ext cx="420900" cy="4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3" name="Google Shape;973;p45"/>
          <p:cNvSpPr txBox="1"/>
          <p:nvPr/>
        </p:nvSpPr>
        <p:spPr>
          <a:xfrm>
            <a:off x="7337297" y="4708840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4" name="Google Shape;974;p45"/>
          <p:cNvSpPr txBox="1"/>
          <p:nvPr/>
        </p:nvSpPr>
        <p:spPr>
          <a:xfrm>
            <a:off x="6913920" y="4708840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5" name="Google Shape;975;p45"/>
          <p:cNvSpPr txBox="1"/>
          <p:nvPr/>
        </p:nvSpPr>
        <p:spPr>
          <a:xfrm>
            <a:off x="8175497" y="4708840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6" name="Google Shape;976;p45"/>
          <p:cNvSpPr txBox="1"/>
          <p:nvPr/>
        </p:nvSpPr>
        <p:spPr>
          <a:xfrm>
            <a:off x="7752120" y="4708840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7" name="Google Shape;977;p45"/>
          <p:cNvSpPr txBox="1"/>
          <p:nvPr/>
        </p:nvSpPr>
        <p:spPr>
          <a:xfrm>
            <a:off x="6492639" y="5541469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8" name="Google Shape;978;p45"/>
          <p:cNvSpPr txBox="1"/>
          <p:nvPr/>
        </p:nvSpPr>
        <p:spPr>
          <a:xfrm>
            <a:off x="6069262" y="5541469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9" name="Google Shape;979;p45"/>
          <p:cNvSpPr txBox="1"/>
          <p:nvPr/>
        </p:nvSpPr>
        <p:spPr>
          <a:xfrm>
            <a:off x="7337297" y="5541469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0" name="Google Shape;980;p45"/>
          <p:cNvSpPr txBox="1"/>
          <p:nvPr/>
        </p:nvSpPr>
        <p:spPr>
          <a:xfrm>
            <a:off x="6913920" y="5541469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1" name="Google Shape;981;p45"/>
          <p:cNvSpPr txBox="1"/>
          <p:nvPr/>
        </p:nvSpPr>
        <p:spPr>
          <a:xfrm>
            <a:off x="8175497" y="5541469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2" name="Google Shape;982;p45"/>
          <p:cNvSpPr txBox="1"/>
          <p:nvPr/>
        </p:nvSpPr>
        <p:spPr>
          <a:xfrm>
            <a:off x="7752120" y="5541469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3" name="Google Shape;983;p45"/>
          <p:cNvSpPr txBox="1"/>
          <p:nvPr/>
        </p:nvSpPr>
        <p:spPr>
          <a:xfrm>
            <a:off x="6492639" y="5123664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4" name="Google Shape;984;p45"/>
          <p:cNvSpPr txBox="1"/>
          <p:nvPr/>
        </p:nvSpPr>
        <p:spPr>
          <a:xfrm>
            <a:off x="6069262" y="5123664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5" name="Google Shape;985;p45"/>
          <p:cNvSpPr txBox="1"/>
          <p:nvPr/>
        </p:nvSpPr>
        <p:spPr>
          <a:xfrm>
            <a:off x="7337297" y="5123664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6" name="Google Shape;986;p45"/>
          <p:cNvSpPr txBox="1"/>
          <p:nvPr/>
        </p:nvSpPr>
        <p:spPr>
          <a:xfrm>
            <a:off x="6913920" y="5123664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14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7" name="Google Shape;987;p45"/>
          <p:cNvSpPr txBox="1"/>
          <p:nvPr/>
        </p:nvSpPr>
        <p:spPr>
          <a:xfrm>
            <a:off x="8175497" y="5123664"/>
            <a:ext cx="420900" cy="41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1"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8" name="Google Shape;988;p45"/>
          <p:cNvSpPr txBox="1"/>
          <p:nvPr/>
        </p:nvSpPr>
        <p:spPr>
          <a:xfrm>
            <a:off x="7752120" y="5123664"/>
            <a:ext cx="420900" cy="414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16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p45"/>
          <p:cNvSpPr/>
          <p:nvPr/>
        </p:nvSpPr>
        <p:spPr>
          <a:xfrm>
            <a:off x="1931625" y="3449375"/>
            <a:ext cx="478200" cy="327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741B47"/>
                </a:solidFill>
              </a:rPr>
              <a:t>0</a:t>
            </a:r>
            <a:endParaRPr b="1">
              <a:solidFill>
                <a:srgbClr val="741B47"/>
              </a:solidFill>
            </a:endParaRPr>
          </a:p>
        </p:txBody>
      </p:sp>
      <p:sp>
        <p:nvSpPr>
          <p:cNvPr id="990" name="Google Shape;990;p45"/>
          <p:cNvSpPr/>
          <p:nvPr/>
        </p:nvSpPr>
        <p:spPr>
          <a:xfrm>
            <a:off x="2411825" y="3449375"/>
            <a:ext cx="478200" cy="327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741B47"/>
                </a:solidFill>
              </a:rPr>
              <a:t>4</a:t>
            </a:r>
            <a:endParaRPr b="1">
              <a:solidFill>
                <a:srgbClr val="741B47"/>
              </a:solidFill>
            </a:endParaRPr>
          </a:p>
        </p:txBody>
      </p:sp>
      <p:sp>
        <p:nvSpPr>
          <p:cNvPr id="991" name="Google Shape;991;p45"/>
          <p:cNvSpPr/>
          <p:nvPr/>
        </p:nvSpPr>
        <p:spPr>
          <a:xfrm>
            <a:off x="1931625" y="3755351"/>
            <a:ext cx="478200" cy="272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134F5C"/>
                </a:solidFill>
              </a:rPr>
              <a:t>2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992" name="Google Shape;992;p45"/>
          <p:cNvSpPr/>
          <p:nvPr/>
        </p:nvSpPr>
        <p:spPr>
          <a:xfrm>
            <a:off x="2411825" y="3755351"/>
            <a:ext cx="478200" cy="272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134F5C"/>
                </a:solidFill>
              </a:rPr>
              <a:t>3</a:t>
            </a:r>
            <a:endParaRPr b="1">
              <a:solidFill>
                <a:srgbClr val="134F5C"/>
              </a:solidFill>
            </a:endParaRPr>
          </a:p>
        </p:txBody>
      </p:sp>
      <p:graphicFrame>
        <p:nvGraphicFramePr>
          <p:cNvPr id="993" name="Google Shape;993;p45"/>
          <p:cNvGraphicFramePr/>
          <p:nvPr/>
        </p:nvGraphicFramePr>
        <p:xfrm>
          <a:off x="546300" y="45714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{22EF096E-7B61-4A85-9FDA-B53D0E27F26A}</a:tableStyleId>
              </a:tblPr>
              <a:tblGrid>
                <a:gridCol w="736825"/>
                <a:gridCol w="799700"/>
              </a:tblGrid>
              <a:tr h="20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134F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Bloque 2 </a:t>
                      </a:r>
                      <a:r>
                        <a:rPr lang="es" sz="1300">
                          <a:solidFill>
                            <a:srgbClr val="134F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(hoja)</a:t>
                      </a:r>
                      <a:endParaRPr sz="1300">
                        <a:solidFill>
                          <a:srgbClr val="134F5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0E0E3"/>
                    </a:solidFill>
                  </a:tcPr>
                </a:tc>
                <a:tc hMerge="1"/>
              </a:tr>
              <a:tr h="20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134F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Lógico</a:t>
                      </a:r>
                      <a:endParaRPr sz="1300">
                        <a:solidFill>
                          <a:srgbClr val="134F5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134F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Físico</a:t>
                      </a:r>
                      <a:endParaRPr sz="1300">
                        <a:solidFill>
                          <a:srgbClr val="134F5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0E0E3"/>
                    </a:solidFill>
                  </a:tcPr>
                </a:tc>
              </a:tr>
              <a:tr h="10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5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4" name="Google Shape;994;p45"/>
          <p:cNvGraphicFramePr/>
          <p:nvPr/>
        </p:nvGraphicFramePr>
        <p:xfrm>
          <a:off x="2756100" y="45714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{22EF096E-7B61-4A85-9FDA-B53D0E27F26A}</a:tableStyleId>
              </a:tblPr>
              <a:tblGrid>
                <a:gridCol w="736825"/>
                <a:gridCol w="799700"/>
              </a:tblGrid>
              <a:tr h="20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134F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Bloque 3 </a:t>
                      </a:r>
                      <a:r>
                        <a:rPr lang="es" sz="1300">
                          <a:solidFill>
                            <a:srgbClr val="134F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(hoja)</a:t>
                      </a:r>
                      <a:endParaRPr sz="1300">
                        <a:solidFill>
                          <a:srgbClr val="134F5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0E0E3"/>
                    </a:solidFill>
                  </a:tcPr>
                </a:tc>
                <a:tc hMerge="1"/>
              </a:tr>
              <a:tr h="20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134F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Lógico</a:t>
                      </a:r>
                      <a:endParaRPr sz="1300">
                        <a:solidFill>
                          <a:srgbClr val="134F5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134F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Físico</a:t>
                      </a:r>
                      <a:endParaRPr sz="1300">
                        <a:solidFill>
                          <a:srgbClr val="134F5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0E0E3"/>
                    </a:solidFill>
                  </a:tcPr>
                </a:tc>
              </a:tr>
              <a:tr h="10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5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endParaRPr sz="1300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8000" marB="18000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cxnSp>
        <p:nvCxnSpPr>
          <p:cNvPr id="995" name="Google Shape;995;p45"/>
          <p:cNvCxnSpPr>
            <a:stCxn id="991" idx="2"/>
          </p:cNvCxnSpPr>
          <p:nvPr/>
        </p:nvCxnSpPr>
        <p:spPr>
          <a:xfrm flipH="1">
            <a:off x="1317525" y="4028051"/>
            <a:ext cx="853200" cy="50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6" name="Google Shape;996;p45"/>
          <p:cNvCxnSpPr>
            <a:stCxn id="992" idx="2"/>
          </p:cNvCxnSpPr>
          <p:nvPr/>
        </p:nvCxnSpPr>
        <p:spPr>
          <a:xfrm>
            <a:off x="2650925" y="4028051"/>
            <a:ext cx="805200" cy="50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7" name="Google Shape;997;p45"/>
          <p:cNvSpPr/>
          <p:nvPr/>
        </p:nvSpPr>
        <p:spPr>
          <a:xfrm>
            <a:off x="1931625" y="3186275"/>
            <a:ext cx="958500" cy="272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inodo</a:t>
            </a:r>
            <a:endParaRPr/>
          </a:p>
        </p:txBody>
      </p:sp>
      <p:cxnSp>
        <p:nvCxnSpPr>
          <p:cNvPr id="998" name="Google Shape;998;p45"/>
          <p:cNvCxnSpPr/>
          <p:nvPr/>
        </p:nvCxnSpPr>
        <p:spPr>
          <a:xfrm>
            <a:off x="1779850" y="3425850"/>
            <a:ext cx="0" cy="60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9" name="Google Shape;999;p45"/>
          <p:cNvSpPr/>
          <p:nvPr/>
        </p:nvSpPr>
        <p:spPr>
          <a:xfrm>
            <a:off x="1108875" y="3425975"/>
            <a:ext cx="66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Nodo Ra</a:t>
            </a:r>
            <a:r>
              <a:rPr lang="es"/>
              <a:t>íz</a:t>
            </a:r>
            <a:r>
              <a:rPr b="1" baseline="30000" lang="es">
                <a:solidFill>
                  <a:srgbClr val="CC0000"/>
                </a:solidFill>
              </a:rPr>
              <a:t>*</a:t>
            </a:r>
            <a:endParaRPr b="1" baseline="30000">
              <a:solidFill>
                <a:srgbClr val="CC0000"/>
              </a:solidFill>
            </a:endParaRPr>
          </a:p>
        </p:txBody>
      </p:sp>
      <p:sp>
        <p:nvSpPr>
          <p:cNvPr id="1000" name="Google Shape;1000;p45"/>
          <p:cNvSpPr/>
          <p:nvPr/>
        </p:nvSpPr>
        <p:spPr>
          <a:xfrm>
            <a:off x="6761" y="6433089"/>
            <a:ext cx="63426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s">
                <a:solidFill>
                  <a:srgbClr val="CC0000"/>
                </a:solidFill>
              </a:rPr>
              <a:t>*</a:t>
            </a:r>
            <a:r>
              <a:rPr lang="es">
                <a:latin typeface="Inter"/>
                <a:ea typeface="Inter"/>
                <a:cs typeface="Inter"/>
                <a:sym typeface="Inter"/>
              </a:rPr>
              <a:t> Para ficheros pequeños el nodo raíz guarda punteros directos a bloque 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1" name="Google Shape;1001;p45"/>
          <p:cNvSpPr/>
          <p:nvPr/>
        </p:nvSpPr>
        <p:spPr>
          <a:xfrm>
            <a:off x="548908" y="5992675"/>
            <a:ext cx="1536600" cy="11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45"/>
          <p:cNvSpPr/>
          <p:nvPr/>
        </p:nvSpPr>
        <p:spPr>
          <a:xfrm>
            <a:off x="2756075" y="5992675"/>
            <a:ext cx="1536600" cy="11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3" name="Google Shape;1003;p45"/>
          <p:cNvCxnSpPr>
            <a:stCxn id="1001" idx="3"/>
            <a:endCxn id="1002" idx="1"/>
          </p:cNvCxnSpPr>
          <p:nvPr/>
        </p:nvCxnSpPr>
        <p:spPr>
          <a:xfrm>
            <a:off x="2085508" y="6050875"/>
            <a:ext cx="67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4" name="Google Shape;1004;p45"/>
          <p:cNvSpPr/>
          <p:nvPr/>
        </p:nvSpPr>
        <p:spPr>
          <a:xfrm>
            <a:off x="1230000" y="6050875"/>
            <a:ext cx="45366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Enlace entre los nodos hoja para acceso secuencial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6"/>
          <p:cNvSpPr/>
          <p:nvPr/>
        </p:nvSpPr>
        <p:spPr>
          <a:xfrm>
            <a:off x="2334150" y="4908450"/>
            <a:ext cx="3520200" cy="67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46"/>
          <p:cNvSpPr/>
          <p:nvPr/>
        </p:nvSpPr>
        <p:spPr>
          <a:xfrm>
            <a:off x="364950" y="2433000"/>
            <a:ext cx="5299500" cy="197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46"/>
          <p:cNvSpPr/>
          <p:nvPr/>
        </p:nvSpPr>
        <p:spPr>
          <a:xfrm>
            <a:off x="5960825" y="2767525"/>
            <a:ext cx="3156900" cy="67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46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46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0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Gestión de Bloques (VII)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14" name="Google Shape;1014;p46"/>
          <p:cNvSpPr txBox="1"/>
          <p:nvPr/>
        </p:nvSpPr>
        <p:spPr>
          <a:xfrm>
            <a:off x="76200" y="835300"/>
            <a:ext cx="87585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Añadimos dos secciones más de 3 Kbytes (2 extents adicionales)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5" name="Google Shape;1015;p46"/>
          <p:cNvSpPr/>
          <p:nvPr/>
        </p:nvSpPr>
        <p:spPr>
          <a:xfrm>
            <a:off x="7057874" y="2022425"/>
            <a:ext cx="965700" cy="471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768-4680</a:t>
            </a:r>
            <a:endParaRPr/>
          </a:p>
        </p:txBody>
      </p:sp>
      <p:grpSp>
        <p:nvGrpSpPr>
          <p:cNvPr id="1016" name="Google Shape;1016;p46"/>
          <p:cNvGrpSpPr/>
          <p:nvPr/>
        </p:nvGrpSpPr>
        <p:grpSpPr>
          <a:xfrm>
            <a:off x="6058503" y="2860625"/>
            <a:ext cx="2994853" cy="471300"/>
            <a:chOff x="6058503" y="2860625"/>
            <a:chExt cx="2994853" cy="471300"/>
          </a:xfrm>
        </p:grpSpPr>
        <p:sp>
          <p:nvSpPr>
            <p:cNvPr id="1017" name="Google Shape;1017;p46"/>
            <p:cNvSpPr/>
            <p:nvPr/>
          </p:nvSpPr>
          <p:spPr>
            <a:xfrm>
              <a:off x="6058503" y="2860625"/>
              <a:ext cx="594300" cy="4713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768</a:t>
              </a:r>
              <a:endParaRPr/>
            </a:p>
          </p:txBody>
        </p:sp>
        <p:sp>
          <p:nvSpPr>
            <p:cNvPr id="1018" name="Google Shape;1018;p46"/>
            <p:cNvSpPr/>
            <p:nvPr/>
          </p:nvSpPr>
          <p:spPr>
            <a:xfrm>
              <a:off x="6653066" y="2860625"/>
              <a:ext cx="594300" cy="4713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1536</a:t>
              </a:r>
              <a:endParaRPr/>
            </a:p>
          </p:txBody>
        </p:sp>
        <p:sp>
          <p:nvSpPr>
            <p:cNvPr id="1019" name="Google Shape;1019;p46"/>
            <p:cNvSpPr/>
            <p:nvPr/>
          </p:nvSpPr>
          <p:spPr>
            <a:xfrm>
              <a:off x="7255063" y="2860625"/>
              <a:ext cx="594300" cy="4713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2304</a:t>
              </a:r>
              <a:endParaRPr/>
            </a:p>
          </p:txBody>
        </p:sp>
        <p:sp>
          <p:nvSpPr>
            <p:cNvPr id="1020" name="Google Shape;1020;p46"/>
            <p:cNvSpPr/>
            <p:nvPr/>
          </p:nvSpPr>
          <p:spPr>
            <a:xfrm>
              <a:off x="7857060" y="2860625"/>
              <a:ext cx="594300" cy="4713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3840</a:t>
              </a:r>
              <a:endParaRPr/>
            </a:p>
          </p:txBody>
        </p:sp>
        <p:sp>
          <p:nvSpPr>
            <p:cNvPr id="1021" name="Google Shape;1021;p46"/>
            <p:cNvSpPr/>
            <p:nvPr/>
          </p:nvSpPr>
          <p:spPr>
            <a:xfrm>
              <a:off x="8459057" y="2860625"/>
              <a:ext cx="594300" cy="4713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4608</a:t>
              </a:r>
              <a:endParaRPr/>
            </a:p>
          </p:txBody>
        </p:sp>
      </p:grpSp>
      <p:cxnSp>
        <p:nvCxnSpPr>
          <p:cNvPr id="1022" name="Google Shape;1022;p46"/>
          <p:cNvCxnSpPr>
            <a:stCxn id="1015" idx="2"/>
            <a:endCxn id="1011" idx="0"/>
          </p:cNvCxnSpPr>
          <p:nvPr/>
        </p:nvCxnSpPr>
        <p:spPr>
          <a:xfrm flipH="1">
            <a:off x="7539224" y="2493725"/>
            <a:ext cx="1500" cy="27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3" name="Google Shape;1023;p46"/>
          <p:cNvSpPr txBox="1"/>
          <p:nvPr/>
        </p:nvSpPr>
        <p:spPr>
          <a:xfrm>
            <a:off x="6324600" y="1600200"/>
            <a:ext cx="242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Nodo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raíz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(en el inodo)</a:t>
            </a:r>
            <a:endParaRPr/>
          </a:p>
        </p:txBody>
      </p:sp>
      <p:sp>
        <p:nvSpPr>
          <p:cNvPr id="1024" name="Google Shape;1024;p46"/>
          <p:cNvSpPr txBox="1"/>
          <p:nvPr/>
        </p:nvSpPr>
        <p:spPr>
          <a:xfrm>
            <a:off x="5985050" y="3520406"/>
            <a:ext cx="315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Nodo hoja (en el bloque 1273)</a:t>
            </a:r>
            <a:endParaRPr/>
          </a:p>
        </p:txBody>
      </p:sp>
      <p:cxnSp>
        <p:nvCxnSpPr>
          <p:cNvPr id="1025" name="Google Shape;1025;p46"/>
          <p:cNvCxnSpPr>
            <a:stCxn id="1010" idx="3"/>
            <a:endCxn id="1015" idx="1"/>
          </p:cNvCxnSpPr>
          <p:nvPr/>
        </p:nvCxnSpPr>
        <p:spPr>
          <a:xfrm flipH="1" rot="10800000">
            <a:off x="5664450" y="2257950"/>
            <a:ext cx="1393500" cy="27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26" name="Google Shape;1026;p46"/>
          <p:cNvSpPr txBox="1"/>
          <p:nvPr/>
        </p:nvSpPr>
        <p:spPr>
          <a:xfrm>
            <a:off x="291623" y="1686700"/>
            <a:ext cx="5455800" cy="2339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sudo debugfs -R "dump_extents &lt;11417350&gt;" /dev/sda1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debugfs 1.47.2 (1-Jan-2025)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Level Entries       Logical    Physical Length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0/ 1   1/  1   768 -  4608  1273         3841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1/ 1   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1/  6   768 -   768  322 -  322     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1/ 1   2/  6  1536 -  1536  455 -  455     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1/ 1   3/  6  2304 -  2304  562 -  562     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1/ 1   4/  6  3072 -  3072  564 -  564     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1/ 1   5/  6  3840 -  3840  666 -  666     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1/ 1   6/  6  4608 -  4608  677 -  677     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7" name="Google Shape;1027;p46"/>
          <p:cNvSpPr txBox="1"/>
          <p:nvPr/>
        </p:nvSpPr>
        <p:spPr>
          <a:xfrm>
            <a:off x="38025" y="4130000"/>
            <a:ext cx="602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Después de añadir un total de 341 bloques al fichero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8" name="Google Shape;1028;p46"/>
          <p:cNvSpPr/>
          <p:nvPr/>
        </p:nvSpPr>
        <p:spPr>
          <a:xfrm>
            <a:off x="779225" y="5762134"/>
            <a:ext cx="4047000" cy="67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46"/>
          <p:cNvSpPr/>
          <p:nvPr/>
        </p:nvSpPr>
        <p:spPr>
          <a:xfrm>
            <a:off x="2502124" y="4994225"/>
            <a:ext cx="1393500" cy="471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768-261887</a:t>
            </a:r>
            <a:endParaRPr/>
          </a:p>
        </p:txBody>
      </p:sp>
      <p:sp>
        <p:nvSpPr>
          <p:cNvPr id="1030" name="Google Shape;1030;p46"/>
          <p:cNvSpPr/>
          <p:nvPr/>
        </p:nvSpPr>
        <p:spPr>
          <a:xfrm>
            <a:off x="876907" y="5855234"/>
            <a:ext cx="594300" cy="471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768</a:t>
            </a:r>
            <a:endParaRPr/>
          </a:p>
        </p:txBody>
      </p:sp>
      <p:sp>
        <p:nvSpPr>
          <p:cNvPr id="1031" name="Google Shape;1031;p46"/>
          <p:cNvSpPr/>
          <p:nvPr/>
        </p:nvSpPr>
        <p:spPr>
          <a:xfrm>
            <a:off x="1471470" y="5855234"/>
            <a:ext cx="594300" cy="471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1536</a:t>
            </a:r>
            <a:endParaRPr/>
          </a:p>
        </p:txBody>
      </p:sp>
      <p:sp>
        <p:nvSpPr>
          <p:cNvPr id="1032" name="Google Shape;1032;p46"/>
          <p:cNvSpPr/>
          <p:nvPr/>
        </p:nvSpPr>
        <p:spPr>
          <a:xfrm>
            <a:off x="2073467" y="5855234"/>
            <a:ext cx="594300" cy="471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2304</a:t>
            </a:r>
            <a:endParaRPr/>
          </a:p>
        </p:txBody>
      </p:sp>
      <p:sp>
        <p:nvSpPr>
          <p:cNvPr id="1033" name="Google Shape;1033;p46"/>
          <p:cNvSpPr/>
          <p:nvPr/>
        </p:nvSpPr>
        <p:spPr>
          <a:xfrm>
            <a:off x="2675463" y="5855234"/>
            <a:ext cx="594300" cy="471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3840</a:t>
            </a:r>
            <a:endParaRPr/>
          </a:p>
        </p:txBody>
      </p:sp>
      <p:sp>
        <p:nvSpPr>
          <p:cNvPr id="1034" name="Google Shape;1034;p46"/>
          <p:cNvSpPr/>
          <p:nvPr/>
        </p:nvSpPr>
        <p:spPr>
          <a:xfrm>
            <a:off x="3277460" y="5855234"/>
            <a:ext cx="594300" cy="471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…</a:t>
            </a:r>
            <a:endParaRPr/>
          </a:p>
        </p:txBody>
      </p:sp>
      <p:cxnSp>
        <p:nvCxnSpPr>
          <p:cNvPr id="1035" name="Google Shape;1035;p46"/>
          <p:cNvCxnSpPr>
            <a:stCxn id="1029" idx="2"/>
            <a:endCxn id="1028" idx="0"/>
          </p:cNvCxnSpPr>
          <p:nvPr/>
        </p:nvCxnSpPr>
        <p:spPr>
          <a:xfrm flipH="1">
            <a:off x="2802874" y="5465525"/>
            <a:ext cx="396000" cy="2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6" name="Google Shape;1036;p46"/>
          <p:cNvSpPr txBox="1"/>
          <p:nvPr/>
        </p:nvSpPr>
        <p:spPr>
          <a:xfrm>
            <a:off x="2918409" y="4518609"/>
            <a:ext cx="242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Nodo raíz (en el inodo)</a:t>
            </a:r>
            <a:endParaRPr/>
          </a:p>
        </p:txBody>
      </p:sp>
      <p:sp>
        <p:nvSpPr>
          <p:cNvPr id="1037" name="Google Shape;1037;p46"/>
          <p:cNvSpPr txBox="1"/>
          <p:nvPr/>
        </p:nvSpPr>
        <p:spPr>
          <a:xfrm>
            <a:off x="1260650" y="6423609"/>
            <a:ext cx="315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Nodo hoja (en el bloque 1273)</a:t>
            </a:r>
            <a:endParaRPr/>
          </a:p>
        </p:txBody>
      </p:sp>
      <p:sp>
        <p:nvSpPr>
          <p:cNvPr id="1038" name="Google Shape;1038;p46"/>
          <p:cNvSpPr/>
          <p:nvPr/>
        </p:nvSpPr>
        <p:spPr>
          <a:xfrm>
            <a:off x="3903498" y="4994225"/>
            <a:ext cx="1761000" cy="471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261888</a:t>
            </a:r>
            <a:r>
              <a:rPr lang="es"/>
              <a:t>-261888</a:t>
            </a:r>
            <a:endParaRPr/>
          </a:p>
        </p:txBody>
      </p:sp>
      <p:sp>
        <p:nvSpPr>
          <p:cNvPr id="1039" name="Google Shape;1039;p46"/>
          <p:cNvSpPr/>
          <p:nvPr/>
        </p:nvSpPr>
        <p:spPr>
          <a:xfrm>
            <a:off x="3871848" y="5855234"/>
            <a:ext cx="863100" cy="471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261887</a:t>
            </a:r>
            <a:endParaRPr/>
          </a:p>
        </p:txBody>
      </p:sp>
      <p:sp>
        <p:nvSpPr>
          <p:cNvPr id="1040" name="Google Shape;1040;p46"/>
          <p:cNvSpPr/>
          <p:nvPr/>
        </p:nvSpPr>
        <p:spPr>
          <a:xfrm>
            <a:off x="5046425" y="5762125"/>
            <a:ext cx="1095900" cy="67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6"/>
          <p:cNvSpPr txBox="1"/>
          <p:nvPr/>
        </p:nvSpPr>
        <p:spPr>
          <a:xfrm>
            <a:off x="4933456" y="6423609"/>
            <a:ext cx="315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Nodo hoja (en el bloque 4533)</a:t>
            </a:r>
            <a:endParaRPr/>
          </a:p>
        </p:txBody>
      </p:sp>
      <p:sp>
        <p:nvSpPr>
          <p:cNvPr id="1042" name="Google Shape;1042;p46"/>
          <p:cNvSpPr/>
          <p:nvPr/>
        </p:nvSpPr>
        <p:spPr>
          <a:xfrm>
            <a:off x="5167248" y="5855234"/>
            <a:ext cx="863100" cy="471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261888</a:t>
            </a:r>
            <a:endParaRPr/>
          </a:p>
        </p:txBody>
      </p:sp>
      <p:cxnSp>
        <p:nvCxnSpPr>
          <p:cNvPr id="1043" name="Google Shape;1043;p46"/>
          <p:cNvCxnSpPr>
            <a:stCxn id="1038" idx="2"/>
            <a:endCxn id="1040" idx="0"/>
          </p:cNvCxnSpPr>
          <p:nvPr/>
        </p:nvCxnSpPr>
        <p:spPr>
          <a:xfrm>
            <a:off x="4783998" y="5465525"/>
            <a:ext cx="810300" cy="2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4" name="Google Shape;1044;p46"/>
          <p:cNvSpPr txBox="1"/>
          <p:nvPr/>
        </p:nvSpPr>
        <p:spPr>
          <a:xfrm>
            <a:off x="6455200" y="4548013"/>
            <a:ext cx="2515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implementación ext4 parte el nodo en el punto de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inserción, ver </a:t>
            </a:r>
            <a:r>
              <a:rPr lang="e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ext4/extents.c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45" name="Google Shape;1045;p46"/>
          <p:cNvCxnSpPr/>
          <p:nvPr/>
        </p:nvCxnSpPr>
        <p:spPr>
          <a:xfrm>
            <a:off x="5147675" y="2686457"/>
            <a:ext cx="0" cy="12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046" name="Google Shape;1046;p46"/>
          <p:cNvCxnSpPr>
            <a:endCxn id="1011" idx="1"/>
          </p:cNvCxnSpPr>
          <p:nvPr/>
        </p:nvCxnSpPr>
        <p:spPr>
          <a:xfrm>
            <a:off x="5139125" y="3105475"/>
            <a:ext cx="82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7"/>
          <p:cNvSpPr/>
          <p:nvPr/>
        </p:nvSpPr>
        <p:spPr>
          <a:xfrm>
            <a:off x="58108" y="3112575"/>
            <a:ext cx="8988900" cy="3654900"/>
          </a:xfrm>
          <a:prstGeom prst="roundRect">
            <a:avLst>
              <a:gd fmla="val 1590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47"/>
          <p:cNvSpPr txBox="1"/>
          <p:nvPr/>
        </p:nvSpPr>
        <p:spPr>
          <a:xfrm>
            <a:off x="8400" y="3082852"/>
            <a:ext cx="91176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Ejemplo.</a:t>
            </a:r>
            <a:endParaRPr b="1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Tamaño de bloque 1K. Bloques 102400-103423 (1M) sin inicializar.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[Extent 0]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Offset: 102400 Length: 1024 Start: 21504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Google Shape;1053;p47"/>
          <p:cNvSpPr/>
          <p:nvPr/>
        </p:nvSpPr>
        <p:spPr>
          <a:xfrm>
            <a:off x="197825" y="5680654"/>
            <a:ext cx="8675100" cy="556800"/>
          </a:xfrm>
          <a:prstGeom prst="roundRect">
            <a:avLst>
              <a:gd fmla="val 764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4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7"/>
          <p:cNvSpPr txBox="1"/>
          <p:nvPr>
            <p:ph type="ctrTitle"/>
          </p:nvPr>
        </p:nvSpPr>
        <p:spPr>
          <a:xfrm>
            <a:off x="-90336" y="0"/>
            <a:ext cx="93612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Sistemas de Ficheros. Gestión de Bloques (VIII)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56" name="Google Shape;1056;p47"/>
          <p:cNvSpPr txBox="1"/>
          <p:nvPr/>
        </p:nvSpPr>
        <p:spPr>
          <a:xfrm>
            <a:off x="12915" y="748271"/>
            <a:ext cx="91440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Ficheros Dispersos (sparse)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Son ficheros parcialmente vacíos (regiones del fichero sin datos)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sistema de ficheros no escribe (ni lee) estos bloques del disco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Implementación: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809999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Bloques Indexados: Sólo se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inicializan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los índices necesarios para los bloques usados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809999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Extents: Los extents que se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corresponden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con estas regiones no están presentes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7" name="Google Shape;1057;p47"/>
          <p:cNvSpPr/>
          <p:nvPr/>
        </p:nvSpPr>
        <p:spPr>
          <a:xfrm>
            <a:off x="197825" y="4881200"/>
            <a:ext cx="8675100" cy="556800"/>
          </a:xfrm>
          <a:prstGeom prst="roundRect">
            <a:avLst>
              <a:gd fmla="val 764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47"/>
          <p:cNvSpPr txBox="1"/>
          <p:nvPr/>
        </p:nvSpPr>
        <p:spPr>
          <a:xfrm>
            <a:off x="228600" y="4828450"/>
            <a:ext cx="85785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#Fichero de 101M con solo el último M escrito</a:t>
            </a:r>
            <a:endParaRPr i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dd if=/dev/zero of=sparse.img bs=1M seek=100 count=1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ls -slh | grep sparse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1.0M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-rw-r--r-- 1 ruben ruben </a:t>
            </a:r>
            <a:r>
              <a:rPr b="1" lang="es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101M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Feb 3 10:38 sparse.img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9" name="Google Shape;1059;p47"/>
          <p:cNvSpPr/>
          <p:nvPr/>
        </p:nvSpPr>
        <p:spPr>
          <a:xfrm>
            <a:off x="468925" y="4198386"/>
            <a:ext cx="7788600" cy="468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100M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[</a:t>
            </a:r>
            <a:r>
              <a:rPr b="1" lang="es">
                <a:solidFill>
                  <a:schemeClr val="dk1"/>
                </a:solidFill>
              </a:rPr>
              <a:t>0 - 102399]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060" name="Google Shape;1060;p47"/>
          <p:cNvSpPr/>
          <p:nvPr/>
        </p:nvSpPr>
        <p:spPr>
          <a:xfrm>
            <a:off x="6506300" y="4193990"/>
            <a:ext cx="1751400" cy="4689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1M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[</a:t>
            </a:r>
            <a:r>
              <a:rPr b="1" lang="es">
                <a:solidFill>
                  <a:srgbClr val="FFFFFF"/>
                </a:solidFill>
              </a:rPr>
              <a:t>102400-103423]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061" name="Google Shape;1061;p47"/>
          <p:cNvSpPr txBox="1"/>
          <p:nvPr/>
        </p:nvSpPr>
        <p:spPr>
          <a:xfrm>
            <a:off x="3511075" y="6412400"/>
            <a:ext cx="452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Bloques asignados y tamaño del fichero son diferentes</a:t>
            </a:r>
            <a:endParaRPr/>
          </a:p>
        </p:txBody>
      </p:sp>
      <p:cxnSp>
        <p:nvCxnSpPr>
          <p:cNvPr id="1062" name="Google Shape;1062;p47"/>
          <p:cNvCxnSpPr/>
          <p:nvPr/>
        </p:nvCxnSpPr>
        <p:spPr>
          <a:xfrm>
            <a:off x="3380650" y="6169275"/>
            <a:ext cx="622800" cy="3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3" name="Google Shape;1063;p47"/>
          <p:cNvCxnSpPr/>
          <p:nvPr/>
        </p:nvCxnSpPr>
        <p:spPr>
          <a:xfrm flipH="1" rot="10800000">
            <a:off x="332650" y="6161900"/>
            <a:ext cx="33849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4" name="Google Shape;1064;p47"/>
          <p:cNvCxnSpPr>
            <a:endCxn id="1060" idx="0"/>
          </p:cNvCxnSpPr>
          <p:nvPr/>
        </p:nvCxnSpPr>
        <p:spPr>
          <a:xfrm>
            <a:off x="4952900" y="3952190"/>
            <a:ext cx="2429100" cy="241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