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6858000" cx="9144000"/>
  <p:notesSz cx="7099300" cy="10234600"/>
  <p:embeddedFontLst>
    <p:embeddedFont>
      <p:font typeface="Inter SemiBold"/>
      <p:regular r:id="rId41"/>
      <p:bold r:id="rId42"/>
      <p:italic r:id="rId43"/>
      <p:boldItalic r:id="rId44"/>
    </p:embeddedFont>
    <p:embeddedFont>
      <p:font typeface="Inter"/>
      <p:regular r:id="rId45"/>
      <p:bold r:id="rId46"/>
      <p:italic r:id="rId47"/>
      <p:boldItalic r:id="rId48"/>
    </p:embeddedFont>
    <p:embeddedFont>
      <p:font typeface="Inter Medium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InterSemiBold-bold.fntdata"/><Relationship Id="rId41" Type="http://schemas.openxmlformats.org/officeDocument/2006/relationships/font" Target="fonts/InterSemiBold-regular.fntdata"/><Relationship Id="rId44" Type="http://schemas.openxmlformats.org/officeDocument/2006/relationships/font" Target="fonts/InterSemiBold-boldItalic.fntdata"/><Relationship Id="rId43" Type="http://schemas.openxmlformats.org/officeDocument/2006/relationships/font" Target="fonts/InterSemiBold-italic.fntdata"/><Relationship Id="rId46" Type="http://schemas.openxmlformats.org/officeDocument/2006/relationships/font" Target="fonts/Inter-bold.fntdata"/><Relationship Id="rId45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Inter-boldItalic.fntdata"/><Relationship Id="rId47" Type="http://schemas.openxmlformats.org/officeDocument/2006/relationships/font" Target="fonts/Inter-italic.fntdata"/><Relationship Id="rId49" Type="http://schemas.openxmlformats.org/officeDocument/2006/relationships/font" Target="fonts/Inter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InterMedium-italic.fntdata"/><Relationship Id="rId50" Type="http://schemas.openxmlformats.org/officeDocument/2006/relationships/font" Target="fonts/InterMedium-bold.fntdata"/><Relationship Id="rId52" Type="http://schemas.openxmlformats.org/officeDocument/2006/relationships/font" Target="fonts/Inter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7099300" cy="10234612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Google Shape;4;n"/>
          <p:cNvSpPr txBox="1"/>
          <p:nvPr>
            <p:ph idx="2" type="hdr"/>
          </p:nvPr>
        </p:nvSpPr>
        <p:spPr>
          <a:xfrm>
            <a:off x="0" y="0"/>
            <a:ext cx="3076575" cy="5095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" name="Google Shape;5;n"/>
          <p:cNvSpPr txBox="1"/>
          <p:nvPr>
            <p:ph idx="10" type="dt"/>
          </p:nvPr>
        </p:nvSpPr>
        <p:spPr>
          <a:xfrm>
            <a:off x="4021137" y="0"/>
            <a:ext cx="3076575" cy="5095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" name="Google Shape;6;n"/>
          <p:cNvSpPr/>
          <p:nvPr>
            <p:ph idx="3" type="sldImg"/>
          </p:nvPr>
        </p:nvSpPr>
        <p:spPr>
          <a:xfrm>
            <a:off x="993775" y="768350"/>
            <a:ext cx="5113337" cy="383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" name="Google Shape;7;n"/>
          <p:cNvSpPr txBox="1"/>
          <p:nvPr>
            <p:ph idx="1" type="body"/>
          </p:nvPr>
        </p:nvSpPr>
        <p:spPr>
          <a:xfrm>
            <a:off x="709612" y="4862512"/>
            <a:ext cx="5680075" cy="4603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" name="Google Shape;8;n"/>
          <p:cNvSpPr txBox="1"/>
          <p:nvPr>
            <p:ph idx="11" type="ftr"/>
          </p:nvPr>
        </p:nvSpPr>
        <p:spPr>
          <a:xfrm>
            <a:off x="0" y="9721850"/>
            <a:ext cx="3076575" cy="5095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" name="Google Shape;9;n"/>
          <p:cNvSpPr txBox="1"/>
          <p:nvPr>
            <p:ph idx="12" type="sldNum"/>
          </p:nvPr>
        </p:nvSpPr>
        <p:spPr>
          <a:xfrm>
            <a:off x="4021137" y="9721850"/>
            <a:ext cx="3076575" cy="5095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8900" lvl="1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9a86105645_31_2:notes"/>
          <p:cNvSpPr/>
          <p:nvPr/>
        </p:nvSpPr>
        <p:spPr>
          <a:xfrm>
            <a:off x="973137" y="768350"/>
            <a:ext cx="5156100" cy="38370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9a86105645_31_2:notes"/>
          <p:cNvSpPr txBox="1"/>
          <p:nvPr/>
        </p:nvSpPr>
        <p:spPr>
          <a:xfrm>
            <a:off x="709612" y="4862512"/>
            <a:ext cx="56817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075" spcFirstLastPara="1" rIns="95075" wrap="square" tIns="4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9a86105645_31_2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9a86105645_31_2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0968df0667_0_0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0968df0667_0_0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0217524ed_1_37:notes"/>
          <p:cNvSpPr/>
          <p:nvPr/>
        </p:nvSpPr>
        <p:spPr>
          <a:xfrm>
            <a:off x="973137" y="768350"/>
            <a:ext cx="5156100" cy="38370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70217524ed_1_37:notes"/>
          <p:cNvSpPr txBox="1"/>
          <p:nvPr/>
        </p:nvSpPr>
        <p:spPr>
          <a:xfrm>
            <a:off x="709612" y="4862512"/>
            <a:ext cx="56817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075" spcFirstLastPara="1" rIns="95075" wrap="square" tIns="4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70217524ed_1_37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70217524ed_1_37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fbbeaaa57_0_17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fbbeaaa57_0_17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fbbeaaa57_0_3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fbbeaaa57_0_3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fbbeaaa57_0_23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fbbeaaa57_0_23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f81647916_0_95:notes"/>
          <p:cNvSpPr/>
          <p:nvPr/>
        </p:nvSpPr>
        <p:spPr>
          <a:xfrm>
            <a:off x="973137" y="768350"/>
            <a:ext cx="5156100" cy="38370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9f81647916_0_95:notes"/>
          <p:cNvSpPr txBox="1"/>
          <p:nvPr/>
        </p:nvSpPr>
        <p:spPr>
          <a:xfrm>
            <a:off x="709612" y="4862512"/>
            <a:ext cx="56817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075" spcFirstLastPara="1" rIns="95075" wrap="square" tIns="4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9f81647916_0_95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9f81647916_0_95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4e47a1088_0_248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74e47a1088_0_248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572af1a70_0_60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7572af1a70_0_60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56c050027_0_9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56c050027_0_9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f81647916_0_113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f81647916_0_113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f81647916_0_121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f81647916_0_121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f81647916_0_130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f81647916_0_130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f81647916_0_138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f81647916_0_138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4e47a1088_0_239:notes"/>
          <p:cNvSpPr/>
          <p:nvPr/>
        </p:nvSpPr>
        <p:spPr>
          <a:xfrm>
            <a:off x="973137" y="768350"/>
            <a:ext cx="5156100" cy="38370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74e47a1088_0_239:notes"/>
          <p:cNvSpPr txBox="1"/>
          <p:nvPr/>
        </p:nvSpPr>
        <p:spPr>
          <a:xfrm>
            <a:off x="709612" y="4862512"/>
            <a:ext cx="56817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075" spcFirstLastPara="1" rIns="95075" wrap="square" tIns="4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74e47a1088_0_239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74e47a1088_0_239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f81647916_0_145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9f81647916_0_145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f81647916_0_151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9f81647916_0_151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f81647916_0_175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9f81647916_0_175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f81647916_0_199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9f81647916_0_199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1f971606b_0_0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a1f971606b_0_0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1f971606b_0_35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a1f971606b_0_35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1f971606b_0_18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a1f971606b_0_18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9f81647916_0_217:notes"/>
          <p:cNvSpPr/>
          <p:nvPr/>
        </p:nvSpPr>
        <p:spPr>
          <a:xfrm>
            <a:off x="973137" y="768350"/>
            <a:ext cx="5156100" cy="38370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9f81647916_0_217:notes"/>
          <p:cNvSpPr txBox="1"/>
          <p:nvPr/>
        </p:nvSpPr>
        <p:spPr>
          <a:xfrm>
            <a:off x="709612" y="4862512"/>
            <a:ext cx="56817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075" spcFirstLastPara="1" rIns="95075" wrap="square" tIns="4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9f81647916_0_217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9f81647916_0_217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9f81647916_0_226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9f81647916_0_226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9f81647916_0_261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9f81647916_0_261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f81647916_0_269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9f81647916_0_269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9f81647916_0_300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9f81647916_0_300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9f81647916_0_348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9f81647916_0_348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9f81647916_0_104:notes"/>
          <p:cNvSpPr/>
          <p:nvPr/>
        </p:nvSpPr>
        <p:spPr>
          <a:xfrm>
            <a:off x="973137" y="768350"/>
            <a:ext cx="5156100" cy="3837000"/>
          </a:xfrm>
          <a:prstGeom prst="rect">
            <a:avLst/>
          </a:prstGeom>
          <a:solidFill>
            <a:srgbClr val="FFFFFF"/>
          </a:solidFill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9f81647916_0_104:notes"/>
          <p:cNvSpPr txBox="1"/>
          <p:nvPr/>
        </p:nvSpPr>
        <p:spPr>
          <a:xfrm>
            <a:off x="709612" y="4862512"/>
            <a:ext cx="5681700" cy="46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525" lIns="95075" spcFirstLastPara="1" rIns="95075" wrap="square" tIns="4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9f81647916_0_104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9f81647916_0_104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9d43e5f759_0_0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9d43e5f759_0_0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9d43e5f759_0_15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9d43e5f759_0_15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9d43e5f759_0_31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9d43e5f759_0_31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9d651b1430_0_11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9d651b1430_0_11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9d43e5f759_0_40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9d43e5f759_0_40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9f81647916_0_3:notes"/>
          <p:cNvSpPr/>
          <p:nvPr>
            <p:ph idx="2" type="sldImg"/>
          </p:nvPr>
        </p:nvSpPr>
        <p:spPr>
          <a:xfrm>
            <a:off x="993775" y="768350"/>
            <a:ext cx="5113200" cy="383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9f81647916_0_3:notes"/>
          <p:cNvSpPr txBox="1"/>
          <p:nvPr>
            <p:ph idx="1" type="body"/>
          </p:nvPr>
        </p:nvSpPr>
        <p:spPr>
          <a:xfrm>
            <a:off x="709612" y="4862512"/>
            <a:ext cx="5680200" cy="46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611187" y="762000"/>
            <a:ext cx="8532900" cy="19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" type="subTitle"/>
          </p:nvPr>
        </p:nvSpPr>
        <p:spPr>
          <a:xfrm>
            <a:off x="1593850" y="173037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14605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0021"/>
              </a:buClr>
              <a:buSzPts val="30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2" type="body"/>
          </p:nvPr>
        </p:nvSpPr>
        <p:spPr>
          <a:xfrm>
            <a:off x="457200" y="1604962"/>
            <a:ext cx="82281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0021"/>
              </a:buClr>
              <a:buSzPts val="3000"/>
              <a:buChar char="●"/>
              <a:defRPr sz="2400">
                <a:solidFill>
                  <a:srgbClr val="A50021"/>
                </a:solidFill>
              </a:defRPr>
            </a:lvl1pPr>
            <a:lvl2pPr indent="-381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Char char="●"/>
              <a:defRPr sz="2000">
                <a:solidFill>
                  <a:srgbClr val="003366"/>
                </a:solidFill>
              </a:defRPr>
            </a:lvl2pPr>
            <a:lvl3pPr indent="-381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 sz="1800">
                <a:solidFill>
                  <a:srgbClr val="000000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4pPr>
            <a:lvl5pPr indent="-3429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5pPr>
            <a:lvl6pPr indent="-3429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_1">
  <p:cSld name="TITLE_AND_TWO_COLUMNS_1"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214312" y="-53975"/>
            <a:ext cx="86868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206375" y="765175"/>
            <a:ext cx="8686800" cy="57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0021"/>
              </a:buClr>
              <a:buSzPts val="3000"/>
              <a:buChar char="●"/>
              <a:defRPr sz="2400">
                <a:solidFill>
                  <a:srgbClr val="A50021"/>
                </a:solidFill>
              </a:defRPr>
            </a:lvl1pPr>
            <a:lvl2pPr indent="-381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Char char="●"/>
              <a:defRPr sz="2000">
                <a:solidFill>
                  <a:srgbClr val="003366"/>
                </a:solidFill>
              </a:defRPr>
            </a:lvl2pPr>
            <a:lvl3pPr indent="-381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 sz="1800">
                <a:solidFill>
                  <a:srgbClr val="000000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4pPr>
            <a:lvl5pPr indent="-3429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5pPr>
            <a:lvl6pPr indent="-3429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6975475" y="73025"/>
            <a:ext cx="21321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AND_TWO_OBJECTS" type="txAndTwoObj">
  <p:cSld name="TEXT_AND_TWO_OBJECTS"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214312" y="-53975"/>
            <a:ext cx="86853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206375" y="765175"/>
            <a:ext cx="8686800" cy="56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0021"/>
              </a:buClr>
              <a:buSzPts val="3000"/>
              <a:buChar char="●"/>
              <a:defRPr sz="2400">
                <a:solidFill>
                  <a:srgbClr val="A50021"/>
                </a:solidFill>
              </a:defRPr>
            </a:lvl1pPr>
            <a:lvl2pPr indent="-381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Char char="●"/>
              <a:defRPr sz="2000">
                <a:solidFill>
                  <a:srgbClr val="003366"/>
                </a:solidFill>
              </a:defRPr>
            </a:lvl2pPr>
            <a:lvl3pPr indent="-381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 sz="1800">
                <a:solidFill>
                  <a:srgbClr val="000000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4pPr>
            <a:lvl5pPr indent="-3429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5pPr>
            <a:lvl6pPr indent="-3429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6975475" y="73025"/>
            <a:ext cx="21321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_OBJECTS" type="fourObj">
  <p:cSld name="FOUR_OBJECTS"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214312" y="-53975"/>
            <a:ext cx="86868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2" name="Google Shape;42;p11"/>
          <p:cNvSpPr txBox="1"/>
          <p:nvPr>
            <p:ph idx="12" type="sldNum"/>
          </p:nvPr>
        </p:nvSpPr>
        <p:spPr>
          <a:xfrm>
            <a:off x="6975475" y="73025"/>
            <a:ext cx="21321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206375" y="765175"/>
            <a:ext cx="8685300" cy="52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50021"/>
              </a:buClr>
              <a:buSzPts val="3000"/>
              <a:buChar char="●"/>
              <a:defRPr sz="2400">
                <a:solidFill>
                  <a:srgbClr val="A50021"/>
                </a:solidFill>
              </a:defRPr>
            </a:lvl1pPr>
            <a:lvl2pPr indent="-3810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Char char="●"/>
              <a:defRPr sz="2000">
                <a:solidFill>
                  <a:srgbClr val="003366"/>
                </a:solidFill>
              </a:defRPr>
            </a:lvl2pPr>
            <a:lvl3pPr indent="-3810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 sz="1800">
                <a:solidFill>
                  <a:srgbClr val="000000"/>
                </a:solidFill>
              </a:defRPr>
            </a:lvl3pPr>
            <a:lvl4pPr indent="-3429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4pPr>
            <a:lvl5pPr indent="-3429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1600"/>
            </a:lvl5pPr>
            <a:lvl6pPr indent="-3429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6pPr>
            <a:lvl7pPr indent="-3429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7pPr>
            <a:lvl8pPr indent="-3429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8pPr>
            <a:lvl9pPr indent="-3429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Char char="●"/>
              <a:defRPr sz="2400">
                <a:solidFill>
                  <a:srgbClr val="A5002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pubs.opengroup.org/onlinepubs/9799919799/basedefs/V1_chap04.html#tag_04_15_02" TargetMode="External"/><Relationship Id="rId4" Type="http://schemas.openxmlformats.org/officeDocument/2006/relationships/hyperlink" Target="https://pubs.opengroup.org/onlinepubs/9799919799/basedefs/V1_chap04.html#tag_04_15_02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cdrdv2-public.intel.com/782156/325383-sdm-vol-2abcd.pdf" TargetMode="External"/><Relationship Id="rId4" Type="http://schemas.openxmlformats.org/officeDocument/2006/relationships/hyperlink" Target="https://developer.arm.com/documentation/dui0489/e/arm-and-thumb-instructions/miscellaneous-instructions/dmb--dsb--and-isb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codebrowser.dev/glibc/glibc/nptl/pthread_mutex_lock.c.html#221" TargetMode="External"/><Relationship Id="rId4" Type="http://schemas.openxmlformats.org/officeDocument/2006/relationships/hyperlink" Target="https://lwn.net/Articles/360699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" type="subTitle"/>
          </p:nvPr>
        </p:nvSpPr>
        <p:spPr>
          <a:xfrm>
            <a:off x="954245" y="76850"/>
            <a:ext cx="81813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lang="es">
                <a:latin typeface="Inter SemiBold"/>
                <a:ea typeface="Inter SemiBold"/>
                <a:cs typeface="Inter SemiBold"/>
                <a:sym typeface="Inter SemiBold"/>
              </a:rPr>
              <a:t>SISTEMAS OPERATIVOS</a:t>
            </a:r>
            <a:endParaRPr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Grado en </a:t>
            </a:r>
            <a:r>
              <a:rPr i="1" lang="es" sz="1400">
                <a:latin typeface="Inter"/>
                <a:ea typeface="Inter"/>
                <a:cs typeface="Inter"/>
                <a:sym typeface="Inter"/>
              </a:rPr>
              <a:t>Desarrollo de Videojuegos</a:t>
            </a:r>
            <a:endParaRPr i="1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Universidad Complutense de Madrid</a:t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" name="Google Shape;51;p12"/>
          <p:cNvSpPr/>
          <p:nvPr/>
        </p:nvSpPr>
        <p:spPr>
          <a:xfrm>
            <a:off x="8400" y="113285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2"/>
          <p:cNvSpPr txBox="1"/>
          <p:nvPr>
            <p:ph idx="4294967295" type="ctrTitle"/>
          </p:nvPr>
        </p:nvSpPr>
        <p:spPr>
          <a:xfrm>
            <a:off x="534975" y="2720725"/>
            <a:ext cx="86298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TEMA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. Threads y Sincronizaci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ón</a:t>
            </a:r>
            <a:endParaRPr b="0" i="0" sz="3000" u="none" cap="none" strike="noStrike">
              <a:solidFill>
                <a:srgbClr val="4279B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3" name="Google Shape;53;p12" title="Escudo_de_la_Universidad_Complutense_de_Madrid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25" y="76851"/>
            <a:ext cx="799893" cy="91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Tema 5. </a:t>
            </a:r>
            <a:r>
              <a:rPr lang="e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Threads y Sincronización</a:t>
            </a:r>
            <a:endParaRPr i="0" sz="3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21625" y="822900"/>
            <a:ext cx="4450500" cy="58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latin typeface="Inter"/>
                <a:ea typeface="Inter"/>
                <a:cs typeface="Inter"/>
                <a:sym typeface="Inter"/>
              </a:rPr>
              <a:t>5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.1 Introducci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ón</a:t>
            </a:r>
            <a:endParaRPr b="1" sz="18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Concurrencia y Paralelismo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Sincronización y Comunicación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latin typeface="Inter"/>
                <a:ea typeface="Inter"/>
                <a:cs typeface="Inter"/>
                <a:sym typeface="Inter"/>
              </a:rPr>
              <a:t>5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.2 Procesos y Threads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Threads</a:t>
            </a:r>
            <a:endParaRPr sz="15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Creación y terminación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latin typeface="Inter"/>
                <a:ea typeface="Inter"/>
                <a:cs typeface="Inter"/>
                <a:sym typeface="Inter"/>
              </a:rPr>
              <a:t>5</a:t>
            </a:r>
            <a:r>
              <a:rPr b="1"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.3 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Región Crítica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Definici</a:t>
            </a:r>
            <a:r>
              <a:rPr lang="es" sz="1500">
                <a:latin typeface="Inter"/>
                <a:ea typeface="Inter"/>
                <a:cs typeface="Inter"/>
                <a:sym typeface="Inter"/>
              </a:rPr>
              <a:t>ón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pthread_mutex_t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Patr</a:t>
            </a:r>
            <a:r>
              <a:rPr lang="es" sz="1500">
                <a:latin typeface="Inter"/>
                <a:ea typeface="Inter"/>
                <a:cs typeface="Inter"/>
                <a:sym typeface="Inter"/>
              </a:rPr>
              <a:t>ón de diseño: </a:t>
            </a:r>
            <a:r>
              <a:rPr i="1" lang="es" sz="1500">
                <a:latin typeface="Inter"/>
                <a:ea typeface="Inter"/>
                <a:cs typeface="Inter"/>
                <a:sym typeface="Inter"/>
              </a:rPr>
              <a:t>Work Crew</a:t>
            </a:r>
            <a:endParaRPr i="1" sz="15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latin typeface="Inter"/>
                <a:ea typeface="Inter"/>
                <a:cs typeface="Inter"/>
                <a:sym typeface="Inter"/>
              </a:rPr>
              <a:t>5</a:t>
            </a:r>
            <a:r>
              <a:rPr b="1"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4</a:t>
            </a:r>
            <a:r>
              <a:rPr b="1" lang="e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Variables de Condición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Definición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p_thread_cont_t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Patrón de diseño</a:t>
            </a:r>
            <a:r>
              <a:rPr lang="es" sz="1500">
                <a:latin typeface="Inter"/>
                <a:ea typeface="Inter"/>
                <a:cs typeface="Inter"/>
                <a:sym typeface="Inter"/>
              </a:rPr>
              <a:t>: </a:t>
            </a:r>
            <a:r>
              <a:rPr i="1" lang="es" sz="1500">
                <a:latin typeface="Inter"/>
                <a:ea typeface="Inter"/>
                <a:cs typeface="Inter"/>
                <a:sym typeface="Inter"/>
              </a:rPr>
              <a:t>Productor-Consumidor</a:t>
            </a:r>
            <a:endParaRPr i="1" sz="15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4697297" y="826572"/>
            <a:ext cx="4450500" cy="58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latin typeface="Inter"/>
                <a:ea typeface="Inter"/>
                <a:cs typeface="Inter"/>
                <a:sym typeface="Inter"/>
              </a:rPr>
              <a:t>5.5 Soporte del Sistema</a:t>
            </a:r>
            <a:endParaRPr b="1" sz="18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Visibilidad de memoria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Soporte de la CPU - ISA</a:t>
            </a:r>
            <a:endParaRPr sz="1500"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Inter"/>
              <a:buChar char="●"/>
            </a:pPr>
            <a:r>
              <a:rPr lang="es" sz="1500">
                <a:latin typeface="Inter"/>
                <a:ea typeface="Inter"/>
                <a:cs typeface="Inter"/>
                <a:sym typeface="Inter"/>
              </a:rPr>
              <a:t>Soporte del SO</a:t>
            </a:r>
            <a:endParaRPr sz="15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954245" y="76850"/>
            <a:ext cx="81813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lang="es">
                <a:latin typeface="Inter SemiBold"/>
                <a:ea typeface="Inter SemiBold"/>
                <a:cs typeface="Inter SemiBold"/>
                <a:sym typeface="Inter SemiBold"/>
              </a:rPr>
              <a:t>SISTEMAS OPERATIVOS</a:t>
            </a:r>
            <a:endParaRPr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Grado en </a:t>
            </a:r>
            <a:r>
              <a:rPr i="1" lang="es" sz="1400">
                <a:latin typeface="Inter"/>
                <a:ea typeface="Inter"/>
                <a:cs typeface="Inter"/>
                <a:sym typeface="Inter"/>
              </a:rPr>
              <a:t>Desarrollo de Videojuegos</a:t>
            </a:r>
            <a:endParaRPr i="1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Universidad Complutense de Madrid</a:t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8400" y="113285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>
            <p:ph idx="4294967295" type="ctrTitle"/>
          </p:nvPr>
        </p:nvSpPr>
        <p:spPr>
          <a:xfrm>
            <a:off x="534975" y="2720725"/>
            <a:ext cx="86298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TEMA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.1</a:t>
            </a: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Introducción</a:t>
            </a:r>
            <a:endParaRPr b="0" i="0" sz="3000" u="none" cap="none" strike="noStrike">
              <a:solidFill>
                <a:srgbClr val="4279B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1" name="Google Shape;71;p14" title="Escudo_de_la_Universidad_Complutense_de_Madrid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25" y="76851"/>
            <a:ext cx="799893" cy="91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Concurrencia y Paralelismo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109800" y="788150"/>
            <a:ext cx="90078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Concurrencia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Permite la compartición de recursos (p.ej. CPU) entre procesos (o threads) mientras no está siendo usado por el proceso actual (p.ej. E/S).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Mecanismos 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b="1" lang="es" sz="1800">
                <a:solidFill>
                  <a:srgbClr val="3D85C6"/>
                </a:solidFill>
                <a:latin typeface="Inter"/>
                <a:ea typeface="Inter"/>
                <a:cs typeface="Inter"/>
                <a:sym typeface="Inter"/>
              </a:rPr>
              <a:t>Multiprogramación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(Tema 3)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b="1" lang="es" sz="1800">
                <a:solidFill>
                  <a:srgbClr val="3D85C6"/>
                </a:solidFill>
                <a:latin typeface="Inter"/>
                <a:ea typeface="Inter"/>
                <a:cs typeface="Inter"/>
                <a:sym typeface="Inter"/>
              </a:rPr>
              <a:t>Programación multi-thread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(Tema 5)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Programaci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ón asíncrona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(p.ej. corutinas C++, channels Golang, async/await Rust…)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Paralelismo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Uso simultáneo de los recursos del sistema (p.ej. cores de una CPU).</a:t>
            </a:r>
            <a:endParaRPr b="1"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Asociado al concepto de tiempo-compartido estudiado en la asignatura.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Usa los mismos mecanismos que la concurrencia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Sincronización y Comunicación (I)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147850" y="780874"/>
            <a:ext cx="8814300" cy="42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Sincronización.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Coordinar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la ejecución de varios procesos o threads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Mismo sistema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b="1" lang="es" sz="1800">
                <a:solidFill>
                  <a:srgbClr val="3D85C6"/>
                </a:solidFill>
                <a:latin typeface="Inter"/>
                <a:ea typeface="Inter"/>
                <a:cs typeface="Inter"/>
                <a:sym typeface="Inter"/>
              </a:rPr>
              <a:t>Señales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(Tema 3)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Ficheros, mediante el uso de cerrojos, p.ej.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flock(2)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b="1" lang="es" sz="1800">
                <a:solidFill>
                  <a:srgbClr val="3D85C6"/>
                </a:solidFill>
                <a:latin typeface="Inter"/>
                <a:ea typeface="Inter"/>
                <a:cs typeface="Inter"/>
                <a:sym typeface="Inter"/>
              </a:rPr>
              <a:t>Mutex y variables de condición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(hilos de un proceso) (Tema 5)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Semáforos (</a:t>
            </a:r>
            <a:r>
              <a:rPr lang="es" sz="1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System V IPC</a:t>
            </a:r>
            <a:r>
              <a:rPr lang="es" sz="18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, POSIX IPC</a:t>
            </a:r>
            <a:r>
              <a:rPr lang="es" sz="18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800">
              <a:solidFill>
                <a:srgbClr val="66666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Colas de mensajes (</a:t>
            </a:r>
            <a:r>
              <a:rPr lang="es" sz="1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System V IPC</a:t>
            </a:r>
            <a:r>
              <a:rPr lang="es" sz="18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, POSIX IPC)</a:t>
            </a:r>
            <a:endParaRPr sz="1800">
              <a:solidFill>
                <a:srgbClr val="66666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Basados en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UNIX domain socket(7)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(Asignatura Redes)</a:t>
            </a:r>
            <a:endParaRPr sz="1800">
              <a:solidFill>
                <a:srgbClr val="66666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Distintos sistemas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Basados en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socket(7)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TCP/UDP (Asignatura Redes)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Sincronización y Comunicación (II)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147850" y="795423"/>
            <a:ext cx="8814300" cy="41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Comunicación. 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Compartir datos entre varios procesos o threads</a:t>
            </a:r>
            <a:endParaRPr b="1"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Mismo sistema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b="1" lang="es" sz="1800">
                <a:solidFill>
                  <a:srgbClr val="3D85C6"/>
                </a:solidFill>
                <a:latin typeface="Inter"/>
                <a:ea typeface="Inter"/>
                <a:cs typeface="Inter"/>
                <a:sym typeface="Inter"/>
              </a:rPr>
              <a:t>Threads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(hilos de un proceso) (Tema 5)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rgbClr val="3D85C6"/>
                </a:solidFill>
                <a:latin typeface="Inter"/>
                <a:ea typeface="Inter"/>
                <a:cs typeface="Inter"/>
                <a:sym typeface="Inter"/>
              </a:rPr>
              <a:t>Memoria compartida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s" sz="1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System V IPC</a:t>
            </a:r>
            <a:r>
              <a:rPr lang="es" sz="18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, POSIX IPC</a:t>
            </a:r>
            <a:r>
              <a:rPr lang="es" sz="1800">
                <a:solidFill>
                  <a:srgbClr val="3D85C6"/>
                </a:solidFill>
                <a:latin typeface="Inter"/>
                <a:ea typeface="Inter"/>
                <a:cs typeface="Inter"/>
                <a:sym typeface="Inter"/>
              </a:rPr>
              <a:t>, Tema 4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b="1" lang="es" sz="1800">
                <a:solidFill>
                  <a:srgbClr val="3D85C6"/>
                </a:solidFill>
                <a:latin typeface="Inter"/>
                <a:ea typeface="Inter"/>
                <a:cs typeface="Inter"/>
                <a:sym typeface="Inter"/>
              </a:rPr>
              <a:t>Tuberías con y sin nombre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(Tema 1)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Colas de mensajes (</a:t>
            </a:r>
            <a:r>
              <a:rPr lang="es" sz="1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System V IPC</a:t>
            </a:r>
            <a:r>
              <a:rPr lang="es" sz="18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, POSIX IPC)</a:t>
            </a:r>
            <a:endParaRPr sz="1800">
              <a:solidFill>
                <a:srgbClr val="66666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b="1" lang="es" sz="1800">
                <a:solidFill>
                  <a:srgbClr val="3D85C6"/>
                </a:solidFill>
                <a:latin typeface="Inter"/>
                <a:ea typeface="Inter"/>
                <a:cs typeface="Inter"/>
                <a:sym typeface="Inter"/>
              </a:rPr>
              <a:t>Basados en ficheros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(Tema 2)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Basados en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UNIX domain socket(7)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(Asignatura Redes)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Distintos sistemas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Basados en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socket(7)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TCP/UDP (Asignatura Redes)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idx="1" type="subTitle"/>
          </p:nvPr>
        </p:nvSpPr>
        <p:spPr>
          <a:xfrm>
            <a:off x="954245" y="76850"/>
            <a:ext cx="81813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lang="es">
                <a:latin typeface="Inter SemiBold"/>
                <a:ea typeface="Inter SemiBold"/>
                <a:cs typeface="Inter SemiBold"/>
                <a:sym typeface="Inter SemiBold"/>
              </a:rPr>
              <a:t>SISTEMAS OPERATIVOS</a:t>
            </a:r>
            <a:endParaRPr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Grado en </a:t>
            </a:r>
            <a:r>
              <a:rPr i="1" lang="es" sz="1400">
                <a:latin typeface="Inter"/>
                <a:ea typeface="Inter"/>
                <a:cs typeface="Inter"/>
                <a:sym typeface="Inter"/>
              </a:rPr>
              <a:t>Desarrollo de Videojuegos</a:t>
            </a:r>
            <a:endParaRPr i="1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Universidad Complutense de Madrid</a:t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8400" y="113285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 txBox="1"/>
          <p:nvPr>
            <p:ph idx="4294967295" type="ctrTitle"/>
          </p:nvPr>
        </p:nvSpPr>
        <p:spPr>
          <a:xfrm>
            <a:off x="534975" y="2720725"/>
            <a:ext cx="86298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TEMA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5.2</a:t>
            </a: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Procesos y Threads</a:t>
            </a:r>
            <a:endParaRPr b="0" i="0" sz="3000" u="none" cap="none" strike="noStrike">
              <a:solidFill>
                <a:srgbClr val="4279B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2" name="Google Shape;102;p18" title="Escudo_de_la_Universidad_Complutense_de_Madrid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25" y="76851"/>
            <a:ext cx="799893" cy="91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/>
          <p:nvPr/>
        </p:nvSpPr>
        <p:spPr>
          <a:xfrm>
            <a:off x="51275" y="2732950"/>
            <a:ext cx="9026700" cy="4021500"/>
          </a:xfrm>
          <a:prstGeom prst="roundRect">
            <a:avLst>
              <a:gd fmla="val 3606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9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Threads (I)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147850" y="758100"/>
            <a:ext cx="8814300" cy="19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Proceso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Unidad de ejecución con su espacio de memoria virtual y recursos asociados (tabla de ficheros, gestión de señales…)</a:t>
            </a:r>
            <a:endParaRPr b="1"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Char char="●"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Thread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Es un 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“proceso ligero”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en el contexto de un proceso con el comparte algunos recursos (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especialmente el espacio de direcciones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 pero mantiene su propio contexto de ejecución.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3117825" y="2845787"/>
            <a:ext cx="2257200" cy="3661500"/>
          </a:xfrm>
          <a:prstGeom prst="rect">
            <a:avLst/>
          </a:prstGeom>
          <a:solidFill>
            <a:srgbClr val="FFFFFF"/>
          </a:solidFill>
          <a:ln cap="rnd" cmpd="sng" w="19050">
            <a:solidFill>
              <a:srgbClr val="134F5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/>
        </p:nvSpPr>
        <p:spPr>
          <a:xfrm>
            <a:off x="3117825" y="6080271"/>
            <a:ext cx="2257200" cy="329400"/>
          </a:xfrm>
          <a:prstGeom prst="rect">
            <a:avLst/>
          </a:prstGeom>
          <a:solidFill>
            <a:srgbClr val="76A5AF"/>
          </a:solidFill>
          <a:ln cap="rnd" cmpd="sng" w="9525">
            <a:solidFill>
              <a:srgbClr val="134F5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b="1" i="0" lang="es" sz="1500" u="none" cap="none" strike="noStrike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Pila TID</a:t>
            </a:r>
            <a:r>
              <a:rPr b="1" lang="es" sz="15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b="1" lang="es" sz="15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↑</a:t>
            </a:r>
            <a:endParaRPr b="1" i="0" sz="1500" u="none" cap="none" strike="noStrike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3117825" y="2935645"/>
            <a:ext cx="2257200" cy="685800"/>
          </a:xfrm>
          <a:prstGeom prst="rect">
            <a:avLst/>
          </a:prstGeom>
          <a:solidFill>
            <a:srgbClr val="D9EAD3"/>
          </a:solidFill>
          <a:ln cap="rnd" cmpd="sng" w="9525">
            <a:solidFill>
              <a:srgbClr val="134F5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b="1" i="0" lang="es" sz="1500" u="none" cap="none" strike="noStrike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Texto</a:t>
            </a:r>
            <a:r>
              <a:rPr i="0" lang="es" sz="1500" u="none" cap="none" strike="noStrike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i="0" lang="es" sz="1500" u="none" cap="none" strike="noStrike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(.text)</a:t>
            </a:r>
            <a:endParaRPr i="0" sz="1500" u="none" cap="none" strike="noStrike"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3117825" y="3626707"/>
            <a:ext cx="2257200" cy="668400"/>
          </a:xfrm>
          <a:prstGeom prst="rect">
            <a:avLst/>
          </a:prstGeom>
          <a:solidFill>
            <a:srgbClr val="9FC5E8"/>
          </a:solidFill>
          <a:ln cap="rnd" cmpd="sng" w="9525">
            <a:solidFill>
              <a:srgbClr val="134F5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b="1" i="0" lang="es" sz="1500" u="none" cap="none" strike="noStrike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Datos</a:t>
            </a:r>
            <a:endParaRPr b="1" i="0" sz="1500" u="none" cap="none" strike="noStrike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lang="es" sz="1500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(.bss,</a:t>
            </a:r>
            <a:r>
              <a:rPr lang="es" sz="15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500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.data,</a:t>
            </a:r>
            <a:r>
              <a:rPr lang="es" sz="15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500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.rodata)</a:t>
            </a:r>
            <a:endParaRPr sz="1500"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3117825" y="4300624"/>
            <a:ext cx="2257200" cy="341100"/>
          </a:xfrm>
          <a:prstGeom prst="rect">
            <a:avLst/>
          </a:prstGeom>
          <a:solidFill>
            <a:srgbClr val="D9D2E9"/>
          </a:solidFill>
          <a:ln cap="rnd" cmpd="sng" w="9525">
            <a:solidFill>
              <a:srgbClr val="134F5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b="1" i="1" lang="es" sz="15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Heap </a:t>
            </a:r>
            <a:r>
              <a:rPr b="1" lang="es" sz="15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 b="1" i="0" sz="1500" u="none" cap="none" strike="noStrike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3117825" y="4783451"/>
            <a:ext cx="2257200" cy="525600"/>
          </a:xfrm>
          <a:prstGeom prst="rect">
            <a:avLst/>
          </a:prstGeom>
          <a:solidFill>
            <a:srgbClr val="F3F3F3"/>
          </a:solidFill>
          <a:ln cap="rnd" cmpd="sng" w="9525">
            <a:solidFill>
              <a:srgbClr val="134F5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lang="es" sz="15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Memoria mapeada</a:t>
            </a:r>
            <a:endParaRPr sz="15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lang="es" sz="15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Librerías dinámicas</a:t>
            </a:r>
            <a:endParaRPr i="0" sz="1500" u="none" cap="none" strike="noStrike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3117825" y="5745687"/>
            <a:ext cx="2257200" cy="329400"/>
          </a:xfrm>
          <a:prstGeom prst="rect">
            <a:avLst/>
          </a:prstGeom>
          <a:solidFill>
            <a:srgbClr val="A2C4C9"/>
          </a:solidFill>
          <a:ln cap="rnd" cmpd="sng" w="9525">
            <a:solidFill>
              <a:srgbClr val="134F5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b="1" i="0" lang="es" sz="1500" u="none" cap="none" strike="noStrike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Pila TID</a:t>
            </a:r>
            <a:r>
              <a:rPr b="1" lang="es" sz="15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b="1" lang="es" sz="15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↑</a:t>
            </a:r>
            <a:endParaRPr b="1" i="0" sz="1500" u="none" cap="none" strike="noStrike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3117825" y="5408783"/>
            <a:ext cx="2257200" cy="329400"/>
          </a:xfrm>
          <a:prstGeom prst="rect">
            <a:avLst/>
          </a:prstGeom>
          <a:solidFill>
            <a:srgbClr val="D0E0E3"/>
          </a:solidFill>
          <a:ln cap="rnd" cmpd="sng" w="9525">
            <a:solidFill>
              <a:srgbClr val="134F5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486"/>
              </a:buClr>
              <a:buFont typeface="Times New Roman"/>
              <a:buNone/>
            </a:pPr>
            <a:r>
              <a:rPr b="1" i="0" lang="es" sz="1500" u="none" cap="none" strike="noStrike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Pila TI</a:t>
            </a:r>
            <a:r>
              <a:rPr b="1" lang="es" sz="15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b="1" i="0" lang="es" sz="1500" u="none" cap="none" strike="noStrike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b="1" lang="es" sz="15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↑</a:t>
            </a:r>
            <a:endParaRPr b="1" i="0" sz="1500" u="none" cap="none" strike="noStrike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9" name="Google Shape;119;p19"/>
          <p:cNvGrpSpPr/>
          <p:nvPr/>
        </p:nvGrpSpPr>
        <p:grpSpPr>
          <a:xfrm>
            <a:off x="5540608" y="2845787"/>
            <a:ext cx="3464100" cy="2121300"/>
            <a:chOff x="5758950" y="3092019"/>
            <a:chExt cx="3464100" cy="2121300"/>
          </a:xfrm>
        </p:grpSpPr>
        <p:sp>
          <p:nvSpPr>
            <p:cNvPr id="120" name="Google Shape;120;p19"/>
            <p:cNvSpPr/>
            <p:nvPr/>
          </p:nvSpPr>
          <p:spPr>
            <a:xfrm>
              <a:off x="5911350" y="3244419"/>
              <a:ext cx="3311700" cy="1968900"/>
            </a:xfrm>
            <a:prstGeom prst="rect">
              <a:avLst/>
            </a:prstGeom>
            <a:solidFill>
              <a:srgbClr val="76A5A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Inter"/>
                  <a:ea typeface="Inter"/>
                  <a:cs typeface="Inter"/>
                  <a:sym typeface="Inter"/>
                </a:rPr>
                <a:t>Thread (</a:t>
              </a:r>
              <a:r>
                <a:rPr b="1" i="1" lang="es">
                  <a:latin typeface="Inter"/>
                  <a:ea typeface="Inter"/>
                  <a:cs typeface="Inter"/>
                  <a:sym typeface="Inter"/>
                </a:rPr>
                <a:t>Atributos Específicos</a:t>
              </a:r>
              <a:r>
                <a:rPr b="1" lang="es"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b="1" i="1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">
                  <a:latin typeface="Inter"/>
                  <a:ea typeface="Inter"/>
                  <a:cs typeface="Inter"/>
                  <a:sym typeface="Inter"/>
                </a:rPr>
                <a:t>TID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Pila de ejecución</a:t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Contexto ejecución (</a:t>
              </a: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thread_struct</a:t>
              </a:r>
              <a:r>
                <a:rPr lang="es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latin typeface="Inter"/>
                  <a:ea typeface="Inter"/>
                  <a:cs typeface="Inter"/>
                  <a:sym typeface="Inter"/>
                </a:rPr>
                <a:t>variable </a:t>
              </a:r>
              <a:r>
                <a:rPr lang="es">
                  <a:latin typeface="Consolas"/>
                  <a:ea typeface="Consolas"/>
                  <a:cs typeface="Consolas"/>
                  <a:sym typeface="Consolas"/>
                </a:rPr>
                <a:t>errno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latin typeface="Inter"/>
                  <a:ea typeface="Inter"/>
                  <a:cs typeface="Inter"/>
                  <a:sym typeface="Inter"/>
                </a:rPr>
                <a:t>Configuración de señales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latin typeface="Inter"/>
                  <a:ea typeface="Inter"/>
                  <a:cs typeface="Inter"/>
                  <a:sym typeface="Inter"/>
                </a:rPr>
                <a:t>Atributos de planificació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1" name="Google Shape;121;p19"/>
            <p:cNvSpPr/>
            <p:nvPr/>
          </p:nvSpPr>
          <p:spPr>
            <a:xfrm>
              <a:off x="5835150" y="3168219"/>
              <a:ext cx="3311700" cy="1968900"/>
            </a:xfrm>
            <a:prstGeom prst="rect">
              <a:avLst/>
            </a:prstGeom>
            <a:solidFill>
              <a:srgbClr val="A2C4C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2" name="Google Shape;122;p19"/>
            <p:cNvSpPr/>
            <p:nvPr/>
          </p:nvSpPr>
          <p:spPr>
            <a:xfrm>
              <a:off x="5758950" y="3092019"/>
              <a:ext cx="3311700" cy="1968900"/>
            </a:xfrm>
            <a:prstGeom prst="rect">
              <a:avLst/>
            </a:prstGeom>
            <a:solidFill>
              <a:srgbClr val="D0E0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Inter"/>
                  <a:ea typeface="Inter"/>
                  <a:cs typeface="Inter"/>
                  <a:sym typeface="Inter"/>
                </a:rPr>
                <a:t>Thread (</a:t>
              </a:r>
              <a:r>
                <a:rPr b="1" i="1" lang="es">
                  <a:latin typeface="Inter"/>
                  <a:ea typeface="Inter"/>
                  <a:cs typeface="Inter"/>
                  <a:sym typeface="Inter"/>
                </a:rPr>
                <a:t>Atributos Específicos</a:t>
              </a:r>
              <a:r>
                <a:rPr b="1" lang="es"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b="1" i="1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">
                  <a:latin typeface="Inter"/>
                  <a:ea typeface="Inter"/>
                  <a:cs typeface="Inter"/>
                  <a:sym typeface="Inter"/>
                </a:rPr>
                <a:t>TID (</a:t>
              </a:r>
              <a:r>
                <a:rPr i="1" lang="es">
                  <a:latin typeface="Inter"/>
                  <a:ea typeface="Inter"/>
                  <a:cs typeface="Inter"/>
                  <a:sym typeface="Inter"/>
                </a:rPr>
                <a:t>Thread ID)</a:t>
              </a:r>
              <a:endParaRPr i="1"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Pila de ejecución</a:t>
              </a:r>
              <a:endPara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Contexto ejecución (</a:t>
              </a: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thread_struct</a:t>
              </a:r>
              <a:r>
                <a:rPr lang="es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latin typeface="Inter"/>
                  <a:ea typeface="Inter"/>
                  <a:cs typeface="Inter"/>
                  <a:sym typeface="Inter"/>
                </a:rPr>
                <a:t>variable </a:t>
              </a:r>
              <a:r>
                <a:rPr lang="es">
                  <a:latin typeface="Consolas"/>
                  <a:ea typeface="Consolas"/>
                  <a:cs typeface="Consolas"/>
                  <a:sym typeface="Consolas"/>
                </a:rPr>
                <a:t>errno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latin typeface="Inter"/>
                  <a:ea typeface="Inter"/>
                  <a:cs typeface="Inter"/>
                  <a:sym typeface="Inter"/>
                </a:rPr>
                <a:t>Configuración de señales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latin typeface="Inter"/>
                  <a:ea typeface="Inter"/>
                  <a:cs typeface="Inter"/>
                  <a:sym typeface="Inter"/>
                </a:rPr>
                <a:t>Atributos de planificación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23" name="Google Shape;123;p19"/>
            <p:cNvCxnSpPr/>
            <p:nvPr/>
          </p:nvCxnSpPr>
          <p:spPr>
            <a:xfrm>
              <a:off x="5766298" y="3458308"/>
              <a:ext cx="32898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4" name="Google Shape;124;p19"/>
          <p:cNvGrpSpPr/>
          <p:nvPr/>
        </p:nvGrpSpPr>
        <p:grpSpPr>
          <a:xfrm>
            <a:off x="216865" y="2845787"/>
            <a:ext cx="2715900" cy="3304500"/>
            <a:chOff x="216865" y="2845787"/>
            <a:chExt cx="2715900" cy="3304500"/>
          </a:xfrm>
        </p:grpSpPr>
        <p:sp>
          <p:nvSpPr>
            <p:cNvPr id="125" name="Google Shape;125;p19"/>
            <p:cNvSpPr/>
            <p:nvPr/>
          </p:nvSpPr>
          <p:spPr>
            <a:xfrm>
              <a:off x="249115" y="2878012"/>
              <a:ext cx="2669100" cy="32313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9"/>
            <p:cNvSpPr/>
            <p:nvPr/>
          </p:nvSpPr>
          <p:spPr>
            <a:xfrm>
              <a:off x="249115" y="4637937"/>
              <a:ext cx="2674200" cy="505500"/>
            </a:xfrm>
            <a:prstGeom prst="rect">
              <a:avLst/>
            </a:prstGeom>
            <a:solidFill>
              <a:srgbClr val="EAD1DC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9"/>
            <p:cNvSpPr/>
            <p:nvPr/>
          </p:nvSpPr>
          <p:spPr>
            <a:xfrm>
              <a:off x="249115" y="4028337"/>
              <a:ext cx="2674200" cy="5055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>
              <a:off x="249119" y="5247537"/>
              <a:ext cx="2674200" cy="5055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9" name="Google Shape;129;p19"/>
            <p:cNvCxnSpPr/>
            <p:nvPr/>
          </p:nvCxnSpPr>
          <p:spPr>
            <a:xfrm>
              <a:off x="239440" y="3219212"/>
              <a:ext cx="2676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0" name="Google Shape;130;p19"/>
            <p:cNvSpPr/>
            <p:nvPr/>
          </p:nvSpPr>
          <p:spPr>
            <a:xfrm>
              <a:off x="216865" y="2845787"/>
              <a:ext cx="2715900" cy="330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Inter"/>
                  <a:ea typeface="Inter"/>
                  <a:cs typeface="Inter"/>
                  <a:sym typeface="Inter"/>
                </a:rPr>
                <a:t>Atributos </a:t>
              </a:r>
              <a:r>
                <a:rPr b="1" i="1" lang="es">
                  <a:latin typeface="Inter"/>
                  <a:ea typeface="Inter"/>
                  <a:cs typeface="Inter"/>
                  <a:sym typeface="Inter"/>
                </a:rPr>
                <a:t>Compartidos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">
                  <a:latin typeface="Inter"/>
                  <a:ea typeface="Inter"/>
                  <a:cs typeface="Inter"/>
                  <a:sym typeface="Inter"/>
                </a:rPr>
                <a:t>PID, PPID, PGID, SID, UID, GID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">
                  <a:latin typeface="Inter"/>
                  <a:ea typeface="Inter"/>
                  <a:cs typeface="Inter"/>
                  <a:sym typeface="Inter"/>
                </a:rPr>
                <a:t>Terminal de control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fs_struct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latin typeface="Inter"/>
                  <a:ea typeface="Inter"/>
                  <a:cs typeface="Inter"/>
                  <a:sym typeface="Inter"/>
                </a:rPr>
                <a:t>root y cwd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files_struct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latin typeface="Inter"/>
                  <a:ea typeface="Inter"/>
                  <a:cs typeface="Inter"/>
                  <a:sym typeface="Inter"/>
                </a:rPr>
                <a:t>Ficheros Abiertos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mm_struct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latin typeface="Inter"/>
                  <a:ea typeface="Inter"/>
                  <a:cs typeface="Inter"/>
                  <a:sym typeface="Inter"/>
                </a:rPr>
                <a:t>Memoria Virtual 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31" name="Google Shape;131;p19"/>
          <p:cNvSpPr txBox="1"/>
          <p:nvPr/>
        </p:nvSpPr>
        <p:spPr>
          <a:xfrm>
            <a:off x="6082800" y="6279036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Proceso y Threads</a:t>
            </a:r>
            <a:endParaRPr b="1"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5474017" y="5348975"/>
            <a:ext cx="3542100" cy="615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/proc/&lt;pid&gt;/maps se identifica con</a:t>
            </a:r>
            <a:endParaRPr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434343"/>
                </a:solidFill>
                <a:latin typeface="Consolas"/>
                <a:ea typeface="Consolas"/>
                <a:cs typeface="Consolas"/>
                <a:sym typeface="Consolas"/>
              </a:rPr>
              <a:t>[stack:&lt;thread_id&gt;</a:t>
            </a:r>
            <a:endParaRPr>
              <a:solidFill>
                <a:srgbClr val="43434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3" name="Google Shape;133;p19"/>
          <p:cNvCxnSpPr>
            <a:stCxn id="132" idx="2"/>
            <a:endCxn id="112" idx="3"/>
          </p:cNvCxnSpPr>
          <p:nvPr/>
        </p:nvCxnSpPr>
        <p:spPr>
          <a:xfrm rot="5400000">
            <a:off x="6169867" y="5169875"/>
            <a:ext cx="280500" cy="1869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0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Threads (II)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147850" y="803350"/>
            <a:ext cx="8814300" cy="55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Aplicaciones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multiproceso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1" i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multithread</a:t>
            </a:r>
            <a:endParaRPr i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Los programas multi-thread ofrecen 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Menor coste de creaci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ón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Cambios de contexto más eficientes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Modelo de compartición sencillo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 mecanismo eficaz para aprovechar el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paralelismo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dentro de un proceso, especialmente para aplicaciones intensivas en CPU.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Sin embargo: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Requieren de mecanismos de sincronización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Deben usar versiones 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thread-safe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reentrantes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_r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 de las funciones de librería.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Difícil desarrollo y depuración (interbloqueos, condiciones de carrera…)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 programación asíncrona es más eficiente para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aplicaciones intensivas en E/S (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concurrencia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1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Threads (III)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63950" y="803350"/>
            <a:ext cx="9003300" cy="4205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Linux &amp; POSIX Threads</a:t>
            </a:r>
            <a:endParaRPr b="1"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Procesos y Threads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se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representan por el mismo objeto del kernel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task_struct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 crean con las misma llamada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clone(2)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especificando los recursos que se comparten (ver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CLONE_THREAD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Todos los threads de un proceso tienen un identificador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único (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TID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),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coincide con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PID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 task_struct y tienen el mismo </a:t>
            </a:r>
            <a:r>
              <a:rPr b="1" i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Thread Group ID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TGID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Para el thread principal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TID = TGID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TGID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es el identificador mostrado por ps como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PID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API POSIX Threads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define el un conjunto de interfaces de programación (POSIX.1) para aplicaciones multi-thread.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63950" y="5074050"/>
            <a:ext cx="9003300" cy="15699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$ ps -aL -o pid,tid,tgid,pgid,cmd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PID   </a:t>
            </a:r>
            <a:r>
              <a:rPr b="1" lang="es" sz="1500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TID</a:t>
            </a: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s" sz="15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TGID</a:t>
            </a: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PGID CMD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5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15607</a:t>
            </a:r>
            <a:r>
              <a:rPr b="1"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500">
                <a:solidFill>
                  <a:srgbClr val="8E7CC3"/>
                </a:solidFill>
                <a:latin typeface="Consolas"/>
                <a:ea typeface="Consolas"/>
                <a:cs typeface="Consolas"/>
                <a:sym typeface="Consolas"/>
              </a:rPr>
              <a:t>15607</a:t>
            </a: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5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15607</a:t>
            </a: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15607 ./prod_cons 1 3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15607 </a:t>
            </a:r>
            <a:r>
              <a:rPr lang="es" sz="1500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15608</a:t>
            </a: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5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15607</a:t>
            </a: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15607 ./prod_cons 1 3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15607 </a:t>
            </a:r>
            <a:r>
              <a:rPr lang="es" sz="1500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15609</a:t>
            </a: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5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15607</a:t>
            </a: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15607 ./prod_cons 1 3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15607 </a:t>
            </a:r>
            <a:r>
              <a:rPr lang="es" sz="1500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15610</a:t>
            </a: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500">
                <a:solidFill>
                  <a:srgbClr val="45818E"/>
                </a:solidFill>
                <a:latin typeface="Consolas"/>
                <a:ea typeface="Consolas"/>
                <a:cs typeface="Consolas"/>
                <a:sym typeface="Consolas"/>
              </a:rPr>
              <a:t>15607</a:t>
            </a:r>
            <a:r>
              <a:rPr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15607 ./prod_cons 1 3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7268789" y="4439875"/>
            <a:ext cx="1721100" cy="5133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720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pthreads(7)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4787712" y="5533298"/>
            <a:ext cx="133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600">
                <a:solidFill>
                  <a:srgbClr val="45818E"/>
                </a:solidFill>
                <a:latin typeface="Inter"/>
                <a:ea typeface="Inter"/>
                <a:cs typeface="Inter"/>
                <a:sym typeface="Inter"/>
              </a:rPr>
              <a:t>main thread</a:t>
            </a:r>
            <a:endParaRPr sz="1200">
              <a:solidFill>
                <a:srgbClr val="45818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51" name="Google Shape;151;p21"/>
          <p:cNvCxnSpPr>
            <a:stCxn id="150" idx="1"/>
          </p:cNvCxnSpPr>
          <p:nvPr/>
        </p:nvCxnSpPr>
        <p:spPr>
          <a:xfrm rot="10800000">
            <a:off x="4249212" y="5748848"/>
            <a:ext cx="538500" cy="0"/>
          </a:xfrm>
          <a:prstGeom prst="straightConnector1">
            <a:avLst/>
          </a:prstGeom>
          <a:noFill/>
          <a:ln cap="flat" cmpd="sng" w="9525">
            <a:solidFill>
              <a:srgbClr val="45818E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/>
        </p:nvSpPr>
        <p:spPr>
          <a:xfrm>
            <a:off x="147850" y="1098625"/>
            <a:ext cx="8814300" cy="55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 pthread_create(</a:t>
            </a: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pthread_t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 *thread,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const pthread_attr_t 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*attr,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typeof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 *(</a:t>
            </a: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 *)) *start,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 *arg);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pthread_t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Tipo de datos que representa al thread en el proceso.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Adem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ás de en la creación se puede obtener con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pthread_self(3)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Tipo 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opaco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usar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pthread_equal(3)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para comparar)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Función ejecutada por el thread  </a:t>
            </a: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*(</a:t>
            </a: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El thread terminará: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Retorne de la función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Llame a la función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pthread_exit(3)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Sea cancelado por otro thread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pthread_cancel(3)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usar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en general)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proceso termina (de cualquiera de las formas habituales) que terminará todos los threads del proceso.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Puntero a los argumentos. </a:t>
            </a:r>
            <a:r>
              <a:rPr b="1" lang="es" sz="1800">
                <a:solidFill>
                  <a:srgbClr val="3D85C6"/>
                </a:solidFill>
                <a:latin typeface="Inter"/>
                <a:ea typeface="Inter"/>
                <a:cs typeface="Inter"/>
                <a:sym typeface="Inter"/>
              </a:rPr>
              <a:t>Importante: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tiempo de vida debe ser igual al del thread.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7" name="Google Shape;157;p22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2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Creación</a:t>
            </a: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y Terminaci</a:t>
            </a: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ón </a:t>
            </a: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(I)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59" name="Google Shape;159;p22"/>
          <p:cNvSpPr txBox="1"/>
          <p:nvPr/>
        </p:nvSpPr>
        <p:spPr>
          <a:xfrm>
            <a:off x="7377800" y="814450"/>
            <a:ext cx="1713600" cy="372600"/>
          </a:xfrm>
          <a:prstGeom prst="rect">
            <a:avLst/>
          </a:prstGeom>
          <a:solidFill>
            <a:srgbClr val="F3F3F3"/>
          </a:solidFill>
          <a:ln cap="rnd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&lt;pthread.h&gt;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/>
        </p:nvSpPr>
        <p:spPr>
          <a:xfrm>
            <a:off x="147850" y="965275"/>
            <a:ext cx="8814300" cy="43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Atributos de creación del thread </a:t>
            </a: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pthread_attr_t</a:t>
            </a:r>
            <a:endParaRPr b="1"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Permiten fijar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características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sobre la planificación y 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terminación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(ver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pthread_attr_init(3)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PTHREAD_CREATE_JOINABLE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defecto). Permite la sincronización por otros threads.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pthread_join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(3) espera la terminación de un thread y devuelve el valor de retorno.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Los recursos son destruidos cuando el thread se sincroniza.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PTHREAD_CREATE_DETACHED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Cuando no es necesario controlar los threads creados.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Los recursos son destruidos cuando el thread termina.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3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Creación y Terminación (II)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67" name="Google Shape;167;p23"/>
          <p:cNvSpPr txBox="1"/>
          <p:nvPr/>
        </p:nvSpPr>
        <p:spPr>
          <a:xfrm>
            <a:off x="7377800" y="814450"/>
            <a:ext cx="1713600" cy="372600"/>
          </a:xfrm>
          <a:prstGeom prst="rect">
            <a:avLst/>
          </a:prstGeom>
          <a:solidFill>
            <a:srgbClr val="F3F3F3"/>
          </a:solidFill>
          <a:ln cap="rnd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&lt;pthread.h&gt;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/>
        </p:nvSpPr>
        <p:spPr>
          <a:xfrm>
            <a:off x="147850" y="1098625"/>
            <a:ext cx="8814300" cy="3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 pthread_join(</a:t>
            </a: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pthread_t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 thread, </a:t>
            </a: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 **retval);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retval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dirección de la variable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 retorno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ciclo de vida de la variable debe superar la vida del thread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valor se fija mediante l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función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pthread_exit(3)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especifica el thread que se espera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Cualquier thread puede realizar la sincronización de otro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se puede esperar a “cualquier thread” como en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waitpid(2)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4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Creación y Terminación (III)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75" name="Google Shape;175;p24"/>
          <p:cNvSpPr txBox="1"/>
          <p:nvPr/>
        </p:nvSpPr>
        <p:spPr>
          <a:xfrm>
            <a:off x="7377800" y="814450"/>
            <a:ext cx="1713600" cy="372600"/>
          </a:xfrm>
          <a:prstGeom prst="rect">
            <a:avLst/>
          </a:prstGeom>
          <a:solidFill>
            <a:srgbClr val="F3F3F3"/>
          </a:solidFill>
          <a:ln cap="rnd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imes New Roman"/>
              <a:buNone/>
            </a:pP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&lt;pthread.h&gt;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/>
        </p:nvSpPr>
        <p:spPr>
          <a:xfrm>
            <a:off x="147850" y="955750"/>
            <a:ext cx="8814300" cy="2256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54000" spcFirstLastPara="1" rIns="54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Ejemplo. Ejercicio 1</a:t>
            </a:r>
            <a:endParaRPr b="1"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Escribir un programa que cree un número de threads indicado por el primer 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argumento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, de forma que: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Cada thread se le asignará un identificador 0,1,2…  que imprimirá por la salida estándar y usará para hacer un 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sleep(3)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de los mismos segundos.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El thread principal esperará a que terminen todos los threads.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" name="Google Shape;181;p25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5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Creación y Terminación (IV)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/>
          <p:nvPr>
            <p:ph idx="1" type="subTitle"/>
          </p:nvPr>
        </p:nvSpPr>
        <p:spPr>
          <a:xfrm>
            <a:off x="954245" y="76850"/>
            <a:ext cx="81813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lang="es">
                <a:latin typeface="Inter SemiBold"/>
                <a:ea typeface="Inter SemiBold"/>
                <a:cs typeface="Inter SemiBold"/>
                <a:sym typeface="Inter SemiBold"/>
              </a:rPr>
              <a:t>SISTEMAS OPERATIVOS</a:t>
            </a:r>
            <a:endParaRPr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Grado en </a:t>
            </a:r>
            <a:r>
              <a:rPr i="1" lang="es" sz="1400">
                <a:latin typeface="Inter"/>
                <a:ea typeface="Inter"/>
                <a:cs typeface="Inter"/>
                <a:sym typeface="Inter"/>
              </a:rPr>
              <a:t>Desarrollo de Videojuegos</a:t>
            </a:r>
            <a:endParaRPr i="1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Universidad Complutense de Madrid</a:t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8400" y="113285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6"/>
          <p:cNvSpPr txBox="1"/>
          <p:nvPr>
            <p:ph idx="4294967295" type="ctrTitle"/>
          </p:nvPr>
        </p:nvSpPr>
        <p:spPr>
          <a:xfrm>
            <a:off x="534975" y="2720725"/>
            <a:ext cx="86298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TEMA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.3</a:t>
            </a: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Región Crítica</a:t>
            </a:r>
            <a:endParaRPr b="0" i="0" sz="3000" u="none" cap="none" strike="noStrike">
              <a:solidFill>
                <a:srgbClr val="4279B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2" name="Google Shape;192;p26" title="Escudo_de_la_Universidad_Complutense_de_Madrid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25" y="76851"/>
            <a:ext cx="799893" cy="91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 txBox="1"/>
          <p:nvPr/>
        </p:nvSpPr>
        <p:spPr>
          <a:xfrm>
            <a:off x="147850" y="1308175"/>
            <a:ext cx="8814300" cy="469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54000" spcFirstLastPara="1" rIns="54000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Invariante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. Condici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ón sobre el estado </a:t>
            </a:r>
            <a:r>
              <a:rPr b="1" i="1" lang="es" sz="1800">
                <a:latin typeface="Inter"/>
                <a:ea typeface="Inter"/>
                <a:cs typeface="Inter"/>
                <a:sym typeface="Inter"/>
              </a:rPr>
              <a:t>compartido</a:t>
            </a:r>
            <a:r>
              <a:rPr i="1" lang="es" sz="180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que debe satisfacerse cuando se observa fuera de la región crítica.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○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Ejemplo: </a:t>
            </a:r>
            <a:r>
              <a:rPr i="1" lang="es" sz="1800">
                <a:latin typeface="Inter"/>
                <a:ea typeface="Inter"/>
                <a:cs typeface="Inter"/>
                <a:sym typeface="Inter"/>
              </a:rPr>
              <a:t>En una lista cada elemento debe contener un puntero válido al siguiente elemento menos el último que será NULL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Regi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ón Crítica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. </a:t>
            </a:r>
            <a:endParaRPr b="1" sz="1800"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○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Áreas de código donde se modifica o se consulta el estado compartido del programa. 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○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Las regiones críticas preservan los invariantes del programa permitiendo la ejecución </a:t>
            </a:r>
            <a:r>
              <a:rPr b="1" i="1" lang="es" sz="1800">
                <a:latin typeface="Inter"/>
                <a:ea typeface="Inter"/>
                <a:cs typeface="Inter"/>
                <a:sym typeface="Inter"/>
              </a:rPr>
              <a:t>exclusiva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de un thread.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○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Ejemplo: </a:t>
            </a:r>
            <a:r>
              <a:rPr i="1" lang="es" sz="1800">
                <a:latin typeface="Inter"/>
                <a:ea typeface="Inter"/>
                <a:cs typeface="Inter"/>
                <a:sym typeface="Inter"/>
              </a:rPr>
              <a:t>Eliminar un elemento de la lista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Predicados.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Expresión lógica que describen el estado de una invariante. El predicado indica que un thread puede ejecutarse.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Ejemplo: 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 lista está 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vacía</a:t>
            </a:r>
            <a:endParaRPr i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" name="Google Shape;198;p27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7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Región Crítica (I)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/>
          <p:nvPr/>
        </p:nvSpPr>
        <p:spPr>
          <a:xfrm rot="10800000">
            <a:off x="936925" y="5378900"/>
            <a:ext cx="5753100" cy="8619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8"/>
          <p:cNvSpPr/>
          <p:nvPr/>
        </p:nvSpPr>
        <p:spPr>
          <a:xfrm>
            <a:off x="936925" y="4783475"/>
            <a:ext cx="5753100" cy="590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4CCCC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8"/>
          <p:cNvSpPr txBox="1"/>
          <p:nvPr/>
        </p:nvSpPr>
        <p:spPr>
          <a:xfrm>
            <a:off x="176425" y="879550"/>
            <a:ext cx="8814300" cy="22425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54000" spcFirstLastPara="1" rIns="54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Mutex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. Permiten implementar regiones cr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íticas asegurando que un único thread ejecuta el código de la región a la vez (</a:t>
            </a:r>
            <a:r>
              <a:rPr b="1" i="1" lang="es" sz="1800">
                <a:latin typeface="Inter"/>
                <a:ea typeface="Inter"/>
                <a:cs typeface="Inter"/>
                <a:sym typeface="Inter"/>
              </a:rPr>
              <a:t>mut</a:t>
            </a:r>
            <a:r>
              <a:rPr i="1" lang="es" sz="1800">
                <a:latin typeface="Inter"/>
                <a:ea typeface="Inter"/>
                <a:cs typeface="Inter"/>
                <a:sym typeface="Inter"/>
              </a:rPr>
              <a:t>ual </a:t>
            </a:r>
            <a:r>
              <a:rPr b="1" i="1" lang="es" sz="1800">
                <a:latin typeface="Inter"/>
                <a:ea typeface="Inter"/>
                <a:cs typeface="Inter"/>
                <a:sym typeface="Inter"/>
              </a:rPr>
              <a:t>ex</a:t>
            </a:r>
            <a:r>
              <a:rPr i="1" lang="es" sz="1800">
                <a:latin typeface="Inter"/>
                <a:ea typeface="Inter"/>
                <a:cs typeface="Inter"/>
                <a:sym typeface="Inter"/>
              </a:rPr>
              <a:t>clusion)</a:t>
            </a:r>
            <a:endParaRPr i="1"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Un mutex tiene dos estados cerrado (</a:t>
            </a:r>
            <a:r>
              <a:rPr i="1" lang="es" sz="1800">
                <a:latin typeface="Inter"/>
                <a:ea typeface="Inter"/>
                <a:cs typeface="Inter"/>
                <a:sym typeface="Inter"/>
              </a:rPr>
              <a:t>locked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) y abierto (</a:t>
            </a:r>
            <a:r>
              <a:rPr i="1" lang="es" sz="1800">
                <a:latin typeface="Inter"/>
                <a:ea typeface="Inter"/>
                <a:cs typeface="Inter"/>
                <a:sym typeface="Inter"/>
              </a:rPr>
              <a:t>unlocked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)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La región crítica es la sección de código comprendida entre las llamadas 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unlock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Caso especial de los semáforos [Dijkstra 1968] (más 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difíciles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 usar)</a:t>
            </a:r>
            <a:endParaRPr i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8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Región Crítica (II)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cxnSp>
        <p:nvCxnSpPr>
          <p:cNvPr id="209" name="Google Shape;209;p28"/>
          <p:cNvCxnSpPr/>
          <p:nvPr/>
        </p:nvCxnSpPr>
        <p:spPr>
          <a:xfrm>
            <a:off x="98725" y="5374100"/>
            <a:ext cx="69249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28"/>
          <p:cNvSpPr/>
          <p:nvPr/>
        </p:nvSpPr>
        <p:spPr>
          <a:xfrm>
            <a:off x="736900" y="3583325"/>
            <a:ext cx="6057900" cy="2286000"/>
          </a:xfrm>
          <a:custGeom>
            <a:rect b="b" l="l" r="r" t="t"/>
            <a:pathLst>
              <a:path extrusionOk="0" h="91440" w="242316">
                <a:moveTo>
                  <a:pt x="0" y="0"/>
                </a:moveTo>
                <a:lnTo>
                  <a:pt x="28194" y="0"/>
                </a:lnTo>
                <a:lnTo>
                  <a:pt x="28194" y="91440"/>
                </a:lnTo>
                <a:lnTo>
                  <a:pt x="52578" y="91440"/>
                </a:lnTo>
                <a:lnTo>
                  <a:pt x="52578" y="381"/>
                </a:lnTo>
                <a:lnTo>
                  <a:pt x="147447" y="381"/>
                </a:lnTo>
                <a:lnTo>
                  <a:pt x="147828" y="58674"/>
                </a:lnTo>
                <a:lnTo>
                  <a:pt x="166116" y="58674"/>
                </a:lnTo>
                <a:lnTo>
                  <a:pt x="165735" y="381"/>
                </a:lnTo>
                <a:lnTo>
                  <a:pt x="242316" y="381"/>
                </a:lnTo>
              </a:path>
            </a:pathLst>
          </a:cu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1" name="Google Shape;211;p28"/>
          <p:cNvSpPr/>
          <p:nvPr/>
        </p:nvSpPr>
        <p:spPr>
          <a:xfrm>
            <a:off x="755950" y="3935750"/>
            <a:ext cx="6067425" cy="1952625"/>
          </a:xfrm>
          <a:custGeom>
            <a:rect b="b" l="l" r="r" t="t"/>
            <a:pathLst>
              <a:path extrusionOk="0" h="78105" w="242697">
                <a:moveTo>
                  <a:pt x="0" y="0"/>
                </a:moveTo>
                <a:lnTo>
                  <a:pt x="37338" y="0"/>
                </a:lnTo>
                <a:lnTo>
                  <a:pt x="37338" y="51054"/>
                </a:lnTo>
                <a:lnTo>
                  <a:pt x="60198" y="51054"/>
                </a:lnTo>
                <a:lnTo>
                  <a:pt x="60198" y="78105"/>
                </a:lnTo>
                <a:lnTo>
                  <a:pt x="179451" y="78105"/>
                </a:lnTo>
                <a:lnTo>
                  <a:pt x="179451" y="381"/>
                </a:lnTo>
                <a:lnTo>
                  <a:pt x="242697" y="381"/>
                </a:lnTo>
              </a:path>
            </a:pathLst>
          </a:custGeom>
          <a:noFill/>
          <a:ln cap="flat" cmpd="sng" w="19050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212" name="Google Shape;212;p28"/>
          <p:cNvSpPr/>
          <p:nvPr/>
        </p:nvSpPr>
        <p:spPr>
          <a:xfrm>
            <a:off x="746425" y="4240550"/>
            <a:ext cx="6067425" cy="1666875"/>
          </a:xfrm>
          <a:custGeom>
            <a:rect b="b" l="l" r="r" t="t"/>
            <a:pathLst>
              <a:path extrusionOk="0" h="66675" w="242697">
                <a:moveTo>
                  <a:pt x="0" y="0"/>
                </a:moveTo>
                <a:lnTo>
                  <a:pt x="72390" y="0"/>
                </a:lnTo>
                <a:lnTo>
                  <a:pt x="72390" y="40767"/>
                </a:lnTo>
                <a:lnTo>
                  <a:pt x="186690" y="40767"/>
                </a:lnTo>
                <a:lnTo>
                  <a:pt x="186690" y="66675"/>
                </a:lnTo>
                <a:lnTo>
                  <a:pt x="221361" y="66675"/>
                </a:lnTo>
                <a:lnTo>
                  <a:pt x="221361" y="1905"/>
                </a:lnTo>
                <a:lnTo>
                  <a:pt x="242697" y="1905"/>
                </a:lnTo>
              </a:path>
            </a:pathLst>
          </a:custGeom>
          <a:noFill/>
          <a:ln cap="flat" cmpd="sng" w="19050">
            <a:solidFill>
              <a:srgbClr val="990000"/>
            </a:solidFill>
            <a:prstDash val="dashDot"/>
            <a:round/>
            <a:headEnd len="med" w="med" type="none"/>
            <a:tailEnd len="med" w="med" type="none"/>
          </a:ln>
        </p:spPr>
      </p:sp>
      <p:sp>
        <p:nvSpPr>
          <p:cNvPr id="213" name="Google Shape;213;p28"/>
          <p:cNvSpPr txBox="1"/>
          <p:nvPr/>
        </p:nvSpPr>
        <p:spPr>
          <a:xfrm>
            <a:off x="917875" y="5836325"/>
            <a:ext cx="81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14" name="Google Shape;214;p28"/>
          <p:cNvCxnSpPr/>
          <p:nvPr/>
        </p:nvCxnSpPr>
        <p:spPr>
          <a:xfrm>
            <a:off x="6947200" y="5393075"/>
            <a:ext cx="0" cy="8574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5" name="Google Shape;215;p28"/>
          <p:cNvSpPr txBox="1"/>
          <p:nvPr/>
        </p:nvSpPr>
        <p:spPr>
          <a:xfrm>
            <a:off x="6966250" y="5521925"/>
            <a:ext cx="1800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Threads en la región crítica </a:t>
            </a:r>
            <a:endParaRPr sz="1600">
              <a:solidFill>
                <a:srgbClr val="38761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Google Shape;216;p28"/>
          <p:cNvSpPr txBox="1"/>
          <p:nvPr/>
        </p:nvSpPr>
        <p:spPr>
          <a:xfrm>
            <a:off x="32050" y="5017100"/>
            <a:ext cx="95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tiempo</a:t>
            </a:r>
            <a:endParaRPr i="1" sz="16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17" name="Google Shape;217;p28"/>
          <p:cNvCxnSpPr/>
          <p:nvPr/>
        </p:nvCxnSpPr>
        <p:spPr>
          <a:xfrm>
            <a:off x="6947200" y="4793000"/>
            <a:ext cx="0" cy="571800"/>
          </a:xfrm>
          <a:prstGeom prst="straightConnector1">
            <a:avLst/>
          </a:prstGeom>
          <a:noFill/>
          <a:ln cap="flat" cmpd="sng" w="9525">
            <a:solidFill>
              <a:srgbClr val="99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8" name="Google Shape;218;p28"/>
          <p:cNvSpPr txBox="1"/>
          <p:nvPr/>
        </p:nvSpPr>
        <p:spPr>
          <a:xfrm>
            <a:off x="7023625" y="4455125"/>
            <a:ext cx="209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990000"/>
                </a:solidFill>
                <a:latin typeface="Inter"/>
                <a:ea typeface="Inter"/>
                <a:cs typeface="Inter"/>
                <a:sym typeface="Inter"/>
              </a:rPr>
              <a:t>Threads esperando o consultando el estado del mutex</a:t>
            </a:r>
            <a:endParaRPr sz="1600">
              <a:solidFill>
                <a:srgbClr val="99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9" name="Google Shape;219;p28"/>
          <p:cNvSpPr txBox="1"/>
          <p:nvPr/>
        </p:nvSpPr>
        <p:spPr>
          <a:xfrm>
            <a:off x="13000" y="3248700"/>
            <a:ext cx="11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74EA7"/>
                </a:solidFill>
                <a:latin typeface="Inter"/>
                <a:ea typeface="Inter"/>
                <a:cs typeface="Inter"/>
                <a:sym typeface="Inter"/>
              </a:rPr>
              <a:t>Thread A</a:t>
            </a:r>
            <a:endParaRPr sz="1600">
              <a:solidFill>
                <a:srgbClr val="674EA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Google Shape;220;p28"/>
          <p:cNvSpPr txBox="1"/>
          <p:nvPr/>
        </p:nvSpPr>
        <p:spPr>
          <a:xfrm>
            <a:off x="13000" y="3601125"/>
            <a:ext cx="11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Thread B</a:t>
            </a:r>
            <a:endParaRPr sz="1600">
              <a:solidFill>
                <a:srgbClr val="38761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Google Shape;221;p28"/>
          <p:cNvSpPr txBox="1"/>
          <p:nvPr/>
        </p:nvSpPr>
        <p:spPr>
          <a:xfrm>
            <a:off x="13000" y="3915450"/>
            <a:ext cx="11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990000"/>
                </a:solidFill>
                <a:latin typeface="Inter"/>
                <a:ea typeface="Inter"/>
                <a:cs typeface="Inter"/>
                <a:sym typeface="Inter"/>
              </a:rPr>
              <a:t>Thread C</a:t>
            </a:r>
            <a:endParaRPr sz="1600">
              <a:solidFill>
                <a:srgbClr val="99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9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Región Crítica (III)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28" name="Google Shape;228;p29"/>
          <p:cNvSpPr txBox="1"/>
          <p:nvPr/>
        </p:nvSpPr>
        <p:spPr>
          <a:xfrm>
            <a:off x="166900" y="812875"/>
            <a:ext cx="8814300" cy="3942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pthread_mutex_t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 mutex = PTHREAD_MUTEX_INITIALIZER;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 pthread_mutex_init(pthread_mutex_t *mutex,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                       const pthread_mutexattr_t *attr);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pthread_mutex_destroy(pthread_mutex_t *mutex);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attr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Define el comportamiento del mutex respecto a los errores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○"/>
            </a:pP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deadlock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 thread no debe hacer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lock()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doble de un mutex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 thread no debe hacer </a:t>
            </a:r>
            <a:r>
              <a:rPr lang="es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unlock()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 mutex de otros threads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 hacer de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unlock()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the un mutex en estado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unlock()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funci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ón destroy sólo se puede llamar cuando otros threads no estén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esperando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en el mutex y el mutex está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Google Shape;229;p29"/>
          <p:cNvSpPr txBox="1"/>
          <p:nvPr/>
        </p:nvSpPr>
        <p:spPr>
          <a:xfrm>
            <a:off x="166900" y="4880050"/>
            <a:ext cx="8814300" cy="1566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pthread_mutex_lock(pthread_mutex_t *mutex);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 pthread_mutex_trylock(pthread_mutex_t *mutex);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pthread_mutex_unlock(pthread_mutex_t *mutex);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/>
          <p:nvPr/>
        </p:nvSpPr>
        <p:spPr>
          <a:xfrm>
            <a:off x="107850" y="4584775"/>
            <a:ext cx="8901900" cy="223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54000" spcFirstLastPara="1" rIns="54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Ejemplo. Ejercicio 3</a:t>
            </a:r>
            <a:endParaRPr b="1"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Escribir un programa cuyo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primer argumento indicará el número de threads y el segundo el tamaño de bloque (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aseline="-25000" lang="es" sz="1800"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):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Cada thread se le asignará un identificador (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i = 0,1,2…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)  y sumar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á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aseline="-25000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enteros en el rango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[i*T</a:t>
            </a:r>
            <a:r>
              <a:rPr baseline="-25000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(i+1)*T</a:t>
            </a:r>
            <a:r>
              <a:rPr baseline="-25000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-1]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El thread principal sincronizar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á 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todos los threads y mostrar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á la suma.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5" name="Google Shape;235;p30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0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Patrón: </a:t>
            </a:r>
            <a:r>
              <a:rPr b="0" i="1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Work Crew</a:t>
            </a: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/ </a:t>
            </a:r>
            <a:r>
              <a:rPr b="0" i="1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Thread Pool</a:t>
            </a:r>
            <a:endParaRPr b="0" i="1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37" name="Google Shape;237;p30"/>
          <p:cNvSpPr txBox="1"/>
          <p:nvPr/>
        </p:nvSpPr>
        <p:spPr>
          <a:xfrm>
            <a:off x="107850" y="803350"/>
            <a:ext cx="8901900" cy="3714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54000" spcFirstLastPara="1" rIns="54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Work Crew</a:t>
            </a:r>
            <a:endParaRPr b="1"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Los threads cooperan mediante la ejecución independiente de tareas.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La tarea ejecutada por cada thread puede ser diferente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Requieren la sincronización en los datos de entrada y salida de tarea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Ejemplos: Game engines, Web servers…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Google Shape;238;p30"/>
          <p:cNvSpPr/>
          <p:nvPr/>
        </p:nvSpPr>
        <p:spPr>
          <a:xfrm>
            <a:off x="3607916" y="3171750"/>
            <a:ext cx="1323900" cy="5145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Entrada</a:t>
            </a:r>
            <a:endParaRPr b="1"/>
          </a:p>
        </p:txBody>
      </p:sp>
      <p:sp>
        <p:nvSpPr>
          <p:cNvPr id="239" name="Google Shape;239;p30"/>
          <p:cNvSpPr/>
          <p:nvPr/>
        </p:nvSpPr>
        <p:spPr>
          <a:xfrm>
            <a:off x="5703416" y="2552900"/>
            <a:ext cx="428700" cy="4668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</a:t>
            </a:r>
            <a:endParaRPr b="1"/>
          </a:p>
        </p:txBody>
      </p:sp>
      <p:sp>
        <p:nvSpPr>
          <p:cNvPr id="240" name="Google Shape;240;p30"/>
          <p:cNvSpPr/>
          <p:nvPr/>
        </p:nvSpPr>
        <p:spPr>
          <a:xfrm>
            <a:off x="5703416" y="3195600"/>
            <a:ext cx="428700" cy="4668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B</a:t>
            </a:r>
            <a:endParaRPr b="1"/>
          </a:p>
        </p:txBody>
      </p:sp>
      <p:sp>
        <p:nvSpPr>
          <p:cNvPr id="241" name="Google Shape;241;p30"/>
          <p:cNvSpPr/>
          <p:nvPr/>
        </p:nvSpPr>
        <p:spPr>
          <a:xfrm>
            <a:off x="5703416" y="3914138"/>
            <a:ext cx="428700" cy="4668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</a:t>
            </a:r>
            <a:endParaRPr b="1"/>
          </a:p>
        </p:txBody>
      </p:sp>
      <p:sp>
        <p:nvSpPr>
          <p:cNvPr id="242" name="Google Shape;242;p30"/>
          <p:cNvSpPr/>
          <p:nvPr/>
        </p:nvSpPr>
        <p:spPr>
          <a:xfrm>
            <a:off x="6932141" y="3181275"/>
            <a:ext cx="1323900" cy="514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Salida</a:t>
            </a:r>
            <a:endParaRPr b="1"/>
          </a:p>
        </p:txBody>
      </p:sp>
      <p:cxnSp>
        <p:nvCxnSpPr>
          <p:cNvPr id="243" name="Google Shape;243;p30"/>
          <p:cNvCxnSpPr>
            <a:stCxn id="238" idx="3"/>
            <a:endCxn id="239" idx="2"/>
          </p:cNvCxnSpPr>
          <p:nvPr/>
        </p:nvCxnSpPr>
        <p:spPr>
          <a:xfrm flipH="1" rot="10800000">
            <a:off x="4931816" y="2786400"/>
            <a:ext cx="771600" cy="64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" name="Google Shape;244;p30"/>
          <p:cNvCxnSpPr>
            <a:stCxn id="238" idx="3"/>
            <a:endCxn id="240" idx="2"/>
          </p:cNvCxnSpPr>
          <p:nvPr/>
        </p:nvCxnSpPr>
        <p:spPr>
          <a:xfrm>
            <a:off x="4931816" y="3429000"/>
            <a:ext cx="77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" name="Google Shape;245;p30"/>
          <p:cNvCxnSpPr>
            <a:stCxn id="238" idx="3"/>
            <a:endCxn id="241" idx="2"/>
          </p:cNvCxnSpPr>
          <p:nvPr/>
        </p:nvCxnSpPr>
        <p:spPr>
          <a:xfrm>
            <a:off x="4931816" y="3429000"/>
            <a:ext cx="771600" cy="71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" name="Google Shape;246;p30"/>
          <p:cNvCxnSpPr>
            <a:stCxn id="239" idx="6"/>
            <a:endCxn id="242" idx="1"/>
          </p:cNvCxnSpPr>
          <p:nvPr/>
        </p:nvCxnSpPr>
        <p:spPr>
          <a:xfrm>
            <a:off x="6132116" y="2786300"/>
            <a:ext cx="800100" cy="65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" name="Google Shape;247;p30"/>
          <p:cNvCxnSpPr>
            <a:stCxn id="240" idx="6"/>
            <a:endCxn id="242" idx="1"/>
          </p:cNvCxnSpPr>
          <p:nvPr/>
        </p:nvCxnSpPr>
        <p:spPr>
          <a:xfrm>
            <a:off x="6132116" y="3429000"/>
            <a:ext cx="8001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" name="Google Shape;248;p30"/>
          <p:cNvCxnSpPr>
            <a:stCxn id="241" idx="6"/>
            <a:endCxn id="242" idx="1"/>
          </p:cNvCxnSpPr>
          <p:nvPr/>
        </p:nvCxnSpPr>
        <p:spPr>
          <a:xfrm flipH="1" rot="10800000">
            <a:off x="6132116" y="3438638"/>
            <a:ext cx="800100" cy="70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1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Patrón: </a:t>
            </a:r>
            <a:r>
              <a:rPr b="0" i="1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Lector - Escritor (I)</a:t>
            </a:r>
            <a:endParaRPr b="0" i="1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55" name="Google Shape;255;p31"/>
          <p:cNvSpPr txBox="1"/>
          <p:nvPr/>
        </p:nvSpPr>
        <p:spPr>
          <a:xfrm>
            <a:off x="107850" y="895369"/>
            <a:ext cx="8901900" cy="5043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54000" spcFirstLastPara="1" rIns="54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Lector-Escritor</a:t>
            </a:r>
            <a:endParaRPr b="1"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En este patrón de sincronización se asume un recurso compartido: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○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Los accesos de lectura son mucho más frecuentes que los de escritura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○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Se permite el acceso concurrente al recurso por varios </a:t>
            </a:r>
            <a:r>
              <a:rPr i="1" lang="es" sz="1800">
                <a:latin typeface="Inter"/>
                <a:ea typeface="Inter"/>
                <a:cs typeface="Inter"/>
                <a:sym typeface="Inter"/>
              </a:rPr>
              <a:t>lectores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○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El acceso de los </a:t>
            </a:r>
            <a:r>
              <a:rPr i="1" lang="es" sz="1800">
                <a:latin typeface="Inter"/>
                <a:ea typeface="Inter"/>
                <a:cs typeface="Inter"/>
                <a:sym typeface="Inter"/>
              </a:rPr>
              <a:t>escritores 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debe ser exclusivo para mantener la consistencia de los datos.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○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La 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tarea ejecutada por cada thread puede ser diferente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Ejemplos de aplicaci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ón: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○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Caché compartidas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○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Consulta del estado del global del juego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b="1" lang="es" sz="1800">
                <a:latin typeface="Inter"/>
                <a:ea typeface="Inter"/>
                <a:cs typeface="Inter"/>
                <a:sym typeface="Inter"/>
              </a:rPr>
              <a:t>Problemas de Inanición 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si se favorecen las lecturas o escrituras. En linux (pthread_rwlock_t) se favorece la productividad priorizando las lecturas.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2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2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latin typeface="Inter Medium"/>
                <a:ea typeface="Inter Medium"/>
                <a:cs typeface="Inter Medium"/>
                <a:sym typeface="Inter Medium"/>
              </a:rPr>
              <a:t>Patrón: </a:t>
            </a:r>
            <a:r>
              <a:rPr b="0" i="1" lang="es" sz="3200">
                <a:latin typeface="Inter Medium"/>
                <a:ea typeface="Inter Medium"/>
                <a:cs typeface="Inter Medium"/>
                <a:sym typeface="Inter Medium"/>
              </a:rPr>
              <a:t>Lector - Escritor (II)</a:t>
            </a:r>
            <a:endParaRPr b="0" sz="32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62" name="Google Shape;262;p32"/>
          <p:cNvSpPr txBox="1"/>
          <p:nvPr/>
        </p:nvSpPr>
        <p:spPr>
          <a:xfrm>
            <a:off x="166900" y="812875"/>
            <a:ext cx="8814300" cy="22212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pthread_rwlock_t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 rwlock = PTHREAD_RWLOCK_INITIALIZER;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 pthread_rwlock_init(pthread_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rwlock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_t *rwlock,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 pthread_rwlockattr_t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 *attr);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pthread_rwlock_destroy(pthread_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rwlock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_t *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rwlock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Mismas consideraciones en la creación y destrucción que un pthread_mutex_t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3" name="Google Shape;263;p32"/>
          <p:cNvSpPr txBox="1"/>
          <p:nvPr/>
        </p:nvSpPr>
        <p:spPr>
          <a:xfrm>
            <a:off x="166900" y="3207699"/>
            <a:ext cx="8814300" cy="30456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pthread_rwlock_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[rd|wr]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lock(pthread_rwlock_t *lock);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 pthread_rwlock_try</a:t>
            </a:r>
            <a:r>
              <a:rPr b="1" lang="es" sz="1800">
                <a:latin typeface="Consolas"/>
                <a:ea typeface="Consolas"/>
                <a:cs typeface="Consolas"/>
                <a:sym typeface="Consolas"/>
              </a:rPr>
              <a:t>[rd|wr]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lock(pthread_rwlock_t *lock);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pthread_rwlock_unlock(pthread_lock_t *lock);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Bloqueo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 lectura (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rdlock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), el thread obtiene el mutex si no est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á bloqueado por un escritor ni hay escritores esperando (se puede bloquear varias veces)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Bloqueo de escritura (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wrlock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), el thread obtiene el mutex si ningún otro thread tiene un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bloqueo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 cualquier tipo (rd o wr).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3"/>
          <p:cNvSpPr txBox="1"/>
          <p:nvPr/>
        </p:nvSpPr>
        <p:spPr>
          <a:xfrm>
            <a:off x="107850" y="803350"/>
            <a:ext cx="8901900" cy="5819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54000" spcFirstLastPara="1" rIns="54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Ejemplo. Ejercicio 6.</a:t>
            </a:r>
            <a:endParaRPr b="1"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Escribir un programa que cree L lectores (primer argumento) y E escritores (segundo argumento), de forma que: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Los threads </a:t>
            </a:r>
            <a:r>
              <a:rPr i="1" lang="es" sz="1800">
                <a:latin typeface="Inter"/>
                <a:ea typeface="Inter"/>
                <a:cs typeface="Inter"/>
                <a:sym typeface="Inter"/>
              </a:rPr>
              <a:t>Lector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imprimir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án por pantalla un entero compartido y esperarán 0.1s con la llamada usleep(3). Este acceso lo repetirán 5 veces.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Los threads </a:t>
            </a:r>
            <a:r>
              <a:rPr i="1" lang="es" sz="1800">
                <a:latin typeface="Inter"/>
                <a:ea typeface="Inter"/>
                <a:cs typeface="Inter"/>
                <a:sym typeface="Inter"/>
              </a:rPr>
              <a:t>Escritor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incrementar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án en 1 la variable y esperarán 0.25s. Este acceso lo repetirán 3 veces.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El thread principal arrancará primero los escritores.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Google Shape;269;p33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3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Patrón: </a:t>
            </a:r>
            <a:r>
              <a:rPr b="0" i="1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Lector - Escritor (III)</a:t>
            </a:r>
            <a:endParaRPr b="0" i="1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271" name="Google Shape;271;p33"/>
          <p:cNvGrpSpPr/>
          <p:nvPr/>
        </p:nvGrpSpPr>
        <p:grpSpPr>
          <a:xfrm>
            <a:off x="2455665" y="3876454"/>
            <a:ext cx="4309050" cy="2461527"/>
            <a:chOff x="1860493" y="3390204"/>
            <a:chExt cx="4309050" cy="2461527"/>
          </a:xfrm>
        </p:grpSpPr>
        <p:sp>
          <p:nvSpPr>
            <p:cNvPr id="272" name="Google Shape;272;p33"/>
            <p:cNvSpPr/>
            <p:nvPr/>
          </p:nvSpPr>
          <p:spPr>
            <a:xfrm>
              <a:off x="3005297" y="3390204"/>
              <a:ext cx="428700" cy="466800"/>
            </a:xfrm>
            <a:prstGeom prst="ellipse">
              <a:avLst/>
            </a:prstGeom>
            <a:solidFill>
              <a:srgbClr val="D9D2E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/>
                <a:t>E</a:t>
              </a:r>
              <a:endParaRPr b="1"/>
            </a:p>
          </p:txBody>
        </p:sp>
        <p:sp>
          <p:nvSpPr>
            <p:cNvPr id="273" name="Google Shape;273;p33"/>
            <p:cNvSpPr/>
            <p:nvPr/>
          </p:nvSpPr>
          <p:spPr>
            <a:xfrm>
              <a:off x="3316772" y="4336728"/>
              <a:ext cx="1323900" cy="514500"/>
            </a:xfrm>
            <a:prstGeom prst="roundRect">
              <a:avLst>
                <a:gd fmla="val 16667" name="adj"/>
              </a:avLst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/>
                <a:t>ESTADO</a:t>
              </a:r>
              <a:endParaRPr b="1"/>
            </a:p>
          </p:txBody>
        </p:sp>
        <p:sp>
          <p:nvSpPr>
            <p:cNvPr id="274" name="Google Shape;274;p33"/>
            <p:cNvSpPr/>
            <p:nvPr/>
          </p:nvSpPr>
          <p:spPr>
            <a:xfrm>
              <a:off x="3764372" y="3390204"/>
              <a:ext cx="428700" cy="466800"/>
            </a:xfrm>
            <a:prstGeom prst="ellipse">
              <a:avLst/>
            </a:prstGeom>
            <a:solidFill>
              <a:srgbClr val="D9D2E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/>
                <a:t>E</a:t>
              </a:r>
              <a:endParaRPr b="1"/>
            </a:p>
          </p:txBody>
        </p:sp>
        <p:sp>
          <p:nvSpPr>
            <p:cNvPr id="275" name="Google Shape;275;p33"/>
            <p:cNvSpPr/>
            <p:nvPr/>
          </p:nvSpPr>
          <p:spPr>
            <a:xfrm>
              <a:off x="4523447" y="3390204"/>
              <a:ext cx="428700" cy="466800"/>
            </a:xfrm>
            <a:prstGeom prst="ellipse">
              <a:avLst/>
            </a:prstGeom>
            <a:solidFill>
              <a:srgbClr val="D9D2E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/>
                <a:t>E</a:t>
              </a:r>
              <a:endParaRPr b="1"/>
            </a:p>
          </p:txBody>
        </p:sp>
        <p:sp>
          <p:nvSpPr>
            <p:cNvPr id="276" name="Google Shape;276;p33"/>
            <p:cNvSpPr/>
            <p:nvPr/>
          </p:nvSpPr>
          <p:spPr>
            <a:xfrm>
              <a:off x="1860493" y="5384931"/>
              <a:ext cx="428700" cy="466800"/>
            </a:xfrm>
            <a:prstGeom prst="ellipse">
              <a:avLst/>
            </a:prstGeom>
            <a:solidFill>
              <a:srgbClr val="A2C4C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/>
                <a:t>L</a:t>
              </a:r>
              <a:endParaRPr b="1"/>
            </a:p>
          </p:txBody>
        </p:sp>
        <p:sp>
          <p:nvSpPr>
            <p:cNvPr id="277" name="Google Shape;277;p33"/>
            <p:cNvSpPr/>
            <p:nvPr/>
          </p:nvSpPr>
          <p:spPr>
            <a:xfrm>
              <a:off x="2636563" y="5384931"/>
              <a:ext cx="428700" cy="466800"/>
            </a:xfrm>
            <a:prstGeom prst="ellipse">
              <a:avLst/>
            </a:prstGeom>
            <a:solidFill>
              <a:srgbClr val="A2C4C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/>
                <a:t>L</a:t>
              </a:r>
              <a:endParaRPr b="1"/>
            </a:p>
          </p:txBody>
        </p:sp>
        <p:sp>
          <p:nvSpPr>
            <p:cNvPr id="278" name="Google Shape;278;p33"/>
            <p:cNvSpPr/>
            <p:nvPr/>
          </p:nvSpPr>
          <p:spPr>
            <a:xfrm>
              <a:off x="3412633" y="5384931"/>
              <a:ext cx="428700" cy="466800"/>
            </a:xfrm>
            <a:prstGeom prst="ellipse">
              <a:avLst/>
            </a:prstGeom>
            <a:solidFill>
              <a:srgbClr val="A2C4C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/>
                <a:t>L</a:t>
              </a:r>
              <a:endParaRPr b="1"/>
            </a:p>
          </p:txBody>
        </p:sp>
        <p:sp>
          <p:nvSpPr>
            <p:cNvPr id="279" name="Google Shape;279;p33"/>
            <p:cNvSpPr/>
            <p:nvPr/>
          </p:nvSpPr>
          <p:spPr>
            <a:xfrm>
              <a:off x="4188703" y="5384931"/>
              <a:ext cx="428700" cy="466800"/>
            </a:xfrm>
            <a:prstGeom prst="ellipse">
              <a:avLst/>
            </a:prstGeom>
            <a:solidFill>
              <a:srgbClr val="A2C4C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/>
                <a:t>L</a:t>
              </a:r>
              <a:endParaRPr b="1"/>
            </a:p>
          </p:txBody>
        </p:sp>
        <p:sp>
          <p:nvSpPr>
            <p:cNvPr id="280" name="Google Shape;280;p33"/>
            <p:cNvSpPr/>
            <p:nvPr/>
          </p:nvSpPr>
          <p:spPr>
            <a:xfrm>
              <a:off x="4964773" y="5384931"/>
              <a:ext cx="428700" cy="466800"/>
            </a:xfrm>
            <a:prstGeom prst="ellipse">
              <a:avLst/>
            </a:prstGeom>
            <a:solidFill>
              <a:srgbClr val="A2C4C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/>
                <a:t>L</a:t>
              </a:r>
              <a:endParaRPr b="1"/>
            </a:p>
          </p:txBody>
        </p:sp>
        <p:sp>
          <p:nvSpPr>
            <p:cNvPr id="281" name="Google Shape;281;p33"/>
            <p:cNvSpPr/>
            <p:nvPr/>
          </p:nvSpPr>
          <p:spPr>
            <a:xfrm>
              <a:off x="5740843" y="5384931"/>
              <a:ext cx="428700" cy="466800"/>
            </a:xfrm>
            <a:prstGeom prst="ellipse">
              <a:avLst/>
            </a:prstGeom>
            <a:solidFill>
              <a:srgbClr val="A2C4C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/>
                <a:t>L</a:t>
              </a:r>
              <a:endParaRPr b="1"/>
            </a:p>
          </p:txBody>
        </p:sp>
        <p:cxnSp>
          <p:nvCxnSpPr>
            <p:cNvPr id="282" name="Google Shape;282;p33"/>
            <p:cNvCxnSpPr>
              <a:stCxn id="273" idx="2"/>
              <a:endCxn id="276" idx="7"/>
            </p:cNvCxnSpPr>
            <p:nvPr/>
          </p:nvCxnSpPr>
          <p:spPr>
            <a:xfrm flipH="1">
              <a:off x="2226422" y="4851228"/>
              <a:ext cx="1752300" cy="60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3" name="Google Shape;283;p33"/>
            <p:cNvCxnSpPr>
              <a:stCxn id="273" idx="2"/>
              <a:endCxn id="277" idx="7"/>
            </p:cNvCxnSpPr>
            <p:nvPr/>
          </p:nvCxnSpPr>
          <p:spPr>
            <a:xfrm flipH="1">
              <a:off x="3002522" y="4851228"/>
              <a:ext cx="976200" cy="60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4" name="Google Shape;284;p33"/>
            <p:cNvCxnSpPr>
              <a:stCxn id="273" idx="2"/>
              <a:endCxn id="278" idx="7"/>
            </p:cNvCxnSpPr>
            <p:nvPr/>
          </p:nvCxnSpPr>
          <p:spPr>
            <a:xfrm flipH="1">
              <a:off x="3778622" y="4851228"/>
              <a:ext cx="200100" cy="60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5" name="Google Shape;285;p33"/>
            <p:cNvCxnSpPr>
              <a:stCxn id="273" idx="2"/>
              <a:endCxn id="279" idx="1"/>
            </p:cNvCxnSpPr>
            <p:nvPr/>
          </p:nvCxnSpPr>
          <p:spPr>
            <a:xfrm>
              <a:off x="3978722" y="4851228"/>
              <a:ext cx="272700" cy="60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6" name="Google Shape;286;p33"/>
            <p:cNvCxnSpPr>
              <a:stCxn id="273" idx="2"/>
              <a:endCxn id="280" idx="1"/>
            </p:cNvCxnSpPr>
            <p:nvPr/>
          </p:nvCxnSpPr>
          <p:spPr>
            <a:xfrm>
              <a:off x="3978722" y="4851228"/>
              <a:ext cx="1048800" cy="60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7" name="Google Shape;287;p33"/>
            <p:cNvCxnSpPr>
              <a:stCxn id="273" idx="2"/>
              <a:endCxn id="281" idx="1"/>
            </p:cNvCxnSpPr>
            <p:nvPr/>
          </p:nvCxnSpPr>
          <p:spPr>
            <a:xfrm>
              <a:off x="3978722" y="4851228"/>
              <a:ext cx="1824900" cy="60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8" name="Google Shape;288;p33"/>
            <p:cNvCxnSpPr>
              <a:stCxn id="275" idx="3"/>
              <a:endCxn id="273" idx="0"/>
            </p:cNvCxnSpPr>
            <p:nvPr/>
          </p:nvCxnSpPr>
          <p:spPr>
            <a:xfrm flipH="1">
              <a:off x="3978729" y="3788643"/>
              <a:ext cx="607500" cy="54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9" name="Google Shape;289;p33"/>
            <p:cNvCxnSpPr>
              <a:stCxn id="274" idx="4"/>
              <a:endCxn id="273" idx="0"/>
            </p:cNvCxnSpPr>
            <p:nvPr/>
          </p:nvCxnSpPr>
          <p:spPr>
            <a:xfrm>
              <a:off x="3978722" y="3857004"/>
              <a:ext cx="0" cy="47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0" name="Google Shape;290;p33"/>
            <p:cNvCxnSpPr>
              <a:stCxn id="272" idx="5"/>
              <a:endCxn id="273" idx="0"/>
            </p:cNvCxnSpPr>
            <p:nvPr/>
          </p:nvCxnSpPr>
          <p:spPr>
            <a:xfrm>
              <a:off x="3371215" y="3788643"/>
              <a:ext cx="607500" cy="54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4"/>
          <p:cNvSpPr txBox="1"/>
          <p:nvPr>
            <p:ph idx="1" type="subTitle"/>
          </p:nvPr>
        </p:nvSpPr>
        <p:spPr>
          <a:xfrm>
            <a:off x="954245" y="76850"/>
            <a:ext cx="81813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lang="es">
                <a:latin typeface="Inter SemiBold"/>
                <a:ea typeface="Inter SemiBold"/>
                <a:cs typeface="Inter SemiBold"/>
                <a:sym typeface="Inter SemiBold"/>
              </a:rPr>
              <a:t>SISTEMAS OPERATIVOS</a:t>
            </a:r>
            <a:endParaRPr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Grado en </a:t>
            </a:r>
            <a:r>
              <a:rPr i="1" lang="es" sz="1400">
                <a:latin typeface="Inter"/>
                <a:ea typeface="Inter"/>
                <a:cs typeface="Inter"/>
                <a:sym typeface="Inter"/>
              </a:rPr>
              <a:t>Desarrollo de Videojuegos</a:t>
            </a:r>
            <a:endParaRPr i="1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Universidad Complutense de Madrid</a:t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8" name="Google Shape;298;p34"/>
          <p:cNvSpPr/>
          <p:nvPr/>
        </p:nvSpPr>
        <p:spPr>
          <a:xfrm>
            <a:off x="8400" y="113285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4"/>
          <p:cNvSpPr txBox="1"/>
          <p:nvPr>
            <p:ph idx="4294967295" type="ctrTitle"/>
          </p:nvPr>
        </p:nvSpPr>
        <p:spPr>
          <a:xfrm>
            <a:off x="534975" y="2720725"/>
            <a:ext cx="86298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TEMA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5.3</a:t>
            </a: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Variables de Condición</a:t>
            </a:r>
            <a:endParaRPr b="0" i="0" sz="3000" u="none" cap="none" strike="noStrike">
              <a:solidFill>
                <a:srgbClr val="4279B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00" name="Google Shape;300;p34" title="Escudo_de_la_Universidad_Complutense_de_Madrid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25" y="76851"/>
            <a:ext cx="799893" cy="91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5"/>
          <p:cNvSpPr/>
          <p:nvPr/>
        </p:nvSpPr>
        <p:spPr>
          <a:xfrm rot="10800000">
            <a:off x="936925" y="5658550"/>
            <a:ext cx="5753100" cy="5835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5"/>
          <p:cNvSpPr/>
          <p:nvPr/>
        </p:nvSpPr>
        <p:spPr>
          <a:xfrm>
            <a:off x="936925" y="5069225"/>
            <a:ext cx="5753100" cy="590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4CCCC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5"/>
          <p:cNvSpPr txBox="1"/>
          <p:nvPr/>
        </p:nvSpPr>
        <p:spPr>
          <a:xfrm>
            <a:off x="87525" y="816050"/>
            <a:ext cx="8980200" cy="27273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54000" spcFirstLastPara="1" rIns="54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Variable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 de Condición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. Abstracci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ón que permite bloquear y despertar threads según la evaluación de un predicado sobre variables (</a:t>
            </a:r>
            <a:r>
              <a:rPr i="1" lang="es" sz="1800">
                <a:latin typeface="Inter"/>
                <a:ea typeface="Inter"/>
                <a:cs typeface="Inter"/>
                <a:sym typeface="Inter"/>
              </a:rPr>
              <a:t>estado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) compartido: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Estado compartido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, representado por variables del programa. Ejemplo: </a:t>
            </a:r>
            <a:r>
              <a:rPr i="1" lang="es" sz="1800">
                <a:latin typeface="Inter"/>
                <a:ea typeface="Inter"/>
                <a:cs typeface="Inter"/>
                <a:sym typeface="Inter"/>
              </a:rPr>
              <a:t>número de elementos en la lista</a:t>
            </a:r>
            <a:endParaRPr i="1"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Mutex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, para actualizar el estado en una región crítica. Un thread 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despierta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de la espera siempre con el 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mutex bloqueado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(</a:t>
            </a:r>
            <a:r>
              <a:rPr i="1" lang="es" sz="1800">
                <a:latin typeface="Inter"/>
                <a:ea typeface="Inter"/>
                <a:cs typeface="Inter"/>
                <a:sym typeface="Inter"/>
              </a:rPr>
              <a:t>lock)</a:t>
            </a:r>
            <a:endParaRPr i="1"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Predicado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, condición sobre el estado que se espera/señaliza. Ejemplo: </a:t>
            </a:r>
            <a:r>
              <a:rPr i="1" lang="es" sz="1800">
                <a:latin typeface="Inter"/>
                <a:ea typeface="Inter"/>
                <a:cs typeface="Inter"/>
                <a:sym typeface="Inter"/>
              </a:rPr>
              <a:t>elementos &gt; 0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8" name="Google Shape;308;p35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5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Variables</a:t>
            </a: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de Condici</a:t>
            </a: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ón</a:t>
            </a: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(I)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cxnSp>
        <p:nvCxnSpPr>
          <p:cNvPr id="310" name="Google Shape;310;p35"/>
          <p:cNvCxnSpPr/>
          <p:nvPr/>
        </p:nvCxnSpPr>
        <p:spPr>
          <a:xfrm>
            <a:off x="98725" y="5659850"/>
            <a:ext cx="69249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" name="Google Shape;311;p35"/>
          <p:cNvSpPr/>
          <p:nvPr/>
        </p:nvSpPr>
        <p:spPr>
          <a:xfrm>
            <a:off x="736900" y="3867150"/>
            <a:ext cx="3530300" cy="2286000"/>
          </a:xfrm>
          <a:custGeom>
            <a:rect b="b" l="l" r="r" t="t"/>
            <a:pathLst>
              <a:path extrusionOk="0" h="91440" w="141212">
                <a:moveTo>
                  <a:pt x="0" y="77"/>
                </a:moveTo>
                <a:lnTo>
                  <a:pt x="28436" y="0"/>
                </a:lnTo>
                <a:lnTo>
                  <a:pt x="28436" y="91440"/>
                </a:lnTo>
                <a:lnTo>
                  <a:pt x="34532" y="91440"/>
                </a:lnTo>
                <a:lnTo>
                  <a:pt x="34532" y="0"/>
                </a:lnTo>
                <a:lnTo>
                  <a:pt x="52820" y="0"/>
                </a:lnTo>
                <a:lnTo>
                  <a:pt x="52820" y="67056"/>
                </a:lnTo>
                <a:lnTo>
                  <a:pt x="98540" y="67056"/>
                </a:lnTo>
                <a:lnTo>
                  <a:pt x="98540" y="0"/>
                </a:lnTo>
                <a:lnTo>
                  <a:pt x="141212" y="0"/>
                </a:lnTo>
              </a:path>
            </a:pathLst>
          </a:cu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12" name="Google Shape;312;p35"/>
          <p:cNvSpPr/>
          <p:nvPr/>
        </p:nvSpPr>
        <p:spPr>
          <a:xfrm>
            <a:off x="755950" y="4221500"/>
            <a:ext cx="6056450" cy="1207900"/>
          </a:xfrm>
          <a:custGeom>
            <a:rect b="b" l="l" r="r" t="t"/>
            <a:pathLst>
              <a:path extrusionOk="0" h="48316" w="242258">
                <a:moveTo>
                  <a:pt x="0" y="0"/>
                </a:moveTo>
                <a:lnTo>
                  <a:pt x="61167" y="485"/>
                </a:lnTo>
                <a:lnTo>
                  <a:pt x="60902" y="48316"/>
                </a:lnTo>
                <a:lnTo>
                  <a:pt x="163264" y="48316"/>
                </a:lnTo>
                <a:lnTo>
                  <a:pt x="163264" y="310"/>
                </a:lnTo>
                <a:lnTo>
                  <a:pt x="184854" y="310"/>
                </a:lnTo>
                <a:lnTo>
                  <a:pt x="200602" y="564"/>
                </a:lnTo>
                <a:lnTo>
                  <a:pt x="242258" y="310"/>
                </a:lnTo>
              </a:path>
            </a:pathLst>
          </a:custGeom>
          <a:noFill/>
          <a:ln cap="flat" cmpd="sng" w="19050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313" name="Google Shape;313;p35"/>
          <p:cNvSpPr/>
          <p:nvPr/>
        </p:nvSpPr>
        <p:spPr>
          <a:xfrm>
            <a:off x="762000" y="4476750"/>
            <a:ext cx="3962400" cy="1676400"/>
          </a:xfrm>
          <a:custGeom>
            <a:rect b="b" l="l" r="r" t="t"/>
            <a:pathLst>
              <a:path extrusionOk="0" h="67056" w="158496">
                <a:moveTo>
                  <a:pt x="0" y="0"/>
                </a:moveTo>
                <a:lnTo>
                  <a:pt x="82296" y="0"/>
                </a:lnTo>
                <a:lnTo>
                  <a:pt x="82296" y="67056"/>
                </a:lnTo>
                <a:lnTo>
                  <a:pt x="91440" y="67056"/>
                </a:lnTo>
                <a:lnTo>
                  <a:pt x="91440" y="0"/>
                </a:lnTo>
                <a:lnTo>
                  <a:pt x="124968" y="0"/>
                </a:lnTo>
                <a:lnTo>
                  <a:pt x="124968" y="42672"/>
                </a:lnTo>
                <a:lnTo>
                  <a:pt x="158496" y="42672"/>
                </a:lnTo>
              </a:path>
            </a:pathLst>
          </a:custGeom>
          <a:noFill/>
          <a:ln cap="flat" cmpd="sng" w="19050">
            <a:solidFill>
              <a:srgbClr val="990000"/>
            </a:solidFill>
            <a:prstDash val="dashDot"/>
            <a:round/>
            <a:headEnd len="med" w="med" type="none"/>
            <a:tailEnd len="med" w="med" type="none"/>
          </a:ln>
        </p:spPr>
      </p:sp>
      <p:sp>
        <p:nvSpPr>
          <p:cNvPr id="314" name="Google Shape;314;p35"/>
          <p:cNvSpPr txBox="1"/>
          <p:nvPr/>
        </p:nvSpPr>
        <p:spPr>
          <a:xfrm>
            <a:off x="5420900" y="5716850"/>
            <a:ext cx="127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cond_var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15" name="Google Shape;315;p35"/>
          <p:cNvCxnSpPr/>
          <p:nvPr/>
        </p:nvCxnSpPr>
        <p:spPr>
          <a:xfrm flipH="1">
            <a:off x="6934300" y="5678825"/>
            <a:ext cx="12900" cy="6267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6" name="Google Shape;316;p35"/>
          <p:cNvSpPr txBox="1"/>
          <p:nvPr/>
        </p:nvSpPr>
        <p:spPr>
          <a:xfrm>
            <a:off x="6966250" y="5648925"/>
            <a:ext cx="1800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Threads que env</a:t>
            </a:r>
            <a:r>
              <a:rPr lang="es" sz="1600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ían señales</a:t>
            </a:r>
            <a:endParaRPr sz="1600">
              <a:solidFill>
                <a:srgbClr val="38761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7" name="Google Shape;317;p35"/>
          <p:cNvSpPr txBox="1"/>
          <p:nvPr/>
        </p:nvSpPr>
        <p:spPr>
          <a:xfrm>
            <a:off x="32050" y="5302850"/>
            <a:ext cx="95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tiempo</a:t>
            </a:r>
            <a:endParaRPr i="1" sz="16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18" name="Google Shape;318;p35"/>
          <p:cNvCxnSpPr/>
          <p:nvPr/>
        </p:nvCxnSpPr>
        <p:spPr>
          <a:xfrm>
            <a:off x="6947200" y="5078750"/>
            <a:ext cx="0" cy="571800"/>
          </a:xfrm>
          <a:prstGeom prst="straightConnector1">
            <a:avLst/>
          </a:prstGeom>
          <a:noFill/>
          <a:ln cap="flat" cmpd="sng" w="9525">
            <a:solidFill>
              <a:srgbClr val="99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9" name="Google Shape;319;p35"/>
          <p:cNvSpPr txBox="1"/>
          <p:nvPr/>
        </p:nvSpPr>
        <p:spPr>
          <a:xfrm>
            <a:off x="7023625" y="5052025"/>
            <a:ext cx="209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990000"/>
                </a:solidFill>
                <a:latin typeface="Inter"/>
                <a:ea typeface="Inter"/>
                <a:cs typeface="Inter"/>
                <a:sym typeface="Inter"/>
              </a:rPr>
              <a:t>Threads esperando en la variable</a:t>
            </a:r>
            <a:endParaRPr sz="1600">
              <a:solidFill>
                <a:srgbClr val="99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0" name="Google Shape;320;p35"/>
          <p:cNvSpPr txBox="1"/>
          <p:nvPr/>
        </p:nvSpPr>
        <p:spPr>
          <a:xfrm>
            <a:off x="13000" y="3509050"/>
            <a:ext cx="11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74EA7"/>
                </a:solidFill>
                <a:latin typeface="Inter"/>
                <a:ea typeface="Inter"/>
                <a:cs typeface="Inter"/>
                <a:sym typeface="Inter"/>
              </a:rPr>
              <a:t>Thread A</a:t>
            </a:r>
            <a:endParaRPr sz="1600">
              <a:solidFill>
                <a:srgbClr val="674EA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1" name="Google Shape;321;p35"/>
          <p:cNvSpPr txBox="1"/>
          <p:nvPr/>
        </p:nvSpPr>
        <p:spPr>
          <a:xfrm>
            <a:off x="13000" y="3874175"/>
            <a:ext cx="11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38761D"/>
                </a:solidFill>
                <a:latin typeface="Inter"/>
                <a:ea typeface="Inter"/>
                <a:cs typeface="Inter"/>
                <a:sym typeface="Inter"/>
              </a:rPr>
              <a:t>Thread B</a:t>
            </a:r>
            <a:endParaRPr sz="1600">
              <a:solidFill>
                <a:srgbClr val="38761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2" name="Google Shape;322;p35"/>
          <p:cNvSpPr txBox="1"/>
          <p:nvPr/>
        </p:nvSpPr>
        <p:spPr>
          <a:xfrm>
            <a:off x="13000" y="4404400"/>
            <a:ext cx="118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990000"/>
                </a:solidFill>
                <a:latin typeface="Inter"/>
                <a:ea typeface="Inter"/>
                <a:cs typeface="Inter"/>
                <a:sym typeface="Inter"/>
              </a:rPr>
              <a:t>Thread C</a:t>
            </a:r>
            <a:endParaRPr sz="1600">
              <a:solidFill>
                <a:srgbClr val="99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3" name="Google Shape;323;p35"/>
          <p:cNvSpPr/>
          <p:nvPr/>
        </p:nvSpPr>
        <p:spPr>
          <a:xfrm>
            <a:off x="4267200" y="3867150"/>
            <a:ext cx="2523250" cy="2286150"/>
          </a:xfrm>
          <a:custGeom>
            <a:rect b="b" l="l" r="r" t="t"/>
            <a:pathLst>
              <a:path extrusionOk="0" h="91446" w="100930">
                <a:moveTo>
                  <a:pt x="0" y="0"/>
                </a:moveTo>
                <a:lnTo>
                  <a:pt x="0" y="91440"/>
                </a:lnTo>
                <a:lnTo>
                  <a:pt x="6812" y="91446"/>
                </a:lnTo>
                <a:lnTo>
                  <a:pt x="7204" y="181"/>
                </a:lnTo>
                <a:lnTo>
                  <a:pt x="100930" y="181"/>
                </a:lnTo>
              </a:path>
            </a:pathLst>
          </a:custGeom>
          <a:noFill/>
          <a:ln cap="flat" cmpd="sng" w="19050">
            <a:solidFill>
              <a:srgbClr val="674EA7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24" name="Google Shape;324;p35"/>
          <p:cNvSpPr/>
          <p:nvPr/>
        </p:nvSpPr>
        <p:spPr>
          <a:xfrm>
            <a:off x="4724400" y="4400550"/>
            <a:ext cx="2209800" cy="1143000"/>
          </a:xfrm>
          <a:custGeom>
            <a:rect b="b" l="l" r="r" t="t"/>
            <a:pathLst>
              <a:path extrusionOk="0" h="45720" w="88392">
                <a:moveTo>
                  <a:pt x="0" y="45720"/>
                </a:moveTo>
                <a:lnTo>
                  <a:pt x="0" y="0"/>
                </a:lnTo>
                <a:lnTo>
                  <a:pt x="27432" y="0"/>
                </a:lnTo>
                <a:lnTo>
                  <a:pt x="27432" y="45720"/>
                </a:lnTo>
                <a:lnTo>
                  <a:pt x="73152" y="45720"/>
                </a:lnTo>
                <a:lnTo>
                  <a:pt x="73152" y="0"/>
                </a:lnTo>
                <a:lnTo>
                  <a:pt x="88392" y="0"/>
                </a:lnTo>
              </a:path>
            </a:pathLst>
          </a:custGeom>
          <a:noFill/>
          <a:ln cap="flat" cmpd="sng" w="19050">
            <a:solidFill>
              <a:srgbClr val="990000"/>
            </a:solidFill>
            <a:prstDash val="dashDot"/>
            <a:round/>
            <a:headEnd len="med" w="med" type="none"/>
            <a:tailEnd len="med" w="med" type="none"/>
          </a:ln>
        </p:spPr>
      </p:sp>
      <p:sp>
        <p:nvSpPr>
          <p:cNvPr id="325" name="Google Shape;325;p35"/>
          <p:cNvSpPr txBox="1"/>
          <p:nvPr/>
        </p:nvSpPr>
        <p:spPr>
          <a:xfrm>
            <a:off x="76200" y="6394450"/>
            <a:ext cx="2514600" cy="43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signal. </a:t>
            </a: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B,C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sin espera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6" name="Google Shape;326;p35"/>
          <p:cNvSpPr txBox="1"/>
          <p:nvPr/>
        </p:nvSpPr>
        <p:spPr>
          <a:xfrm>
            <a:off x="5969000" y="6394450"/>
            <a:ext cx="1981200" cy="43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bcast </a:t>
            </a: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C,B</a:t>
            </a: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wake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7" name="Google Shape;327;p35"/>
          <p:cNvSpPr txBox="1"/>
          <p:nvPr/>
        </p:nvSpPr>
        <p:spPr>
          <a:xfrm>
            <a:off x="6934200" y="4552950"/>
            <a:ext cx="1828800" cy="43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C: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wake (time-out)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28" name="Google Shape;328;p35"/>
          <p:cNvCxnSpPr/>
          <p:nvPr/>
        </p:nvCxnSpPr>
        <p:spPr>
          <a:xfrm>
            <a:off x="1524000" y="600075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674EA7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29" name="Google Shape;329;p35"/>
          <p:cNvCxnSpPr/>
          <p:nvPr/>
        </p:nvCxnSpPr>
        <p:spPr>
          <a:xfrm>
            <a:off x="2927350" y="600075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330" name="Google Shape;330;p35"/>
          <p:cNvCxnSpPr>
            <a:endCxn id="326" idx="1"/>
          </p:cNvCxnSpPr>
          <p:nvPr/>
        </p:nvCxnSpPr>
        <p:spPr>
          <a:xfrm>
            <a:off x="4343300" y="6000700"/>
            <a:ext cx="1625700" cy="609300"/>
          </a:xfrm>
          <a:prstGeom prst="straightConnector1">
            <a:avLst/>
          </a:prstGeom>
          <a:noFill/>
          <a:ln cap="flat" cmpd="sng" w="9525">
            <a:solidFill>
              <a:srgbClr val="674EA7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31" name="Google Shape;331;p35"/>
          <p:cNvSpPr txBox="1"/>
          <p:nvPr/>
        </p:nvSpPr>
        <p:spPr>
          <a:xfrm>
            <a:off x="2654300" y="6395150"/>
            <a:ext cx="2819400" cy="431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signal. </a:t>
            </a: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A: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wake </a:t>
            </a: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espera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32" name="Google Shape;332;p35"/>
          <p:cNvCxnSpPr>
            <a:endCxn id="327" idx="1"/>
          </p:cNvCxnSpPr>
          <p:nvPr/>
        </p:nvCxnSpPr>
        <p:spPr>
          <a:xfrm flipH="1" rot="10800000">
            <a:off x="6400800" y="4768500"/>
            <a:ext cx="533400" cy="698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6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6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s" sz="3200">
                <a:latin typeface="Inter Medium"/>
                <a:ea typeface="Inter Medium"/>
                <a:cs typeface="Inter Medium"/>
                <a:sym typeface="Inter Medium"/>
              </a:rPr>
              <a:t>Variables de Condición (II)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39" name="Google Shape;339;p36"/>
          <p:cNvSpPr txBox="1"/>
          <p:nvPr/>
        </p:nvSpPr>
        <p:spPr>
          <a:xfrm>
            <a:off x="166900" y="825575"/>
            <a:ext cx="8814300" cy="2235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pthread_cond_t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 cond = PTHREAD_COND_INITIALIZER;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 pthread_cond_init(pthread_cond_t *cond,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                      const pthread_condattr_t *attr);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pthread_cond_destroy(pthread_cond_t *cond);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 función destroy sólo se puede llamar cuando otros threads no estén esperando el la variable de condici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ón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0" name="Google Shape;340;p36"/>
          <p:cNvSpPr txBox="1"/>
          <p:nvPr/>
        </p:nvSpPr>
        <p:spPr>
          <a:xfrm>
            <a:off x="166900" y="3232150"/>
            <a:ext cx="8814300" cy="18795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pthread_cond_wait(pthread_cond_t *cond, pthread_mutex_t *mutex);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Versión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timedwait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permite especificar un timeout (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 timespec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thread vuelve de la llamada con mutex en estado lock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thread debe 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comprobar el predicado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antes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 entrar en la espera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y después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 salir de ella.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1" name="Google Shape;341;p36"/>
          <p:cNvSpPr txBox="1"/>
          <p:nvPr/>
        </p:nvSpPr>
        <p:spPr>
          <a:xfrm>
            <a:off x="166900" y="5302250"/>
            <a:ext cx="8814300" cy="14478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pthread_cond_signal(pthread_cond_t *cond);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pthread_cond_broadcast(pthread_cond_t *cond);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Despierta a un thread (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cualquiera)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esperando en la variable de condición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 La versi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ón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broadcast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despierta todos.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7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7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latin typeface="Inter Medium"/>
                <a:ea typeface="Inter Medium"/>
                <a:cs typeface="Inter Medium"/>
                <a:sym typeface="Inter Medium"/>
              </a:rPr>
              <a:t>Patrón de Diseño: Productor - Consumidor</a:t>
            </a:r>
            <a:r>
              <a:rPr b="0" lang="es" sz="3200">
                <a:latin typeface="Inter Medium"/>
                <a:ea typeface="Inter Medium"/>
                <a:cs typeface="Inter Medium"/>
                <a:sym typeface="Inter Medium"/>
              </a:rPr>
              <a:t> (I)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48" name="Google Shape;348;p37"/>
          <p:cNvSpPr txBox="1"/>
          <p:nvPr/>
        </p:nvSpPr>
        <p:spPr>
          <a:xfrm>
            <a:off x="107850" y="1025600"/>
            <a:ext cx="8901900" cy="5445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54000" spcFirstLastPara="1" rIns="54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Productor - Consumidor</a:t>
            </a:r>
            <a:endParaRPr b="1"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Productores, generan datos que se colocan en un buffer compartido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Consumidores, recogen los datos del buffer y los procesan.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Variable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de condición y mutex para controlar el buffer. 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Predicado</a:t>
            </a:r>
            <a:r>
              <a:rPr b="1" lang="es" sz="1800"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: </a:t>
            </a:r>
            <a:r>
              <a:rPr i="1" lang="es" sz="1800">
                <a:latin typeface="Inter"/>
                <a:ea typeface="Inter"/>
                <a:cs typeface="Inter"/>
                <a:sym typeface="Inter"/>
              </a:rPr>
              <a:t>Buffer no está vacío 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(se puede consumir)</a:t>
            </a:r>
            <a:r>
              <a:rPr i="1" lang="es" sz="1800">
                <a:latin typeface="Inter"/>
                <a:ea typeface="Inter"/>
                <a:cs typeface="Inter"/>
                <a:sym typeface="Inter"/>
              </a:rPr>
              <a:t>, Buffer no está lleno 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(se puede producir)</a:t>
            </a:r>
            <a:r>
              <a:rPr i="1" lang="es" sz="1800">
                <a:latin typeface="Inter"/>
                <a:ea typeface="Inter"/>
                <a:cs typeface="Inter"/>
                <a:sym typeface="Inter"/>
              </a:rPr>
              <a:t>.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Generalización en el patrón 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pipeline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con múltiples etapas de productor-consumidor.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Google Shape;349;p37"/>
          <p:cNvSpPr/>
          <p:nvPr/>
        </p:nvSpPr>
        <p:spPr>
          <a:xfrm>
            <a:off x="3473450" y="4216400"/>
            <a:ext cx="304800" cy="304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7"/>
          <p:cNvSpPr/>
          <p:nvPr/>
        </p:nvSpPr>
        <p:spPr>
          <a:xfrm>
            <a:off x="3778250" y="4216400"/>
            <a:ext cx="304800" cy="304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7"/>
          <p:cNvSpPr/>
          <p:nvPr/>
        </p:nvSpPr>
        <p:spPr>
          <a:xfrm>
            <a:off x="4083050" y="4216400"/>
            <a:ext cx="304800" cy="304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7"/>
          <p:cNvSpPr/>
          <p:nvPr/>
        </p:nvSpPr>
        <p:spPr>
          <a:xfrm>
            <a:off x="4387850" y="4216400"/>
            <a:ext cx="304800" cy="304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7"/>
          <p:cNvSpPr/>
          <p:nvPr/>
        </p:nvSpPr>
        <p:spPr>
          <a:xfrm>
            <a:off x="4692650" y="4216400"/>
            <a:ext cx="304800" cy="304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7"/>
          <p:cNvSpPr/>
          <p:nvPr/>
        </p:nvSpPr>
        <p:spPr>
          <a:xfrm>
            <a:off x="2590800" y="3505963"/>
            <a:ext cx="428700" cy="466800"/>
          </a:xfrm>
          <a:prstGeom prst="ellipse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P1</a:t>
            </a:r>
            <a:endParaRPr b="1"/>
          </a:p>
        </p:txBody>
      </p:sp>
      <p:sp>
        <p:nvSpPr>
          <p:cNvPr id="355" name="Google Shape;355;p37"/>
          <p:cNvSpPr/>
          <p:nvPr/>
        </p:nvSpPr>
        <p:spPr>
          <a:xfrm>
            <a:off x="2590800" y="4129613"/>
            <a:ext cx="428700" cy="4668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P2</a:t>
            </a:r>
            <a:endParaRPr b="1"/>
          </a:p>
        </p:txBody>
      </p:sp>
      <p:sp>
        <p:nvSpPr>
          <p:cNvPr id="356" name="Google Shape;356;p37"/>
          <p:cNvSpPr/>
          <p:nvPr/>
        </p:nvSpPr>
        <p:spPr>
          <a:xfrm>
            <a:off x="2590800" y="4784650"/>
            <a:ext cx="428700" cy="4668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P3</a:t>
            </a:r>
            <a:endParaRPr b="1"/>
          </a:p>
        </p:txBody>
      </p:sp>
      <p:sp>
        <p:nvSpPr>
          <p:cNvPr id="357" name="Google Shape;357;p37"/>
          <p:cNvSpPr/>
          <p:nvPr/>
        </p:nvSpPr>
        <p:spPr>
          <a:xfrm>
            <a:off x="5514900" y="3505963"/>
            <a:ext cx="428700" cy="466800"/>
          </a:xfrm>
          <a:prstGeom prst="ellipse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</a:t>
            </a:r>
            <a:r>
              <a:rPr b="1" lang="es"/>
              <a:t>1</a:t>
            </a:r>
            <a:endParaRPr b="1"/>
          </a:p>
        </p:txBody>
      </p:sp>
      <p:sp>
        <p:nvSpPr>
          <p:cNvPr id="358" name="Google Shape;358;p37"/>
          <p:cNvSpPr/>
          <p:nvPr/>
        </p:nvSpPr>
        <p:spPr>
          <a:xfrm>
            <a:off x="5514900" y="4135963"/>
            <a:ext cx="428700" cy="466800"/>
          </a:xfrm>
          <a:prstGeom prst="ellipse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</a:t>
            </a:r>
            <a:r>
              <a:rPr b="1" lang="es"/>
              <a:t>2</a:t>
            </a:r>
            <a:endParaRPr b="1"/>
          </a:p>
        </p:txBody>
      </p:sp>
      <p:sp>
        <p:nvSpPr>
          <p:cNvPr id="359" name="Google Shape;359;p37"/>
          <p:cNvSpPr/>
          <p:nvPr/>
        </p:nvSpPr>
        <p:spPr>
          <a:xfrm>
            <a:off x="5514900" y="4867200"/>
            <a:ext cx="428700" cy="4668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</a:t>
            </a:r>
            <a:r>
              <a:rPr b="1" lang="es"/>
              <a:t>3</a:t>
            </a:r>
            <a:endParaRPr b="1"/>
          </a:p>
        </p:txBody>
      </p:sp>
      <p:cxnSp>
        <p:nvCxnSpPr>
          <p:cNvPr id="360" name="Google Shape;360;p37"/>
          <p:cNvCxnSpPr>
            <a:stCxn id="354" idx="6"/>
            <a:endCxn id="349" idx="1"/>
          </p:cNvCxnSpPr>
          <p:nvPr/>
        </p:nvCxnSpPr>
        <p:spPr>
          <a:xfrm>
            <a:off x="3019500" y="3739363"/>
            <a:ext cx="453900" cy="62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1" name="Google Shape;361;p37"/>
          <p:cNvCxnSpPr>
            <a:stCxn id="355" idx="6"/>
            <a:endCxn id="349" idx="1"/>
          </p:cNvCxnSpPr>
          <p:nvPr/>
        </p:nvCxnSpPr>
        <p:spPr>
          <a:xfrm>
            <a:off x="3019500" y="4363013"/>
            <a:ext cx="4539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" name="Google Shape;362;p37"/>
          <p:cNvCxnSpPr>
            <a:stCxn id="356" idx="6"/>
            <a:endCxn id="349" idx="1"/>
          </p:cNvCxnSpPr>
          <p:nvPr/>
        </p:nvCxnSpPr>
        <p:spPr>
          <a:xfrm flipH="1" rot="10800000">
            <a:off x="3019500" y="4368850"/>
            <a:ext cx="453900" cy="64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3" name="Google Shape;363;p37"/>
          <p:cNvCxnSpPr>
            <a:endCxn id="357" idx="2"/>
          </p:cNvCxnSpPr>
          <p:nvPr/>
        </p:nvCxnSpPr>
        <p:spPr>
          <a:xfrm flipH="1" rot="10800000">
            <a:off x="4997400" y="3739363"/>
            <a:ext cx="517500" cy="62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" name="Google Shape;364;p37"/>
          <p:cNvCxnSpPr>
            <a:stCxn id="353" idx="3"/>
            <a:endCxn id="358" idx="2"/>
          </p:cNvCxnSpPr>
          <p:nvPr/>
        </p:nvCxnSpPr>
        <p:spPr>
          <a:xfrm>
            <a:off x="4997450" y="4368800"/>
            <a:ext cx="5175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" name="Google Shape;365;p37"/>
          <p:cNvCxnSpPr>
            <a:endCxn id="359" idx="2"/>
          </p:cNvCxnSpPr>
          <p:nvPr/>
        </p:nvCxnSpPr>
        <p:spPr>
          <a:xfrm>
            <a:off x="4997400" y="4368900"/>
            <a:ext cx="517500" cy="73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6" name="Google Shape;366;p37"/>
          <p:cNvSpPr txBox="1"/>
          <p:nvPr/>
        </p:nvSpPr>
        <p:spPr>
          <a:xfrm>
            <a:off x="2051050" y="5246950"/>
            <a:ext cx="152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productores</a:t>
            </a:r>
            <a:endParaRPr/>
          </a:p>
        </p:txBody>
      </p:sp>
      <p:sp>
        <p:nvSpPr>
          <p:cNvPr id="367" name="Google Shape;367;p37"/>
          <p:cNvSpPr txBox="1"/>
          <p:nvPr/>
        </p:nvSpPr>
        <p:spPr>
          <a:xfrm>
            <a:off x="4876800" y="5253300"/>
            <a:ext cx="175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consumidores</a:t>
            </a:r>
            <a:endParaRPr/>
          </a:p>
        </p:txBody>
      </p:sp>
      <p:sp>
        <p:nvSpPr>
          <p:cNvPr id="368" name="Google Shape;368;p37"/>
          <p:cNvSpPr txBox="1"/>
          <p:nvPr/>
        </p:nvSpPr>
        <p:spPr>
          <a:xfrm>
            <a:off x="3352800" y="3799150"/>
            <a:ext cx="175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buffer</a:t>
            </a:r>
            <a:endParaRPr i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8"/>
          <p:cNvSpPr txBox="1"/>
          <p:nvPr/>
        </p:nvSpPr>
        <p:spPr>
          <a:xfrm>
            <a:off x="107850" y="854150"/>
            <a:ext cx="8901900" cy="5808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54000" spcFirstLastPara="1" rIns="54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Ejemplo. Ejercicio </a:t>
            </a:r>
            <a:endParaRPr b="1"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Escribir un programa con P threads productores (argumento 1) y C threads consumidores (argumento 2).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Los 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tiempos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de producción y consumición serán de 1 y 2 segundos respectivamente.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El buffer compartido será un array de tamaño fijo con dos índices (</a:t>
            </a:r>
            <a:r>
              <a:rPr i="1" lang="es" sz="1800"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- producción, y </a:t>
            </a:r>
            <a:r>
              <a:rPr i="1" lang="es" sz="1800"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- consumición).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Implementar el sistema con dos variables de condición y predicados: 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consumidor: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elements &gt; 0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Inter"/>
              <a:buChar char="○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productor: 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elements &lt; buffer_size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 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Cada productor producirá un número fijo de elementos (</a:t>
            </a:r>
            <a:r>
              <a:rPr lang="es" sz="1800">
                <a:latin typeface="Consolas"/>
                <a:ea typeface="Consolas"/>
                <a:cs typeface="Consolas"/>
                <a:sym typeface="Consolas"/>
              </a:rPr>
              <a:t>NUM_ELEMENTS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)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Google Shape;374;p38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8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latin typeface="Inter Medium"/>
                <a:ea typeface="Inter Medium"/>
                <a:cs typeface="Inter Medium"/>
                <a:sym typeface="Inter Medium"/>
              </a:rPr>
              <a:t>Patrón de Diseño: Productor - Consumidor (II)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76" name="Google Shape;376;p38"/>
          <p:cNvSpPr/>
          <p:nvPr/>
        </p:nvSpPr>
        <p:spPr>
          <a:xfrm>
            <a:off x="2597150" y="4006850"/>
            <a:ext cx="304800" cy="304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8"/>
          <p:cNvSpPr/>
          <p:nvPr/>
        </p:nvSpPr>
        <p:spPr>
          <a:xfrm>
            <a:off x="2901950" y="4006850"/>
            <a:ext cx="304800" cy="304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8"/>
          <p:cNvSpPr/>
          <p:nvPr/>
        </p:nvSpPr>
        <p:spPr>
          <a:xfrm>
            <a:off x="3206750" y="4006850"/>
            <a:ext cx="304800" cy="3048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8"/>
          <p:cNvSpPr/>
          <p:nvPr/>
        </p:nvSpPr>
        <p:spPr>
          <a:xfrm>
            <a:off x="3511550" y="4006850"/>
            <a:ext cx="304800" cy="3048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8"/>
          <p:cNvSpPr/>
          <p:nvPr/>
        </p:nvSpPr>
        <p:spPr>
          <a:xfrm>
            <a:off x="3816350" y="4006850"/>
            <a:ext cx="304800" cy="3048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8"/>
          <p:cNvSpPr/>
          <p:nvPr/>
        </p:nvSpPr>
        <p:spPr>
          <a:xfrm>
            <a:off x="4121150" y="4006850"/>
            <a:ext cx="304800" cy="3048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8"/>
          <p:cNvSpPr/>
          <p:nvPr/>
        </p:nvSpPr>
        <p:spPr>
          <a:xfrm>
            <a:off x="4419600" y="4006850"/>
            <a:ext cx="304800" cy="3048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8"/>
          <p:cNvSpPr/>
          <p:nvPr/>
        </p:nvSpPr>
        <p:spPr>
          <a:xfrm>
            <a:off x="4724400" y="4006850"/>
            <a:ext cx="304800" cy="3048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8"/>
          <p:cNvSpPr/>
          <p:nvPr/>
        </p:nvSpPr>
        <p:spPr>
          <a:xfrm>
            <a:off x="5029200" y="4006850"/>
            <a:ext cx="304800" cy="304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8"/>
          <p:cNvSpPr/>
          <p:nvPr/>
        </p:nvSpPr>
        <p:spPr>
          <a:xfrm>
            <a:off x="5334000" y="4006850"/>
            <a:ext cx="304800" cy="304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8"/>
          <p:cNvSpPr/>
          <p:nvPr/>
        </p:nvSpPr>
        <p:spPr>
          <a:xfrm>
            <a:off x="5638800" y="4006850"/>
            <a:ext cx="304800" cy="304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8"/>
          <p:cNvSpPr/>
          <p:nvPr/>
        </p:nvSpPr>
        <p:spPr>
          <a:xfrm>
            <a:off x="5943600" y="4006850"/>
            <a:ext cx="304800" cy="304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8" name="Google Shape;388;p38"/>
          <p:cNvCxnSpPr>
            <a:stCxn id="378" idx="2"/>
          </p:cNvCxnSpPr>
          <p:nvPr/>
        </p:nvCxnSpPr>
        <p:spPr>
          <a:xfrm flipH="1">
            <a:off x="3352850" y="4311650"/>
            <a:ext cx="6300" cy="4890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9" name="Google Shape;389;p38"/>
          <p:cNvCxnSpPr>
            <a:stCxn id="384" idx="0"/>
          </p:cNvCxnSpPr>
          <p:nvPr/>
        </p:nvCxnSpPr>
        <p:spPr>
          <a:xfrm rot="10800000">
            <a:off x="5181600" y="3581450"/>
            <a:ext cx="0" cy="4254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90" name="Google Shape;390;p38"/>
          <p:cNvSpPr txBox="1"/>
          <p:nvPr/>
        </p:nvSpPr>
        <p:spPr>
          <a:xfrm>
            <a:off x="5022850" y="32149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puntero escritura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Google Shape;391;p38"/>
          <p:cNvSpPr txBox="1"/>
          <p:nvPr/>
        </p:nvSpPr>
        <p:spPr>
          <a:xfrm>
            <a:off x="3200400" y="47389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puntero lectura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9"/>
          <p:cNvSpPr txBox="1"/>
          <p:nvPr/>
        </p:nvSpPr>
        <p:spPr>
          <a:xfrm>
            <a:off x="107850" y="854150"/>
            <a:ext cx="8901900" cy="2666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54000" spcFirstLastPara="1" rIns="54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Ejemplo</a:t>
            </a:r>
            <a:endParaRPr b="1"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●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Añadir una condición de finalización para los consumidores: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Inter"/>
              <a:buChar char="○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Opción 1. Contar el número de elementos totales consumidos, y modificar el predicado y los envíos de señales (broadcast) de los consumidores.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Inter"/>
              <a:buChar char="○"/>
            </a:pPr>
            <a:r>
              <a:rPr lang="es" sz="1800">
                <a:latin typeface="Inter"/>
                <a:ea typeface="Inter"/>
                <a:cs typeface="Inter"/>
                <a:sym typeface="Inter"/>
              </a:rPr>
              <a:t>Opción 2 (patrón </a:t>
            </a:r>
            <a:r>
              <a:rPr i="1" lang="es" sz="1800">
                <a:latin typeface="Inter"/>
                <a:ea typeface="Inter"/>
                <a:cs typeface="Inter"/>
                <a:sym typeface="Inter"/>
              </a:rPr>
              <a:t>píldora envenenada</a:t>
            </a:r>
            <a:r>
              <a:rPr lang="es" sz="1800">
                <a:latin typeface="Inter"/>
                <a:ea typeface="Inter"/>
                <a:cs typeface="Inter"/>
                <a:sym typeface="Inter"/>
              </a:rPr>
              <a:t>). Escribir un elemento de finalización cuando se hayan producido todos los elementos, si un consumidor lee del buffer el elemento de finalización, terminará.</a:t>
            </a:r>
            <a:endParaRPr sz="18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7" name="Google Shape;397;p39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9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latin typeface="Inter Medium"/>
                <a:ea typeface="Inter Medium"/>
                <a:cs typeface="Inter Medium"/>
                <a:sym typeface="Inter Medium"/>
              </a:rPr>
              <a:t>Patrón de Diseño: Productor - Consumidor (II)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0"/>
          <p:cNvSpPr txBox="1"/>
          <p:nvPr>
            <p:ph idx="1" type="subTitle"/>
          </p:nvPr>
        </p:nvSpPr>
        <p:spPr>
          <a:xfrm>
            <a:off x="954245" y="76850"/>
            <a:ext cx="81813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lang="es">
                <a:latin typeface="Inter SemiBold"/>
                <a:ea typeface="Inter SemiBold"/>
                <a:cs typeface="Inter SemiBold"/>
                <a:sym typeface="Inter SemiBold"/>
              </a:rPr>
              <a:t>SISTEMAS OPERATIVOS</a:t>
            </a:r>
            <a:endParaRPr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Grado en </a:t>
            </a:r>
            <a:r>
              <a:rPr i="1" lang="es" sz="1400">
                <a:latin typeface="Inter"/>
                <a:ea typeface="Inter"/>
                <a:cs typeface="Inter"/>
                <a:sym typeface="Inter"/>
              </a:rPr>
              <a:t>Desarrollo de Videojuegos</a:t>
            </a:r>
            <a:endParaRPr i="1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1" lang="es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Universidad Complutense de Madrid</a:t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6" name="Google Shape;406;p40"/>
          <p:cNvSpPr/>
          <p:nvPr/>
        </p:nvSpPr>
        <p:spPr>
          <a:xfrm>
            <a:off x="8400" y="113285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40"/>
          <p:cNvSpPr txBox="1"/>
          <p:nvPr>
            <p:ph idx="4294967295" type="ctrTitle"/>
          </p:nvPr>
        </p:nvSpPr>
        <p:spPr>
          <a:xfrm>
            <a:off x="534975" y="2720725"/>
            <a:ext cx="86298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Font typeface="Arial"/>
              <a:buNone/>
            </a:pP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TEMA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5.4</a:t>
            </a:r>
            <a:r>
              <a:rPr i="0" lang="es" sz="3000" u="none" cap="none" strike="noStrike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3000">
                <a:solidFill>
                  <a:srgbClr val="4279B1"/>
                </a:solidFill>
                <a:latin typeface="Inter"/>
                <a:ea typeface="Inter"/>
                <a:cs typeface="Inter"/>
                <a:sym typeface="Inter"/>
              </a:rPr>
              <a:t>Soporte del Sistema Operativo</a:t>
            </a:r>
            <a:endParaRPr b="0" i="0" sz="3000" u="none" cap="none" strike="noStrike">
              <a:solidFill>
                <a:srgbClr val="4279B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08" name="Google Shape;408;p40" title="Escudo_de_la_Universidad_Complutense_de_Madrid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25" y="76851"/>
            <a:ext cx="799893" cy="91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1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41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Visibilidad de Memoria (I)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15" name="Google Shape;415;p41"/>
          <p:cNvSpPr txBox="1"/>
          <p:nvPr/>
        </p:nvSpPr>
        <p:spPr>
          <a:xfrm>
            <a:off x="77349" y="803350"/>
            <a:ext cx="9024000" cy="11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 compilador y el hardware pueden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reordenar libremente las </a:t>
            </a: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instrucciones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que se emiten si mantienen la </a:t>
            </a:r>
            <a:r>
              <a:rPr b="1" i="1" lang="es" sz="1800" u="sng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causalidad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aparente del programa.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6" name="Google Shape;416;p41"/>
          <p:cNvSpPr txBox="1"/>
          <p:nvPr/>
        </p:nvSpPr>
        <p:spPr>
          <a:xfrm>
            <a:off x="1186074" y="1669590"/>
            <a:ext cx="1817100" cy="141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= 3;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 = 2 * x + 1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 = c;</a:t>
            </a:r>
            <a:endParaRPr b="1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7" name="Google Shape;417;p41"/>
          <p:cNvSpPr txBox="1"/>
          <p:nvPr/>
        </p:nvSpPr>
        <p:spPr>
          <a:xfrm>
            <a:off x="3419777" y="2533200"/>
            <a:ext cx="5504100" cy="677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load, add, store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 pueden reordenar siempre que en este punto 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y=7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18" name="Google Shape;418;p41"/>
          <p:cNvCxnSpPr>
            <a:stCxn id="417" idx="1"/>
          </p:cNvCxnSpPr>
          <p:nvPr/>
        </p:nvCxnSpPr>
        <p:spPr>
          <a:xfrm rot="10800000">
            <a:off x="2271677" y="2871750"/>
            <a:ext cx="114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9" name="Google Shape;419;p41"/>
          <p:cNvSpPr txBox="1"/>
          <p:nvPr/>
        </p:nvSpPr>
        <p:spPr>
          <a:xfrm>
            <a:off x="77349" y="3379705"/>
            <a:ext cx="9024000" cy="31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 situaciones </a:t>
            </a:r>
            <a:r>
              <a:rPr b="1" i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asíncronas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(p.ej. manejadores de señales, multi-thread) no se puede asegurar esta 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causalidad: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Cache privadas por procesador (los protocolos de coherencia no aseguran valores consistentes hasta que se propagan las invalidaciones)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Ejecución 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fuera de orden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y 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especulativa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(que afecta temporización y cache)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Optimizaciones del compilador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Inter"/>
              <a:buChar char="○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Modelo de 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consistencia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de memoria (reordenación de las operaciones store/load según unas reglas bien definidas)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Google Shape;420;p41"/>
          <p:cNvSpPr txBox="1"/>
          <p:nvPr/>
        </p:nvSpPr>
        <p:spPr>
          <a:xfrm>
            <a:off x="3425199" y="1688794"/>
            <a:ext cx="5504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relación de orden observable entre operaciones de memoria.</a:t>
            </a:r>
            <a:endParaRPr i="1" sz="18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21" name="Google Shape;421;p41"/>
          <p:cNvCxnSpPr/>
          <p:nvPr/>
        </p:nvCxnSpPr>
        <p:spPr>
          <a:xfrm>
            <a:off x="4408725" y="1540575"/>
            <a:ext cx="0" cy="269700"/>
          </a:xfrm>
          <a:prstGeom prst="straightConnector1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2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2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Visibilidad de Memoria (II)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28" name="Google Shape;428;p42"/>
          <p:cNvSpPr txBox="1"/>
          <p:nvPr/>
        </p:nvSpPr>
        <p:spPr>
          <a:xfrm>
            <a:off x="201575" y="2059525"/>
            <a:ext cx="8760600" cy="25605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Tipos de Barreras de Memoria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Lectura: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Las lecturas (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 antes de la barrera se completan antes de las operaciones de lectura después de la barrera.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Escritura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Las escrituras (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 antes de la barrera se completan antes de las operaciones de escritura después de la barrera.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General/Completa: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afectan tanto a las operaciones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store.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Las llamadas pthreas_mutex_lock/unlock actúan de este modo. 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9" name="Google Shape;429;p42"/>
          <p:cNvSpPr txBox="1"/>
          <p:nvPr/>
        </p:nvSpPr>
        <p:spPr>
          <a:xfrm>
            <a:off x="191700" y="892614"/>
            <a:ext cx="8760600" cy="6759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54000" spcFirstLastPara="1" rIns="54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Las barreras de memoria (</a:t>
            </a:r>
            <a:r>
              <a:rPr i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memory barriers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 imponen un orden parcial aparente de las operaciones en cada lado de la barrera.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Google Shape;430;p42"/>
          <p:cNvSpPr txBox="1"/>
          <p:nvPr/>
        </p:nvSpPr>
        <p:spPr>
          <a:xfrm>
            <a:off x="191700" y="4858599"/>
            <a:ext cx="8760600" cy="1793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54000" spcFirstLastPara="1" rIns="54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C++11. </a:t>
            </a:r>
            <a:r>
              <a:rPr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&lt;atomic&gt;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Ofrece un interfaz para gestionar el acceso a datos compartidos en programas multi-thread.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Permite definir el modelo de memoria de forma que el programador puede establecer un orden bien definido de accesos.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3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43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Visibilidad de Memoria (III)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37" name="Google Shape;437;p43"/>
          <p:cNvSpPr txBox="1"/>
          <p:nvPr/>
        </p:nvSpPr>
        <p:spPr>
          <a:xfrm>
            <a:off x="92300" y="839925"/>
            <a:ext cx="8931000" cy="48264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54000" spcFirstLastPara="1" rIns="54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pthreads</a:t>
            </a:r>
            <a:r>
              <a:rPr b="1" lang="es" sz="20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: Reglas de Visibilidad</a:t>
            </a:r>
            <a:endParaRPr sz="2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Creación de threads 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(pthread_create</a:t>
            </a: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b="1"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 thread recién creado observa todos los efectos de memoria realizados por el thread creador antes de la llamada a 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pthread_create()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Mutex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/ 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Todas las operaciones de memoria realizadas antes de 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pthread_mutex_unlock()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por un thread son visibles para cualquier thread que posteriormente adquiera el mismo mutex mediante 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pthread_mutex_lock()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Finalización de threads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pthread_join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Todos los efectos de memoria de un thread finalizado son visibles para el thread que ejecuta 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pthread_join()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sobre él.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</a:pPr>
            <a:r>
              <a:rPr b="1"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Variables de condición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pthread_cond_signal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/ 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pthread_cond_broadcast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Inter"/>
              <a:buChar char="○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Todos los efectos de memoria previos a un 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broadcast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son visibles para los threads que se despiertan a consecuencia de la señalización.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8" name="Google Shape;438;p43"/>
          <p:cNvSpPr txBox="1"/>
          <p:nvPr/>
        </p:nvSpPr>
        <p:spPr>
          <a:xfrm>
            <a:off x="92300" y="5920350"/>
            <a:ext cx="8931000" cy="4227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54000" spcFirstLastPara="1" rIns="54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Estos puntos requieren de una </a:t>
            </a:r>
            <a:r>
              <a:rPr b="1" lang="es" sz="18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barrera de memoria </a:t>
            </a:r>
            <a:r>
              <a:rPr b="1" lang="es" sz="18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implícita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en las llamadas</a:t>
            </a: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/>
          <p:cNvSpPr/>
          <p:nvPr/>
        </p:nvSpPr>
        <p:spPr>
          <a:xfrm>
            <a:off x="2211325" y="4725175"/>
            <a:ext cx="5840100" cy="52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4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44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Soporte del Sistema: CPU ISA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46" name="Google Shape;446;p44"/>
          <p:cNvSpPr txBox="1"/>
          <p:nvPr/>
        </p:nvSpPr>
        <p:spPr>
          <a:xfrm>
            <a:off x="58525" y="720092"/>
            <a:ext cx="8959800" cy="27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Barreras de Memoria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Soporte del procesador para implementar las barreras de memoria: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s" sz="16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x86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s" sz="16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mfence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s" sz="16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sfence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s" sz="16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lfence</a:t>
            </a:r>
            <a:endParaRPr sz="1600">
              <a:solidFill>
                <a:srgbClr val="18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s" sz="160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ARM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s" sz="16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dmb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s" sz="16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dsb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s" sz="16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isb6</a:t>
            </a:r>
            <a:endParaRPr b="1"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Instrucciones atómicas</a:t>
            </a:r>
            <a:endParaRPr b="1"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 arquitectura del repertorio de instrucciones ofrece operaciones de lectura-modificación-escritura atómicas (libres de condiciones de carrera)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Ejemplo: </a:t>
            </a:r>
            <a:r>
              <a:rPr i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Compare-and-Swap. 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Intel x86 instrucción 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cmpxchg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7" name="Google Shape;447;p44"/>
          <p:cNvSpPr/>
          <p:nvPr/>
        </p:nvSpPr>
        <p:spPr>
          <a:xfrm>
            <a:off x="2211376" y="5916764"/>
            <a:ext cx="5840100" cy="268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44"/>
          <p:cNvSpPr txBox="1"/>
          <p:nvPr/>
        </p:nvSpPr>
        <p:spPr>
          <a:xfrm>
            <a:off x="1322842" y="3512521"/>
            <a:ext cx="5946000" cy="3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cmpxchg(</a:t>
            </a: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*addr, </a:t>
            </a: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expected, </a:t>
            </a: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newval){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old = *addr;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(old == expected)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*addr = newval;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else 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49" name="Google Shape;449;p44"/>
          <p:cNvCxnSpPr/>
          <p:nvPr/>
        </p:nvCxnSpPr>
        <p:spPr>
          <a:xfrm flipH="1">
            <a:off x="864025" y="3566150"/>
            <a:ext cx="13800" cy="3175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diamond"/>
            <a:tailEnd len="med" w="med" type="triangle"/>
          </a:ln>
        </p:spPr>
      </p:cxnSp>
      <p:sp>
        <p:nvSpPr>
          <p:cNvPr id="450" name="Google Shape;450;p44"/>
          <p:cNvSpPr txBox="1"/>
          <p:nvPr/>
        </p:nvSpPr>
        <p:spPr>
          <a:xfrm rot="-5400000">
            <a:off x="-950331" y="4905725"/>
            <a:ext cx="315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Ejecución atómica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1" name="Google Shape;451;p44"/>
          <p:cNvSpPr txBox="1"/>
          <p:nvPr/>
        </p:nvSpPr>
        <p:spPr>
          <a:xfrm>
            <a:off x="4395950" y="4760975"/>
            <a:ext cx="379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600">
                <a:solidFill>
                  <a:srgbClr val="274E13"/>
                </a:solidFill>
                <a:latin typeface="Inter"/>
                <a:ea typeface="Inter"/>
                <a:cs typeface="Inter"/>
                <a:sym typeface="Inter"/>
              </a:rPr>
              <a:t>El nuevo valor se actualizó con éxito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452" name="Google Shape;452;p44"/>
          <p:cNvSpPr txBox="1"/>
          <p:nvPr/>
        </p:nvSpPr>
        <p:spPr>
          <a:xfrm>
            <a:off x="4395950" y="5841498"/>
            <a:ext cx="421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600">
                <a:solidFill>
                  <a:srgbClr val="990000"/>
                </a:solidFill>
                <a:latin typeface="Inter"/>
                <a:ea typeface="Inter"/>
                <a:cs typeface="Inter"/>
                <a:sym typeface="Inter"/>
              </a:rPr>
              <a:t>Otro proceso actualizó el valor</a:t>
            </a:r>
            <a:endParaRPr>
              <a:solidFill>
                <a:srgbClr val="99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5"/>
          <p:cNvSpPr/>
          <p:nvPr/>
        </p:nvSpPr>
        <p:spPr>
          <a:xfrm>
            <a:off x="75163" y="3025850"/>
            <a:ext cx="8931000" cy="37122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45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45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Soporte del Sistema: SO (I)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60" name="Google Shape;460;p45"/>
          <p:cNvSpPr txBox="1"/>
          <p:nvPr/>
        </p:nvSpPr>
        <p:spPr>
          <a:xfrm>
            <a:off x="58535" y="774686"/>
            <a:ext cx="8931000" cy="22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Subsistemas del SO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Memoria virtual compartida entre threads (</a:t>
            </a:r>
            <a:r>
              <a:rPr b="1" lang="es" sz="16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Tema 4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Suspensión y reanudación de la ejecución de threads (</a:t>
            </a:r>
            <a:r>
              <a:rPr b="1" lang="es" sz="16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Tema 3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Implementación de colas de espera asociadas a mutex y variables de condición</a:t>
            </a:r>
            <a:endParaRPr b="1" sz="1800">
              <a:solidFill>
                <a:srgbClr val="E691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Linux y Windows implementan el soporte mediante la estructura futex (</a:t>
            </a:r>
            <a:r>
              <a:rPr i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fast user space mutex)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" name="Google Shape;461;p45"/>
          <p:cNvSpPr txBox="1"/>
          <p:nvPr/>
        </p:nvSpPr>
        <p:spPr>
          <a:xfrm>
            <a:off x="7196598" y="6133811"/>
            <a:ext cx="1721100" cy="5133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7200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futex</a:t>
            </a:r>
            <a:r>
              <a:rPr b="1" lang="e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(2,7)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2" name="Google Shape;462;p45"/>
          <p:cNvSpPr txBox="1"/>
          <p:nvPr/>
        </p:nvSpPr>
        <p:spPr>
          <a:xfrm>
            <a:off x="58535" y="2995269"/>
            <a:ext cx="8931000" cy="18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futex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Representados por una variable compartida por procesos (</a:t>
            </a:r>
            <a:r>
              <a:rPr lang="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mmap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- shared) o threads.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 variable se modifica siempre mediante operaciones atómicas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Las operaciones </a:t>
            </a:r>
            <a:r>
              <a:rPr b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sin contienda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se realizan en el espacio de usuario. Si varios threads entran en contienda por un mutex el kernel arbitra el acceso.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3" name="Google Shape;463;p45"/>
          <p:cNvSpPr/>
          <p:nvPr/>
        </p:nvSpPr>
        <p:spPr>
          <a:xfrm>
            <a:off x="599900" y="5265025"/>
            <a:ext cx="1441800" cy="338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45"/>
          <p:cNvSpPr txBox="1"/>
          <p:nvPr/>
        </p:nvSpPr>
        <p:spPr>
          <a:xfrm>
            <a:off x="579200" y="5554150"/>
            <a:ext cx="146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variable mutex</a:t>
            </a:r>
            <a:endParaRPr/>
          </a:p>
        </p:txBody>
      </p:sp>
      <p:cxnSp>
        <p:nvCxnSpPr>
          <p:cNvPr id="465" name="Google Shape;465;p45"/>
          <p:cNvCxnSpPr/>
          <p:nvPr/>
        </p:nvCxnSpPr>
        <p:spPr>
          <a:xfrm>
            <a:off x="2459775" y="4919675"/>
            <a:ext cx="0" cy="16587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66" name="Google Shape;466;p45"/>
          <p:cNvSpPr txBox="1"/>
          <p:nvPr/>
        </p:nvSpPr>
        <p:spPr>
          <a:xfrm>
            <a:off x="464862" y="6147275"/>
            <a:ext cx="192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spAutoFit/>
          </a:bodyPr>
          <a:lstStyle/>
          <a:p>
            <a:pPr indent="0" lvl="0" marL="0" rtl="0" algn="r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s" sz="1600">
                <a:solidFill>
                  <a:srgbClr val="6AA84F"/>
                </a:solidFill>
                <a:latin typeface="Inter"/>
                <a:ea typeface="Inter"/>
                <a:cs typeface="Inter"/>
                <a:sym typeface="Inter"/>
              </a:rPr>
              <a:t>espacio de usuario</a:t>
            </a:r>
            <a:endParaRPr i="1">
              <a:solidFill>
                <a:srgbClr val="6AA84F"/>
              </a:solidFill>
            </a:endParaRPr>
          </a:p>
        </p:txBody>
      </p:sp>
      <p:sp>
        <p:nvSpPr>
          <p:cNvPr id="467" name="Google Shape;467;p45"/>
          <p:cNvSpPr txBox="1"/>
          <p:nvPr/>
        </p:nvSpPr>
        <p:spPr>
          <a:xfrm>
            <a:off x="2546022" y="6147275"/>
            <a:ext cx="83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i="1" lang="es" sz="1600">
                <a:solidFill>
                  <a:srgbClr val="3D85C6"/>
                </a:solidFill>
                <a:latin typeface="Inter"/>
                <a:ea typeface="Inter"/>
                <a:cs typeface="Inter"/>
                <a:sym typeface="Inter"/>
              </a:rPr>
              <a:t>kernel</a:t>
            </a:r>
            <a:endParaRPr b="1" i="1">
              <a:solidFill>
                <a:srgbClr val="3D85C6"/>
              </a:solidFill>
            </a:endParaRPr>
          </a:p>
        </p:txBody>
      </p:sp>
      <p:cxnSp>
        <p:nvCxnSpPr>
          <p:cNvPr id="468" name="Google Shape;468;p45"/>
          <p:cNvCxnSpPr>
            <a:stCxn id="463" idx="3"/>
            <a:endCxn id="469" idx="2"/>
          </p:cNvCxnSpPr>
          <p:nvPr/>
        </p:nvCxnSpPr>
        <p:spPr>
          <a:xfrm flipH="1" rot="10800000">
            <a:off x="2041700" y="5431975"/>
            <a:ext cx="14067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9" name="Google Shape;469;p45"/>
          <p:cNvSpPr txBox="1"/>
          <p:nvPr/>
        </p:nvSpPr>
        <p:spPr>
          <a:xfrm>
            <a:off x="2503700" y="5031625"/>
            <a:ext cx="188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hash(</a:t>
            </a:r>
            <a:r>
              <a:rPr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dir.</a:t>
            </a:r>
            <a:r>
              <a:rPr i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i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0" name="Google Shape;470;p45"/>
          <p:cNvSpPr/>
          <p:nvPr/>
        </p:nvSpPr>
        <p:spPr>
          <a:xfrm>
            <a:off x="3547871" y="4892278"/>
            <a:ext cx="1086300" cy="3387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mutex-h1</a:t>
            </a:r>
            <a:endParaRPr/>
          </a:p>
        </p:txBody>
      </p:sp>
      <p:sp>
        <p:nvSpPr>
          <p:cNvPr id="471" name="Google Shape;471;p45"/>
          <p:cNvSpPr/>
          <p:nvPr/>
        </p:nvSpPr>
        <p:spPr>
          <a:xfrm>
            <a:off x="3547871" y="5239936"/>
            <a:ext cx="1086300" cy="3387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mutex-h2</a:t>
            </a:r>
            <a:endParaRPr/>
          </a:p>
        </p:txBody>
      </p:sp>
      <p:sp>
        <p:nvSpPr>
          <p:cNvPr id="472" name="Google Shape;472;p45"/>
          <p:cNvSpPr/>
          <p:nvPr/>
        </p:nvSpPr>
        <p:spPr>
          <a:xfrm>
            <a:off x="3547865" y="5579238"/>
            <a:ext cx="1086300" cy="7704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…</a:t>
            </a:r>
            <a:endParaRPr/>
          </a:p>
        </p:txBody>
      </p:sp>
      <p:sp>
        <p:nvSpPr>
          <p:cNvPr id="473" name="Google Shape;473;p45"/>
          <p:cNvSpPr/>
          <p:nvPr/>
        </p:nvSpPr>
        <p:spPr>
          <a:xfrm>
            <a:off x="3547871" y="6349594"/>
            <a:ext cx="1086300" cy="3387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mutex-hN</a:t>
            </a:r>
            <a:endParaRPr/>
          </a:p>
        </p:txBody>
      </p:sp>
      <p:sp>
        <p:nvSpPr>
          <p:cNvPr id="474" name="Google Shape;474;p45"/>
          <p:cNvSpPr/>
          <p:nvPr/>
        </p:nvSpPr>
        <p:spPr>
          <a:xfrm>
            <a:off x="5246951" y="5240456"/>
            <a:ext cx="805500" cy="3387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Thread A</a:t>
            </a:r>
            <a:endParaRPr/>
          </a:p>
        </p:txBody>
      </p:sp>
      <p:sp>
        <p:nvSpPr>
          <p:cNvPr id="475" name="Google Shape;475;p45"/>
          <p:cNvSpPr/>
          <p:nvPr/>
        </p:nvSpPr>
        <p:spPr>
          <a:xfrm>
            <a:off x="6052451" y="5240456"/>
            <a:ext cx="805500" cy="3387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Thread B</a:t>
            </a:r>
            <a:endParaRPr/>
          </a:p>
        </p:txBody>
      </p:sp>
      <p:sp>
        <p:nvSpPr>
          <p:cNvPr id="476" name="Google Shape;476;p45"/>
          <p:cNvSpPr/>
          <p:nvPr/>
        </p:nvSpPr>
        <p:spPr>
          <a:xfrm>
            <a:off x="6857951" y="5240456"/>
            <a:ext cx="805500" cy="3387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Thread C</a:t>
            </a:r>
            <a:endParaRPr/>
          </a:p>
        </p:txBody>
      </p:sp>
      <p:cxnSp>
        <p:nvCxnSpPr>
          <p:cNvPr id="477" name="Google Shape;477;p45"/>
          <p:cNvCxnSpPr>
            <a:stCxn id="471" idx="3"/>
            <a:endCxn id="474" idx="1"/>
          </p:cNvCxnSpPr>
          <p:nvPr/>
        </p:nvCxnSpPr>
        <p:spPr>
          <a:xfrm>
            <a:off x="4634171" y="5409286"/>
            <a:ext cx="6129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8" name="Google Shape;478;p45"/>
          <p:cNvSpPr txBox="1"/>
          <p:nvPr/>
        </p:nvSpPr>
        <p:spPr>
          <a:xfrm>
            <a:off x="5247075" y="5516525"/>
            <a:ext cx="292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cola de espera para el mutex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6"/>
          <p:cNvSpPr/>
          <p:nvPr/>
        </p:nvSpPr>
        <p:spPr>
          <a:xfrm>
            <a:off x="4220850" y="3071434"/>
            <a:ext cx="4828800" cy="1927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46"/>
          <p:cNvSpPr/>
          <p:nvPr/>
        </p:nvSpPr>
        <p:spPr>
          <a:xfrm>
            <a:off x="8400" y="707400"/>
            <a:ext cx="9127200" cy="50700"/>
          </a:xfrm>
          <a:prstGeom prst="rect">
            <a:avLst/>
          </a:prstGeom>
          <a:solidFill>
            <a:srgbClr val="4279B1"/>
          </a:solidFill>
          <a:ln cap="flat" cmpd="sng" w="19050">
            <a:solidFill>
              <a:srgbClr val="4279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46"/>
          <p:cNvSpPr txBox="1"/>
          <p:nvPr>
            <p:ph type="ctrTitle"/>
          </p:nvPr>
        </p:nvSpPr>
        <p:spPr>
          <a:xfrm>
            <a:off x="0" y="0"/>
            <a:ext cx="9117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Soporte del Sistema: SO (II)</a:t>
            </a:r>
            <a:endParaRPr b="0" sz="3200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86" name="Google Shape;486;p46"/>
          <p:cNvSpPr txBox="1"/>
          <p:nvPr/>
        </p:nvSpPr>
        <p:spPr>
          <a:xfrm>
            <a:off x="149571" y="1266326"/>
            <a:ext cx="4623300" cy="160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3D85C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((c = </a:t>
            </a:r>
            <a:r>
              <a:rPr b="1" lang="es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cmpxch</a:t>
            </a:r>
            <a:r>
              <a:rPr b="1" lang="es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val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0, 1)) != 0)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s">
                <a:solidFill>
                  <a:srgbClr val="3D85C6"/>
                </a:solidFill>
                <a:latin typeface="Consolas"/>
                <a:ea typeface="Consolas"/>
                <a:cs typeface="Consolas"/>
                <a:sym typeface="Consolas"/>
              </a:rPr>
              <a:t>do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s">
                <a:solidFill>
                  <a:srgbClr val="3D85C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(c == 2 || </a:t>
            </a:r>
            <a:r>
              <a:rPr b="1" lang="es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cmpxchg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val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1, 2) != 0)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b="1" lang="es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futex_wait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val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2); </a:t>
            </a:r>
            <a:r>
              <a:rPr i="1" lang="es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//espera si 2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 </a:t>
            </a:r>
            <a:r>
              <a:rPr b="1" lang="es">
                <a:solidFill>
                  <a:srgbClr val="3D85C6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((c = </a:t>
            </a:r>
            <a:r>
              <a:rPr b="1" lang="es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cmpxchg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val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0, 2)) != 0);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7" name="Google Shape;487;p46"/>
          <p:cNvSpPr txBox="1"/>
          <p:nvPr/>
        </p:nvSpPr>
        <p:spPr>
          <a:xfrm>
            <a:off x="307825" y="2938338"/>
            <a:ext cx="942000" cy="431100"/>
          </a:xfrm>
          <a:prstGeom prst="rect">
            <a:avLst/>
          </a:prstGeom>
          <a:noFill/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thread A</a:t>
            </a:r>
            <a:endParaRPr/>
          </a:p>
        </p:txBody>
      </p:sp>
      <p:sp>
        <p:nvSpPr>
          <p:cNvPr id="488" name="Google Shape;488;p46"/>
          <p:cNvSpPr txBox="1"/>
          <p:nvPr/>
        </p:nvSpPr>
        <p:spPr>
          <a:xfrm>
            <a:off x="1545775" y="2938338"/>
            <a:ext cx="907500" cy="431100"/>
          </a:xfrm>
          <a:prstGeom prst="rect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thread B</a:t>
            </a:r>
            <a:endParaRPr/>
          </a:p>
        </p:txBody>
      </p:sp>
      <p:cxnSp>
        <p:nvCxnSpPr>
          <p:cNvPr id="489" name="Google Shape;489;p46"/>
          <p:cNvCxnSpPr>
            <a:stCxn id="487" idx="2"/>
          </p:cNvCxnSpPr>
          <p:nvPr/>
        </p:nvCxnSpPr>
        <p:spPr>
          <a:xfrm>
            <a:off x="778825" y="3369438"/>
            <a:ext cx="0" cy="3211500"/>
          </a:xfrm>
          <a:prstGeom prst="straightConnector1">
            <a:avLst/>
          </a:prstGeom>
          <a:noFill/>
          <a:ln cap="flat" cmpd="sng" w="9525">
            <a:solidFill>
              <a:srgbClr val="674EA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0" name="Google Shape;490;p46"/>
          <p:cNvSpPr/>
          <p:nvPr/>
        </p:nvSpPr>
        <p:spPr>
          <a:xfrm>
            <a:off x="632100" y="3401295"/>
            <a:ext cx="297600" cy="3387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</a:t>
            </a:r>
            <a:endParaRPr/>
          </a:p>
        </p:txBody>
      </p:sp>
      <p:sp>
        <p:nvSpPr>
          <p:cNvPr id="491" name="Google Shape;491;p46"/>
          <p:cNvSpPr/>
          <p:nvPr/>
        </p:nvSpPr>
        <p:spPr>
          <a:xfrm>
            <a:off x="1191900" y="3718624"/>
            <a:ext cx="297600" cy="3387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</a:t>
            </a:r>
            <a:endParaRPr/>
          </a:p>
        </p:txBody>
      </p:sp>
      <p:sp>
        <p:nvSpPr>
          <p:cNvPr id="492" name="Google Shape;492;p46"/>
          <p:cNvSpPr/>
          <p:nvPr/>
        </p:nvSpPr>
        <p:spPr>
          <a:xfrm>
            <a:off x="725100" y="3891805"/>
            <a:ext cx="111600" cy="431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3" name="Google Shape;493;p46"/>
          <p:cNvCxnSpPr>
            <a:stCxn id="492" idx="0"/>
            <a:endCxn id="491" idx="1"/>
          </p:cNvCxnSpPr>
          <p:nvPr/>
        </p:nvCxnSpPr>
        <p:spPr>
          <a:xfrm flipH="1" rot="10800000">
            <a:off x="780900" y="3887905"/>
            <a:ext cx="4110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4" name="Google Shape;494;p46"/>
          <p:cNvSpPr/>
          <p:nvPr/>
        </p:nvSpPr>
        <p:spPr>
          <a:xfrm>
            <a:off x="1195572" y="4157759"/>
            <a:ext cx="297600" cy="3387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</a:t>
            </a:r>
            <a:endParaRPr/>
          </a:p>
        </p:txBody>
      </p:sp>
      <p:cxnSp>
        <p:nvCxnSpPr>
          <p:cNvPr id="495" name="Google Shape;495;p46"/>
          <p:cNvCxnSpPr>
            <a:stCxn id="492" idx="2"/>
            <a:endCxn id="494" idx="1"/>
          </p:cNvCxnSpPr>
          <p:nvPr/>
        </p:nvCxnSpPr>
        <p:spPr>
          <a:xfrm>
            <a:off x="780900" y="4322905"/>
            <a:ext cx="414600" cy="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6" name="Google Shape;496;p46"/>
          <p:cNvSpPr/>
          <p:nvPr/>
        </p:nvSpPr>
        <p:spPr>
          <a:xfrm>
            <a:off x="528490" y="3994489"/>
            <a:ext cx="239700" cy="2478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</a:rPr>
              <a:t>1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97" name="Google Shape;497;p46"/>
          <p:cNvSpPr/>
          <p:nvPr/>
        </p:nvSpPr>
        <p:spPr>
          <a:xfrm>
            <a:off x="3685547" y="1349726"/>
            <a:ext cx="239700" cy="2478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</a:rPr>
              <a:t>1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98" name="Google Shape;498;p46"/>
          <p:cNvSpPr/>
          <p:nvPr/>
        </p:nvSpPr>
        <p:spPr>
          <a:xfrm>
            <a:off x="1203835" y="4574564"/>
            <a:ext cx="297600" cy="3387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</a:t>
            </a:r>
            <a:endParaRPr/>
          </a:p>
        </p:txBody>
      </p:sp>
      <p:sp>
        <p:nvSpPr>
          <p:cNvPr id="499" name="Google Shape;499;p46"/>
          <p:cNvSpPr/>
          <p:nvPr/>
        </p:nvSpPr>
        <p:spPr>
          <a:xfrm>
            <a:off x="737025" y="4743900"/>
            <a:ext cx="111600" cy="11391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0" name="Google Shape;500;p46"/>
          <p:cNvCxnSpPr>
            <a:stCxn id="499" idx="0"/>
            <a:endCxn id="498" idx="1"/>
          </p:cNvCxnSpPr>
          <p:nvPr/>
        </p:nvCxnSpPr>
        <p:spPr>
          <a:xfrm>
            <a:off x="792825" y="4743900"/>
            <a:ext cx="411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1" name="Google Shape;501;p46"/>
          <p:cNvCxnSpPr>
            <a:endCxn id="502" idx="1"/>
          </p:cNvCxnSpPr>
          <p:nvPr/>
        </p:nvCxnSpPr>
        <p:spPr>
          <a:xfrm>
            <a:off x="762307" y="5777664"/>
            <a:ext cx="44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03" name="Google Shape;503;p46"/>
          <p:cNvCxnSpPr>
            <a:stCxn id="488" idx="2"/>
          </p:cNvCxnSpPr>
          <p:nvPr/>
        </p:nvCxnSpPr>
        <p:spPr>
          <a:xfrm>
            <a:off x="1999525" y="3369438"/>
            <a:ext cx="0" cy="3240300"/>
          </a:xfrm>
          <a:prstGeom prst="straightConnector1">
            <a:avLst/>
          </a:prstGeom>
          <a:noFill/>
          <a:ln cap="flat" cmpd="sng" w="9525">
            <a:solidFill>
              <a:srgbClr val="A64D7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4" name="Google Shape;504;p46"/>
          <p:cNvSpPr txBox="1"/>
          <p:nvPr/>
        </p:nvSpPr>
        <p:spPr>
          <a:xfrm>
            <a:off x="2553002" y="2946463"/>
            <a:ext cx="745200" cy="4311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sp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kernel</a:t>
            </a:r>
            <a:endParaRPr/>
          </a:p>
        </p:txBody>
      </p:sp>
      <p:cxnSp>
        <p:nvCxnSpPr>
          <p:cNvPr id="505" name="Google Shape;505;p46"/>
          <p:cNvCxnSpPr>
            <a:stCxn id="504" idx="2"/>
          </p:cNvCxnSpPr>
          <p:nvPr/>
        </p:nvCxnSpPr>
        <p:spPr>
          <a:xfrm>
            <a:off x="2925602" y="3377563"/>
            <a:ext cx="0" cy="31725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06" name="Google Shape;506;p46"/>
          <p:cNvSpPr/>
          <p:nvPr/>
        </p:nvSpPr>
        <p:spPr>
          <a:xfrm>
            <a:off x="1212098" y="4958318"/>
            <a:ext cx="297600" cy="3387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</a:t>
            </a:r>
            <a:endParaRPr/>
          </a:p>
        </p:txBody>
      </p:sp>
      <p:sp>
        <p:nvSpPr>
          <p:cNvPr id="507" name="Google Shape;507;p46"/>
          <p:cNvSpPr/>
          <p:nvPr/>
        </p:nvSpPr>
        <p:spPr>
          <a:xfrm>
            <a:off x="1942975" y="5127650"/>
            <a:ext cx="111600" cy="8970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8" name="Google Shape;508;p46"/>
          <p:cNvCxnSpPr>
            <a:stCxn id="507" idx="0"/>
            <a:endCxn id="506" idx="3"/>
          </p:cNvCxnSpPr>
          <p:nvPr/>
        </p:nvCxnSpPr>
        <p:spPr>
          <a:xfrm rot="10800000">
            <a:off x="1509775" y="5127650"/>
            <a:ext cx="48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9" name="Google Shape;509;p46"/>
          <p:cNvCxnSpPr/>
          <p:nvPr/>
        </p:nvCxnSpPr>
        <p:spPr>
          <a:xfrm flipH="1" rot="10800000">
            <a:off x="1967363" y="5289650"/>
            <a:ext cx="945300" cy="42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10" name="Google Shape;510;p46"/>
          <p:cNvSpPr/>
          <p:nvPr/>
        </p:nvSpPr>
        <p:spPr>
          <a:xfrm>
            <a:off x="2995448" y="5123893"/>
            <a:ext cx="297600" cy="3387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</a:t>
            </a:r>
            <a:endParaRPr/>
          </a:p>
        </p:txBody>
      </p:sp>
      <p:sp>
        <p:nvSpPr>
          <p:cNvPr id="511" name="Google Shape;511;p46"/>
          <p:cNvSpPr/>
          <p:nvPr/>
        </p:nvSpPr>
        <p:spPr>
          <a:xfrm>
            <a:off x="3293048" y="5123893"/>
            <a:ext cx="297600" cy="3387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46"/>
          <p:cNvSpPr/>
          <p:nvPr/>
        </p:nvSpPr>
        <p:spPr>
          <a:xfrm>
            <a:off x="3590648" y="5123893"/>
            <a:ext cx="297600" cy="3387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6"/>
          <p:cNvSpPr/>
          <p:nvPr/>
        </p:nvSpPr>
        <p:spPr>
          <a:xfrm>
            <a:off x="929697" y="2199101"/>
            <a:ext cx="239700" cy="2478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</a:rPr>
              <a:t>2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14" name="Google Shape;514;p46"/>
          <p:cNvSpPr/>
          <p:nvPr/>
        </p:nvSpPr>
        <p:spPr>
          <a:xfrm>
            <a:off x="2049325" y="4822350"/>
            <a:ext cx="239700" cy="2478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</a:rPr>
              <a:t>2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15" name="Google Shape;515;p46"/>
          <p:cNvSpPr txBox="1"/>
          <p:nvPr/>
        </p:nvSpPr>
        <p:spPr>
          <a:xfrm>
            <a:off x="4879500" y="1266326"/>
            <a:ext cx="4135800" cy="160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3D85C6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((</a:t>
            </a:r>
            <a:r>
              <a:rPr b="1" lang="es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atomic_dec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val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)) != 1) </a:t>
            </a:r>
            <a:r>
              <a:rPr i="1" lang="es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//val-</a:t>
            </a:r>
            <a:r>
              <a:rPr i="1" lang="es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endParaRPr i="1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*</a:t>
            </a:r>
            <a:r>
              <a:rPr b="1" lang="es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val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es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//Despierta a 1 thread</a:t>
            </a:r>
            <a:endParaRPr i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s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futex_wake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s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val</a:t>
            </a: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1);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16" name="Google Shape;516;p46"/>
          <p:cNvCxnSpPr>
            <a:stCxn id="499" idx="2"/>
          </p:cNvCxnSpPr>
          <p:nvPr/>
        </p:nvCxnSpPr>
        <p:spPr>
          <a:xfrm>
            <a:off x="792825" y="5883000"/>
            <a:ext cx="2141400" cy="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2" name="Google Shape;502;p46"/>
          <p:cNvSpPr/>
          <p:nvPr/>
        </p:nvSpPr>
        <p:spPr>
          <a:xfrm>
            <a:off x="1207507" y="5608314"/>
            <a:ext cx="297600" cy="3387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</a:t>
            </a:r>
            <a:endParaRPr/>
          </a:p>
        </p:txBody>
      </p:sp>
      <p:sp>
        <p:nvSpPr>
          <p:cNvPr id="517" name="Google Shape;517;p46"/>
          <p:cNvSpPr/>
          <p:nvPr/>
        </p:nvSpPr>
        <p:spPr>
          <a:xfrm>
            <a:off x="3004973" y="5752543"/>
            <a:ext cx="297600" cy="3387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46"/>
          <p:cNvSpPr/>
          <p:nvPr/>
        </p:nvSpPr>
        <p:spPr>
          <a:xfrm>
            <a:off x="3302573" y="5752543"/>
            <a:ext cx="297600" cy="3387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46"/>
          <p:cNvSpPr/>
          <p:nvPr/>
        </p:nvSpPr>
        <p:spPr>
          <a:xfrm>
            <a:off x="3600173" y="5752543"/>
            <a:ext cx="297600" cy="3387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0" name="Google Shape;520;p46"/>
          <p:cNvCxnSpPr>
            <a:endCxn id="507" idx="2"/>
          </p:cNvCxnSpPr>
          <p:nvPr/>
        </p:nvCxnSpPr>
        <p:spPr>
          <a:xfrm flipH="1">
            <a:off x="1998775" y="6024350"/>
            <a:ext cx="9264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1" name="Google Shape;521;p46"/>
          <p:cNvSpPr/>
          <p:nvPr/>
        </p:nvSpPr>
        <p:spPr>
          <a:xfrm>
            <a:off x="1943725" y="6024350"/>
            <a:ext cx="111600" cy="381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46"/>
          <p:cNvSpPr/>
          <p:nvPr/>
        </p:nvSpPr>
        <p:spPr>
          <a:xfrm>
            <a:off x="1217032" y="5989314"/>
            <a:ext cx="297600" cy="3387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</a:t>
            </a:r>
            <a:endParaRPr/>
          </a:p>
        </p:txBody>
      </p:sp>
      <p:cxnSp>
        <p:nvCxnSpPr>
          <p:cNvPr id="523" name="Google Shape;523;p46"/>
          <p:cNvCxnSpPr>
            <a:endCxn id="522" idx="3"/>
          </p:cNvCxnSpPr>
          <p:nvPr/>
        </p:nvCxnSpPr>
        <p:spPr>
          <a:xfrm rot="10800000">
            <a:off x="1514632" y="6158664"/>
            <a:ext cx="4848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24" name="Google Shape;524;p46"/>
          <p:cNvSpPr/>
          <p:nvPr/>
        </p:nvSpPr>
        <p:spPr>
          <a:xfrm>
            <a:off x="4414747" y="2561351"/>
            <a:ext cx="239700" cy="2478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</a:rPr>
              <a:t>4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25" name="Google Shape;525;p46"/>
          <p:cNvSpPr/>
          <p:nvPr/>
        </p:nvSpPr>
        <p:spPr>
          <a:xfrm>
            <a:off x="7500847" y="1599326"/>
            <a:ext cx="239700" cy="2478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</a:rPr>
              <a:t>3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26" name="Google Shape;526;p46"/>
          <p:cNvSpPr/>
          <p:nvPr/>
        </p:nvSpPr>
        <p:spPr>
          <a:xfrm>
            <a:off x="1633447" y="6241225"/>
            <a:ext cx="239700" cy="2478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</a:rPr>
              <a:t>4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27" name="Google Shape;527;p46"/>
          <p:cNvSpPr/>
          <p:nvPr/>
        </p:nvSpPr>
        <p:spPr>
          <a:xfrm>
            <a:off x="1604872" y="5574475"/>
            <a:ext cx="239700" cy="2478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</a:rPr>
              <a:t>3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28" name="Google Shape;528;p46"/>
          <p:cNvSpPr txBox="1"/>
          <p:nvPr/>
        </p:nvSpPr>
        <p:spPr>
          <a:xfrm>
            <a:off x="149575" y="799601"/>
            <a:ext cx="4623300" cy="446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mutex lock</a:t>
            </a:r>
            <a:endParaRPr sz="1700">
              <a:solidFill>
                <a:srgbClr val="E6913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9" name="Google Shape;529;p46"/>
          <p:cNvSpPr txBox="1"/>
          <p:nvPr/>
        </p:nvSpPr>
        <p:spPr>
          <a:xfrm>
            <a:off x="997920" y="3348250"/>
            <a:ext cx="69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674EA7"/>
                </a:solidFill>
                <a:latin typeface="Consolas"/>
                <a:ea typeface="Consolas"/>
                <a:cs typeface="Consolas"/>
                <a:sym typeface="Consolas"/>
              </a:rPr>
              <a:t>val</a:t>
            </a:r>
            <a:endParaRPr/>
          </a:p>
        </p:txBody>
      </p:sp>
      <p:sp>
        <p:nvSpPr>
          <p:cNvPr id="530" name="Google Shape;530;p46"/>
          <p:cNvSpPr txBox="1"/>
          <p:nvPr/>
        </p:nvSpPr>
        <p:spPr>
          <a:xfrm>
            <a:off x="4879500" y="799601"/>
            <a:ext cx="4135800" cy="446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mutex unlock</a:t>
            </a:r>
            <a:endParaRPr sz="1700">
              <a:solidFill>
                <a:srgbClr val="E6913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531" name="Google Shape;531;p46"/>
          <p:cNvGrpSpPr/>
          <p:nvPr/>
        </p:nvGrpSpPr>
        <p:grpSpPr>
          <a:xfrm>
            <a:off x="4487489" y="3011933"/>
            <a:ext cx="4546822" cy="1078800"/>
            <a:chOff x="3293048" y="3453575"/>
            <a:chExt cx="4546822" cy="1078800"/>
          </a:xfrm>
        </p:grpSpPr>
        <p:sp>
          <p:nvSpPr>
            <p:cNvPr id="532" name="Google Shape;532;p46"/>
            <p:cNvSpPr/>
            <p:nvPr/>
          </p:nvSpPr>
          <p:spPr>
            <a:xfrm>
              <a:off x="3851675" y="3649842"/>
              <a:ext cx="297600" cy="338700"/>
            </a:xfrm>
            <a:prstGeom prst="rect">
              <a:avLst/>
            </a:prstGeom>
            <a:solidFill>
              <a:srgbClr val="D9D2E9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46"/>
            <p:cNvSpPr txBox="1"/>
            <p:nvPr/>
          </p:nvSpPr>
          <p:spPr>
            <a:xfrm>
              <a:off x="4241350" y="3453575"/>
              <a:ext cx="35832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18000" spcFirstLastPara="1" rIns="18000" wrap="square" tIns="91425">
              <a:spAutoFit/>
            </a:bodyPr>
            <a:lstStyle/>
            <a:p>
              <a:pPr indent="0" lvl="0" marL="0" rtl="0" algn="l"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s" sz="16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variable compartida por los threads, representa el mutex</a:t>
              </a:r>
              <a:endParaRPr/>
            </a:p>
          </p:txBody>
        </p:sp>
        <p:sp>
          <p:nvSpPr>
            <p:cNvPr id="534" name="Google Shape;534;p46"/>
            <p:cNvSpPr/>
            <p:nvPr/>
          </p:nvSpPr>
          <p:spPr>
            <a:xfrm>
              <a:off x="3293048" y="4165781"/>
              <a:ext cx="297600" cy="338700"/>
            </a:xfrm>
            <a:prstGeom prst="rect">
              <a:avLst/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46"/>
            <p:cNvSpPr/>
            <p:nvPr/>
          </p:nvSpPr>
          <p:spPr>
            <a:xfrm>
              <a:off x="3590648" y="4165781"/>
              <a:ext cx="297600" cy="338700"/>
            </a:xfrm>
            <a:prstGeom prst="rect">
              <a:avLst/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46"/>
            <p:cNvSpPr/>
            <p:nvPr/>
          </p:nvSpPr>
          <p:spPr>
            <a:xfrm>
              <a:off x="3888248" y="4165781"/>
              <a:ext cx="297600" cy="338700"/>
            </a:xfrm>
            <a:prstGeom prst="rect">
              <a:avLst/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46"/>
            <p:cNvSpPr txBox="1"/>
            <p:nvPr/>
          </p:nvSpPr>
          <p:spPr>
            <a:xfrm>
              <a:off x="4256669" y="4101275"/>
              <a:ext cx="3583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18000" spcFirstLastPara="1" rIns="18000" wrap="square" tIns="91425">
              <a:spAutoFit/>
            </a:bodyPr>
            <a:lstStyle/>
            <a:p>
              <a:pPr indent="0" lvl="0" marL="0" rtl="0" algn="l"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s" sz="16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cola de espera en el mutex</a:t>
              </a:r>
              <a:endParaRPr/>
            </a:p>
          </p:txBody>
        </p:sp>
      </p:grpSp>
      <p:sp>
        <p:nvSpPr>
          <p:cNvPr id="538" name="Google Shape;538;p46"/>
          <p:cNvSpPr txBox="1"/>
          <p:nvPr/>
        </p:nvSpPr>
        <p:spPr>
          <a:xfrm>
            <a:off x="4220951" y="5041875"/>
            <a:ext cx="4828800" cy="15855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pthread_mutex_lock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Implementaci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ón usa un modelo similar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hlink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3"/>
              </a:rPr>
              <a:t>Ver ___data.___lock  (pthred_mutex_lock.c)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Inter"/>
              <a:buChar char="●"/>
            </a:pPr>
            <a:r>
              <a:rPr lang="es" sz="1600">
                <a:solidFill>
                  <a:schemeClr val="hlink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4"/>
              </a:rPr>
              <a:t>A futex overview and update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9" name="Google Shape;539;p46"/>
          <p:cNvSpPr/>
          <p:nvPr/>
        </p:nvSpPr>
        <p:spPr>
          <a:xfrm>
            <a:off x="811375" y="3994489"/>
            <a:ext cx="239700" cy="2478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</a:rPr>
              <a:t>3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40" name="Google Shape;540;p46"/>
          <p:cNvSpPr txBox="1"/>
          <p:nvPr/>
        </p:nvSpPr>
        <p:spPr>
          <a:xfrm>
            <a:off x="4358949" y="4143050"/>
            <a:ext cx="46233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18000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 = unlocked               2= locked </a:t>
            </a:r>
            <a:r>
              <a:rPr i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i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contienda</a:t>
            </a:r>
            <a:endParaRPr i="1"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 = locked </a:t>
            </a:r>
            <a:r>
              <a:rPr i="1" lang="es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sin contienda</a:t>
            </a:r>
            <a:endParaRPr i="1"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