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6858000" cx="9144000"/>
  <p:notesSz cx="7099300" cy="10234600"/>
  <p:embeddedFontLst>
    <p:embeddedFont>
      <p:font typeface="Inter SemiBold"/>
      <p:regular r:id="rId49"/>
      <p:bold r:id="rId50"/>
      <p:italic r:id="rId51"/>
      <p:boldItalic r:id="rId52"/>
    </p:embeddedFont>
    <p:embeddedFont>
      <p:font typeface="Inter"/>
      <p:regular r:id="rId53"/>
      <p:bold r:id="rId54"/>
      <p:italic r:id="rId55"/>
      <p:boldItalic r:id="rId56"/>
    </p:embeddedFont>
    <p:embeddedFont>
      <p:font typeface="Inter Medium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39562E-43EB-461E-A026-4F68CA91E101}">
  <a:tblStyle styleId="{1339562E-43EB-461E-A026-4F68CA91E1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font" Target="fonts/Inter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InterMedium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InterSemiBold-italic.fntdata"/><Relationship Id="rId50" Type="http://schemas.openxmlformats.org/officeDocument/2006/relationships/font" Target="fonts/InterSemiBold-bold.fntdata"/><Relationship Id="rId53" Type="http://schemas.openxmlformats.org/officeDocument/2006/relationships/font" Target="fonts/Inter-regular.fntdata"/><Relationship Id="rId52" Type="http://schemas.openxmlformats.org/officeDocument/2006/relationships/font" Target="fonts/InterSemiBold-boldItalic.fntdata"/><Relationship Id="rId11" Type="http://schemas.openxmlformats.org/officeDocument/2006/relationships/slide" Target="slides/slide6.xml"/><Relationship Id="rId55" Type="http://schemas.openxmlformats.org/officeDocument/2006/relationships/font" Target="fonts/Inter-italic.fntdata"/><Relationship Id="rId10" Type="http://schemas.openxmlformats.org/officeDocument/2006/relationships/slide" Target="slides/slide5.xml"/><Relationship Id="rId54" Type="http://schemas.openxmlformats.org/officeDocument/2006/relationships/font" Target="fonts/Inter-bold.fntdata"/><Relationship Id="rId13" Type="http://schemas.openxmlformats.org/officeDocument/2006/relationships/slide" Target="slides/slide8.xml"/><Relationship Id="rId57" Type="http://schemas.openxmlformats.org/officeDocument/2006/relationships/font" Target="fonts/InterMedium-regular.fntdata"/><Relationship Id="rId12" Type="http://schemas.openxmlformats.org/officeDocument/2006/relationships/slide" Target="slides/slide7.xml"/><Relationship Id="rId56" Type="http://schemas.openxmlformats.org/officeDocument/2006/relationships/font" Target="fonts/Inter-boldItalic.fntdata"/><Relationship Id="rId15" Type="http://schemas.openxmlformats.org/officeDocument/2006/relationships/slide" Target="slides/slide10.xml"/><Relationship Id="rId59" Type="http://schemas.openxmlformats.org/officeDocument/2006/relationships/font" Target="fonts/InterMedium-italic.fntdata"/><Relationship Id="rId14" Type="http://schemas.openxmlformats.org/officeDocument/2006/relationships/slide" Target="slides/slide9.xml"/><Relationship Id="rId58" Type="http://schemas.openxmlformats.org/officeDocument/2006/relationships/font" Target="fonts/InterMedium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Google Shape;4;n"/>
          <p:cNvSpPr txBox="1"/>
          <p:nvPr>
            <p:ph idx="2" type="hdr"/>
          </p:nvPr>
        </p:nvSpPr>
        <p:spPr>
          <a:xfrm>
            <a:off x="0" y="0"/>
            <a:ext cx="3076575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" name="Google Shape;5;n"/>
          <p:cNvSpPr txBox="1"/>
          <p:nvPr>
            <p:ph idx="10" type="dt"/>
          </p:nvPr>
        </p:nvSpPr>
        <p:spPr>
          <a:xfrm>
            <a:off x="4021137" y="0"/>
            <a:ext cx="3076575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" name="Google Shape;6;n"/>
          <p:cNvSpPr/>
          <p:nvPr>
            <p:ph idx="3" type="sldImg"/>
          </p:nvPr>
        </p:nvSpPr>
        <p:spPr>
          <a:xfrm>
            <a:off x="993775" y="768350"/>
            <a:ext cx="5113337" cy="38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" name="Google Shape;7;n"/>
          <p:cNvSpPr txBox="1"/>
          <p:nvPr>
            <p:ph idx="1" type="body"/>
          </p:nvPr>
        </p:nvSpPr>
        <p:spPr>
          <a:xfrm>
            <a:off x="709612" y="4862512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" name="Google Shape;8;n"/>
          <p:cNvSpPr txBox="1"/>
          <p:nvPr>
            <p:ph idx="11" type="ftr"/>
          </p:nvPr>
        </p:nvSpPr>
        <p:spPr>
          <a:xfrm>
            <a:off x="0" y="9721850"/>
            <a:ext cx="3076575" cy="5095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" name="Google Shape;9;n"/>
          <p:cNvSpPr txBox="1"/>
          <p:nvPr>
            <p:ph idx="12" type="sldNum"/>
          </p:nvPr>
        </p:nvSpPr>
        <p:spPr>
          <a:xfrm>
            <a:off x="4021137" y="9721850"/>
            <a:ext cx="3076575" cy="5095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8900" lvl="1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9a86105645_31_2:notes"/>
          <p:cNvSpPr/>
          <p:nvPr/>
        </p:nvSpPr>
        <p:spPr>
          <a:xfrm>
            <a:off x="973137" y="768350"/>
            <a:ext cx="5156100" cy="38370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9a86105645_31_2:notes"/>
          <p:cNvSpPr txBox="1"/>
          <p:nvPr/>
        </p:nvSpPr>
        <p:spPr>
          <a:xfrm>
            <a:off x="709612" y="4862512"/>
            <a:ext cx="56817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075" spcFirstLastPara="1" rIns="95075" wrap="square" tIns="4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9a86105645_31_2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9a86105645_31_2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0968df0667_0_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0968df0667_0_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7262c360d_0_44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77262c360d_0_44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0217524ed_1_37:notes"/>
          <p:cNvSpPr/>
          <p:nvPr/>
        </p:nvSpPr>
        <p:spPr>
          <a:xfrm>
            <a:off x="973137" y="768350"/>
            <a:ext cx="5156100" cy="38370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70217524ed_1_37:notes"/>
          <p:cNvSpPr txBox="1"/>
          <p:nvPr/>
        </p:nvSpPr>
        <p:spPr>
          <a:xfrm>
            <a:off x="709612" y="4862512"/>
            <a:ext cx="56817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075" spcFirstLastPara="1" rIns="95075" wrap="square" tIns="4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70217524ed_1_37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70217524ed_1_37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4b698ea1f_0_41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74b698ea1f_0_41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4e47a1088_0_5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74e47a1088_0_5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4e47a1088_0_120:notes"/>
          <p:cNvSpPr/>
          <p:nvPr/>
        </p:nvSpPr>
        <p:spPr>
          <a:xfrm>
            <a:off x="973137" y="768350"/>
            <a:ext cx="5156100" cy="38370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74e47a1088_0_120:notes"/>
          <p:cNvSpPr txBox="1"/>
          <p:nvPr/>
        </p:nvSpPr>
        <p:spPr>
          <a:xfrm>
            <a:off x="709612" y="4862512"/>
            <a:ext cx="56817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075" spcFirstLastPara="1" rIns="95075" wrap="square" tIns="4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74e47a1088_0_12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74e47a1088_0_12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12b68f922_0_22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712b68f922_0_22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4e47a1088_0_133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74e47a1088_0_133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74e47a1088_0_142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74e47a1088_0_142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4e47a1088_0_161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74e47a1088_0_161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74e47a1088_0_18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74e47a1088_0_18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74e47a1088_0_171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74e47a1088_0_171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4e47a1088_0_189:notes"/>
          <p:cNvSpPr/>
          <p:nvPr/>
        </p:nvSpPr>
        <p:spPr>
          <a:xfrm>
            <a:off x="973137" y="768350"/>
            <a:ext cx="5156100" cy="38370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74e47a1088_0_189:notes"/>
          <p:cNvSpPr txBox="1"/>
          <p:nvPr/>
        </p:nvSpPr>
        <p:spPr>
          <a:xfrm>
            <a:off x="709612" y="4862512"/>
            <a:ext cx="56817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075" spcFirstLastPara="1" rIns="95075" wrap="square" tIns="4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74e47a1088_0_189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74e47a1088_0_189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7526124e30_0_61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7526124e30_0_61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7526124e30_0_68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7526124e30_0_68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7526124e30_0_77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7526124e30_0_77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74e47a1088_0_198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74e47a1088_0_198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74e47a1088_0_203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74e47a1088_0_203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7526124e30_0_151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7526124e30_0_151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74e47a1088_0_209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74e47a1088_0_209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526124e30_0_97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7526124e30_0_97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74e47a1088_0_215:notes"/>
          <p:cNvSpPr/>
          <p:nvPr/>
        </p:nvSpPr>
        <p:spPr>
          <a:xfrm>
            <a:off x="973137" y="768350"/>
            <a:ext cx="5156100" cy="38370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74e47a1088_0_215:notes"/>
          <p:cNvSpPr txBox="1"/>
          <p:nvPr/>
        </p:nvSpPr>
        <p:spPr>
          <a:xfrm>
            <a:off x="709612" y="4862512"/>
            <a:ext cx="56817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075" spcFirstLastPara="1" rIns="95075" wrap="square" tIns="4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74e47a1088_0_215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74e47a1088_0_215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74e47a1088_0_233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74e47a1088_0_233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74e47a1088_0_254:notes"/>
          <p:cNvSpPr/>
          <p:nvPr/>
        </p:nvSpPr>
        <p:spPr>
          <a:xfrm>
            <a:off x="973137" y="768350"/>
            <a:ext cx="5156100" cy="38370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74e47a1088_0_254:notes"/>
          <p:cNvSpPr txBox="1"/>
          <p:nvPr/>
        </p:nvSpPr>
        <p:spPr>
          <a:xfrm>
            <a:off x="709612" y="4862512"/>
            <a:ext cx="56817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075" spcFirstLastPara="1" rIns="95075" wrap="square" tIns="4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74e47a1088_0_254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74e47a1088_0_254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7586e62e0b_0_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7586e62e0b_0_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764a4febc5_1_3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764a4febc5_1_3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764a4febc5_1_94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764a4febc5_1_94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764a4febc5_1_16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764a4febc5_1_16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764a4febc5_1_206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764a4febc5_1_206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764a4febc5_1_223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764a4febc5_1_223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764a4febc5_1_216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764a4febc5_1_216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764a4febc5_1_291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764a4febc5_1_291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764a4febc5_1_408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764a4febc5_1_408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764a4febc5_1_475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3764a4febc5_1_475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764a4febc5_1_618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764a4febc5_1_618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764a4febc5_1_548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3764a4febc5_1_548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764a4febc5_1_703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3764a4febc5_1_703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764a4febc5_1_762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764a4febc5_1_762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764a4febc5_1_823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3764a4febc5_1_823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764a4febc5_1_863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3764a4febc5_1_863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764a4febc5_1_88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764a4febc5_1_88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77262c360d_0_8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377262c360d_0_8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611187" y="762000"/>
            <a:ext cx="8532900" cy="19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" type="subTitle"/>
          </p:nvPr>
        </p:nvSpPr>
        <p:spPr>
          <a:xfrm>
            <a:off x="1593850" y="173037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14605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0021"/>
              </a:buClr>
              <a:buSzPts val="30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2" type="body"/>
          </p:nvPr>
        </p:nvSpPr>
        <p:spPr>
          <a:xfrm>
            <a:off x="457200" y="1604962"/>
            <a:ext cx="82281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0021"/>
              </a:buClr>
              <a:buSzPts val="3000"/>
              <a:buChar char="●"/>
              <a:defRPr sz="2400">
                <a:solidFill>
                  <a:srgbClr val="A50021"/>
                </a:solidFill>
              </a:defRPr>
            </a:lvl1pPr>
            <a:lvl2pPr indent="-381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Char char="●"/>
              <a:defRPr sz="2000">
                <a:solidFill>
                  <a:srgbClr val="003366"/>
                </a:solidFill>
              </a:defRPr>
            </a:lvl2pPr>
            <a:lvl3pPr indent="-381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 sz="1800">
                <a:solidFill>
                  <a:srgbClr val="000000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4pPr>
            <a:lvl5pPr indent="-3429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5pPr>
            <a:lvl6pPr indent="-3429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_1">
  <p:cSld name="TITLE_AND_TWO_COLUMNS_1"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214312" y="-53975"/>
            <a:ext cx="86868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206375" y="765175"/>
            <a:ext cx="8686800" cy="57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0021"/>
              </a:buClr>
              <a:buSzPts val="3000"/>
              <a:buChar char="●"/>
              <a:defRPr sz="2400">
                <a:solidFill>
                  <a:srgbClr val="A50021"/>
                </a:solidFill>
              </a:defRPr>
            </a:lvl1pPr>
            <a:lvl2pPr indent="-381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Char char="●"/>
              <a:defRPr sz="2000">
                <a:solidFill>
                  <a:srgbClr val="003366"/>
                </a:solidFill>
              </a:defRPr>
            </a:lvl2pPr>
            <a:lvl3pPr indent="-381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 sz="1800">
                <a:solidFill>
                  <a:srgbClr val="000000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4pPr>
            <a:lvl5pPr indent="-3429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5pPr>
            <a:lvl6pPr indent="-3429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6975475" y="73025"/>
            <a:ext cx="2132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AND_TWO_OBJECTS" type="txAndTwoObj">
  <p:cSld name="TEXT_AND_TWO_OBJECTS"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214312" y="-53975"/>
            <a:ext cx="86853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206375" y="765175"/>
            <a:ext cx="8686800" cy="56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0021"/>
              </a:buClr>
              <a:buSzPts val="3000"/>
              <a:buChar char="●"/>
              <a:defRPr sz="2400">
                <a:solidFill>
                  <a:srgbClr val="A50021"/>
                </a:solidFill>
              </a:defRPr>
            </a:lvl1pPr>
            <a:lvl2pPr indent="-381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Char char="●"/>
              <a:defRPr sz="2000">
                <a:solidFill>
                  <a:srgbClr val="003366"/>
                </a:solidFill>
              </a:defRPr>
            </a:lvl2pPr>
            <a:lvl3pPr indent="-381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 sz="1800">
                <a:solidFill>
                  <a:srgbClr val="000000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4pPr>
            <a:lvl5pPr indent="-3429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5pPr>
            <a:lvl6pPr indent="-3429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6975475" y="73025"/>
            <a:ext cx="2132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_OBJECTS" type="fourObj">
  <p:cSld name="FOUR_OBJECTS"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214312" y="-53975"/>
            <a:ext cx="86868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2" name="Google Shape;42;p11"/>
          <p:cNvSpPr txBox="1"/>
          <p:nvPr>
            <p:ph idx="12" type="sldNum"/>
          </p:nvPr>
        </p:nvSpPr>
        <p:spPr>
          <a:xfrm>
            <a:off x="6975475" y="73025"/>
            <a:ext cx="2132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206375" y="765175"/>
            <a:ext cx="8685300" cy="52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0021"/>
              </a:buClr>
              <a:buSzPts val="3000"/>
              <a:buChar char="●"/>
              <a:defRPr sz="2400">
                <a:solidFill>
                  <a:srgbClr val="A50021"/>
                </a:solidFill>
              </a:defRPr>
            </a:lvl1pPr>
            <a:lvl2pPr indent="-381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Char char="●"/>
              <a:defRPr sz="2000">
                <a:solidFill>
                  <a:srgbClr val="003366"/>
                </a:solidFill>
              </a:defRPr>
            </a:lvl2pPr>
            <a:lvl3pPr indent="-381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 sz="1800">
                <a:solidFill>
                  <a:srgbClr val="000000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4pPr>
            <a:lvl5pPr indent="-3429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5pPr>
            <a:lvl6pPr indent="-3429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elixir.bootlin.com/linux/v6.2-rc1/source/include/linux/sched.h#L737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elixir.bootlin.com/linux/v6.2-rc1/source/include/linux/fdtable.h#L49" TargetMode="External"/><Relationship Id="rId4" Type="http://schemas.openxmlformats.org/officeDocument/2006/relationships/hyperlink" Target="https://elixir.bootlin.com/linux/v6.2-rc1/source/include/linux/fdtable.h#L27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cs.kernel.org/filesystems/proc.html#process-specific-subdirectorie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kernel.org/doc/Documentation/timers/NO_HZ.txt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" type="subTitle"/>
          </p:nvPr>
        </p:nvSpPr>
        <p:spPr>
          <a:xfrm>
            <a:off x="954245" y="76850"/>
            <a:ext cx="81813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lang="es">
                <a:latin typeface="Inter SemiBold"/>
                <a:ea typeface="Inter SemiBold"/>
                <a:cs typeface="Inter SemiBold"/>
                <a:sym typeface="Inter SemiBold"/>
              </a:rPr>
              <a:t>SISTEMAS OPERATIVOS</a:t>
            </a:r>
            <a:endParaRPr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Grado en </a:t>
            </a:r>
            <a:r>
              <a:rPr i="1" lang="es" sz="1400">
                <a:latin typeface="Inter"/>
                <a:ea typeface="Inter"/>
                <a:cs typeface="Inter"/>
                <a:sym typeface="Inter"/>
              </a:rPr>
              <a:t>Desarrollo de Videojuegos</a:t>
            </a:r>
            <a:endParaRPr i="1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Universidad Complutense de Madrid</a:t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" name="Google Shape;51;p12"/>
          <p:cNvSpPr/>
          <p:nvPr/>
        </p:nvSpPr>
        <p:spPr>
          <a:xfrm>
            <a:off x="8400" y="113285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2"/>
          <p:cNvSpPr txBox="1"/>
          <p:nvPr>
            <p:ph idx="4294967295" type="ctrTitle"/>
          </p:nvPr>
        </p:nvSpPr>
        <p:spPr>
          <a:xfrm>
            <a:off x="534975" y="2720725"/>
            <a:ext cx="86298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TEMA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. Procesos</a:t>
            </a:r>
            <a:endParaRPr b="0" i="0" sz="3000" u="none" cap="none" strike="noStrike">
              <a:solidFill>
                <a:srgbClr val="4279B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3" name="Google Shape;53;p12" title="Escudo_de_la_Universidad_Complutense_de_Madrid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5" y="76851"/>
            <a:ext cx="799893" cy="91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Tema 3. </a:t>
            </a:r>
            <a:r>
              <a:rPr lang="e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Procesos</a:t>
            </a:r>
            <a:endParaRPr i="0" sz="3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21625" y="880050"/>
            <a:ext cx="8946300" cy="58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.1 Introducci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ón</a:t>
            </a:r>
            <a:endParaRPr b="1" sz="18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Procesos y Programas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Ciclo de vida de un proceso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.2 Representaci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ón en el Sistema Operativo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Bloque de Control de Procesos (PCB)</a:t>
            </a:r>
            <a:endParaRPr sz="15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El sistema de ficheros </a:t>
            </a:r>
            <a:r>
              <a:rPr lang="es" sz="1500">
                <a:latin typeface="Consolas"/>
                <a:ea typeface="Consolas"/>
                <a:cs typeface="Consolas"/>
                <a:sym typeface="Consolas"/>
              </a:rPr>
              <a:t>/proc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1"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.3 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Control de procesos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Creaci</a:t>
            </a:r>
            <a:r>
              <a:rPr lang="es" sz="1500">
                <a:latin typeface="Inter"/>
                <a:ea typeface="Inter"/>
                <a:cs typeface="Inter"/>
                <a:sym typeface="Inter"/>
              </a:rPr>
              <a:t>ón y terminación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s" sz="1500">
                <a:latin typeface="Inter"/>
                <a:ea typeface="Inter"/>
                <a:cs typeface="Inter"/>
                <a:sym typeface="Inter"/>
              </a:rPr>
              <a:t>incronización y códigos de salida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eñales</a:t>
            </a:r>
            <a:endParaRPr b="1" sz="18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1"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5</a:t>
            </a:r>
            <a:r>
              <a:rPr b="1"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Grupos de Procesos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El proceso init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Sesiones y grupos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Ejecuci</a:t>
            </a:r>
            <a:r>
              <a:rPr lang="es" sz="1500">
                <a:latin typeface="Inter"/>
                <a:ea typeface="Inter"/>
                <a:cs typeface="Inter"/>
                <a:sym typeface="Inter"/>
              </a:rPr>
              <a:t>ón en primer y segundo plano</a:t>
            </a:r>
            <a:endParaRPr sz="15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Tema 3. </a:t>
            </a:r>
            <a:r>
              <a:rPr lang="e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Procesos</a:t>
            </a:r>
            <a:endParaRPr i="0" sz="3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21625" y="880050"/>
            <a:ext cx="8946300" cy="58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latin typeface="Inter"/>
                <a:ea typeface="Inter"/>
                <a:cs typeface="Inter"/>
                <a:sym typeface="Inter"/>
              </a:rPr>
              <a:t>3.6 Planificaci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ón</a:t>
            </a:r>
            <a:endParaRPr b="1" sz="18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Multiprogramación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Planificador: Niveles de planificaci</a:t>
            </a:r>
            <a:r>
              <a:rPr lang="es" sz="1500">
                <a:latin typeface="Inter"/>
                <a:ea typeface="Inter"/>
                <a:cs typeface="Inter"/>
                <a:sym typeface="Inter"/>
              </a:rPr>
              <a:t>ón, </a:t>
            </a:r>
            <a:r>
              <a:rPr lang="es" sz="1500">
                <a:latin typeface="Inter"/>
                <a:ea typeface="Inter"/>
                <a:cs typeface="Inter"/>
                <a:sym typeface="Inter"/>
              </a:rPr>
              <a:t>Activaci</a:t>
            </a:r>
            <a:r>
              <a:rPr lang="es" sz="1500">
                <a:latin typeface="Inter"/>
                <a:ea typeface="Inter"/>
                <a:cs typeface="Inter"/>
                <a:sym typeface="Inter"/>
              </a:rPr>
              <a:t>ón y objetivos.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Modelos de Planificación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Algoritmos no-expropiativos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○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First come first serve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○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Shortest job first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●"/>
            </a:pP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Algoritmos expropiativos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○"/>
            </a:pP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Round Robin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○"/>
            </a:pP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Shortest Remaining First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○"/>
            </a:pP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Colas Multinivel con Retroalimentación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Planificador de Linux</a:t>
            </a:r>
            <a:endParaRPr sz="15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idx="1" type="subTitle"/>
          </p:nvPr>
        </p:nvSpPr>
        <p:spPr>
          <a:xfrm>
            <a:off x="954245" y="76850"/>
            <a:ext cx="81813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lang="es">
                <a:latin typeface="Inter SemiBold"/>
                <a:ea typeface="Inter SemiBold"/>
                <a:cs typeface="Inter SemiBold"/>
                <a:sym typeface="Inter SemiBold"/>
              </a:rPr>
              <a:t>SISTEMAS OPERATIVOS</a:t>
            </a:r>
            <a:endParaRPr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Grado en </a:t>
            </a:r>
            <a:r>
              <a:rPr i="1" lang="es" sz="1400">
                <a:latin typeface="Inter"/>
                <a:ea typeface="Inter"/>
                <a:cs typeface="Inter"/>
                <a:sym typeface="Inter"/>
              </a:rPr>
              <a:t>Desarrollo de Videojuegos</a:t>
            </a:r>
            <a:endParaRPr i="1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Universidad Complutense de Madrid</a:t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8400" y="113285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>
            <p:ph idx="4294967295" type="ctrTitle"/>
          </p:nvPr>
        </p:nvSpPr>
        <p:spPr>
          <a:xfrm>
            <a:off x="534975" y="2720725"/>
            <a:ext cx="86298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TEMA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.1</a:t>
            </a: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Introducción</a:t>
            </a:r>
            <a:endParaRPr b="0" i="0" sz="3000" u="none" cap="none" strike="noStrike">
              <a:solidFill>
                <a:srgbClr val="4279B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7" name="Google Shape;77;p15" title="Escudo_de_la_Universidad_Complutense_de_Madrid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5" y="76851"/>
            <a:ext cx="799893" cy="91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0" y="3810000"/>
            <a:ext cx="9144000" cy="304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390181" y="3962400"/>
            <a:ext cx="4495800" cy="2158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 </a:t>
            </a:r>
            <a:r>
              <a:rPr b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proceso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 una abstracción del sistema operativo que representa un programa en ejecución, incluye: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Código del programa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Recursos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Estructuras de control</a:t>
            </a:r>
            <a:endParaRPr sz="1200"/>
          </a:p>
        </p:txBody>
      </p:sp>
      <p:sp>
        <p:nvSpPr>
          <p:cNvPr id="84" name="Google Shape;84;p16"/>
          <p:cNvSpPr txBox="1"/>
          <p:nvPr/>
        </p:nvSpPr>
        <p:spPr>
          <a:xfrm>
            <a:off x="6909641" y="2286424"/>
            <a:ext cx="1822800" cy="1371600"/>
          </a:xfrm>
          <a:prstGeom prst="rect">
            <a:avLst/>
          </a:prstGeom>
          <a:solidFill>
            <a:srgbClr val="EFEFE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t/>
            </a:r>
            <a:endParaRPr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83056" y="2234596"/>
            <a:ext cx="4329900" cy="225300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483056" y="1908441"/>
            <a:ext cx="4329900" cy="2253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483056" y="2710557"/>
            <a:ext cx="4329900" cy="225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483056" y="1599369"/>
            <a:ext cx="4329900" cy="225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483056" y="3020427"/>
            <a:ext cx="4329900" cy="615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Introducción. Procesos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6910897" y="1944706"/>
            <a:ext cx="1822800" cy="342900"/>
          </a:xfrm>
          <a:prstGeom prst="rect">
            <a:avLst/>
          </a:prstGeom>
          <a:solidFill>
            <a:srgbClr val="6AA84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Times New Roman"/>
              <a:buNone/>
            </a:pPr>
            <a:r>
              <a:rPr b="1" i="0" lang="es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Tabla de Programa</a:t>
            </a:r>
            <a:endParaRPr b="1" i="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6909641" y="1601818"/>
            <a:ext cx="1822800" cy="342900"/>
          </a:xfrm>
          <a:prstGeom prst="rect">
            <a:avLst/>
          </a:prstGeom>
          <a:solidFill>
            <a:srgbClr val="0B5394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Times New Roman"/>
              <a:buNone/>
            </a:pPr>
            <a:r>
              <a:rPr b="1" i="0" lang="es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Cabecera ELF</a:t>
            </a:r>
            <a:endParaRPr b="1" i="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6906930" y="3133798"/>
            <a:ext cx="1822800" cy="2136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.data</a:t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6906930" y="3351420"/>
            <a:ext cx="1822800" cy="2136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.bss</a:t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6906930" y="2360248"/>
            <a:ext cx="1822800" cy="414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.text</a:t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6906930" y="2832550"/>
            <a:ext cx="1822800" cy="2136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.rodata</a:t>
            </a:r>
            <a:endParaRPr/>
          </a:p>
        </p:txBody>
      </p:sp>
      <p:cxnSp>
        <p:nvCxnSpPr>
          <p:cNvPr id="98" name="Google Shape;98;p16"/>
          <p:cNvCxnSpPr>
            <a:stCxn id="99" idx="3"/>
          </p:cNvCxnSpPr>
          <p:nvPr/>
        </p:nvCxnSpPr>
        <p:spPr>
          <a:xfrm flipH="1" rot="10800000">
            <a:off x="4885981" y="2590800"/>
            <a:ext cx="2048100" cy="2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" name="Google Shape;100;p16"/>
          <p:cNvSpPr txBox="1"/>
          <p:nvPr/>
        </p:nvSpPr>
        <p:spPr>
          <a:xfrm>
            <a:off x="4898412" y="1963300"/>
            <a:ext cx="2035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compilación y enlazado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5038381" y="3930267"/>
            <a:ext cx="2257200" cy="2895600"/>
          </a:xfrm>
          <a:prstGeom prst="rect">
            <a:avLst/>
          </a:prstGeom>
          <a:solidFill>
            <a:schemeClr val="lt1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5038381" y="6377969"/>
            <a:ext cx="2257200" cy="329400"/>
          </a:xfrm>
          <a:prstGeom prst="rect">
            <a:avLst/>
          </a:prstGeom>
          <a:solidFill>
            <a:srgbClr val="F1C232"/>
          </a:solidFill>
          <a:ln cap="rnd" cmpd="sng" w="9525">
            <a:solidFill>
              <a:srgbClr val="0000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b="1" i="0" lang="es" u="none" cap="none" strike="noStrike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Pila</a:t>
            </a:r>
            <a:r>
              <a:rPr b="1"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↑</a:t>
            </a:r>
            <a:endParaRPr b="1" i="0" u="none" cap="none" strike="noStrik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038381" y="4309431"/>
            <a:ext cx="2257200" cy="533400"/>
          </a:xfrm>
          <a:prstGeom prst="rect">
            <a:avLst/>
          </a:prstGeom>
          <a:solidFill>
            <a:srgbClr val="D9EAD3"/>
          </a:solidFill>
          <a:ln cap="rnd" cmpd="sng" w="9525">
            <a:solidFill>
              <a:srgbClr val="0000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b="1" i="0" lang="es" sz="1500" u="none" cap="none" strike="noStrike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Texto</a:t>
            </a:r>
            <a:r>
              <a:rPr i="0" lang="es" sz="1500" u="none" cap="none" strike="noStrike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i="0" lang="es" u="none" cap="none" strike="noStrike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(.text)</a:t>
            </a:r>
            <a:endParaRPr i="0" u="none" cap="none" strike="noStrike"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5038381" y="4844667"/>
            <a:ext cx="2257200" cy="522000"/>
          </a:xfrm>
          <a:prstGeom prst="rect">
            <a:avLst/>
          </a:prstGeom>
          <a:solidFill>
            <a:srgbClr val="9FC5E8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b="1" i="0" lang="es" sz="1500" u="none" cap="none" strike="noStrike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endParaRPr b="1" i="0" sz="1500" u="none" cap="none" strike="noStrik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lang="es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(.bss,</a:t>
            </a:r>
            <a:r>
              <a:rPr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.data,</a:t>
            </a:r>
            <a:r>
              <a:rPr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.rodata)</a:t>
            </a:r>
            <a:endParaRPr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7320217" y="4176311"/>
            <a:ext cx="1072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b="0" i="0" lang="es" sz="1100" u="none" cap="none" strike="noStrike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0x08048100</a:t>
            </a:r>
            <a:endParaRPr b="0" i="0" sz="1100" u="none" cap="none" strike="noStrike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7331551" y="4634213"/>
            <a:ext cx="107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b="0" i="0" lang="es" sz="1100" u="none" cap="none" strike="noStrike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0x08073eff</a:t>
            </a:r>
            <a:endParaRPr b="0" i="0" sz="1100" u="none" cap="none" strike="noStrike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7331551" y="4781320"/>
            <a:ext cx="107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b="0" i="0" lang="es" sz="1100" u="none" cap="none" strike="noStrike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0x08074f00</a:t>
            </a:r>
            <a:endParaRPr b="0" i="0" sz="1100" u="none" cap="none" strike="noStrike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7331556" y="5199804"/>
            <a:ext cx="107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b="0" i="0" lang="es" sz="1100" u="none" cap="none" strike="noStrike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0x08079cff</a:t>
            </a:r>
            <a:endParaRPr b="0" i="0" sz="1100" u="none" cap="none" strike="noStrike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5038381" y="5363643"/>
            <a:ext cx="2257200" cy="243000"/>
          </a:xfrm>
          <a:prstGeom prst="rect">
            <a:avLst/>
          </a:prstGeom>
          <a:solidFill>
            <a:srgbClr val="D9D2E9"/>
          </a:solidFill>
          <a:ln cap="rnd" cmpd="sng" w="9525">
            <a:solidFill>
              <a:srgbClr val="0000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b="1" i="1"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Heap</a:t>
            </a:r>
            <a:r>
              <a:rPr b="1" i="1"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 b="1" i="0" u="none" cap="none" strike="noStrik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5038381" y="5725175"/>
            <a:ext cx="2257200" cy="525600"/>
          </a:xfrm>
          <a:prstGeom prst="rect">
            <a:avLst/>
          </a:prstGeom>
          <a:solidFill>
            <a:srgbClr val="F3F3F3"/>
          </a:solidFill>
          <a:ln cap="rnd" cmpd="sng" w="9525">
            <a:solidFill>
              <a:srgbClr val="0000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Memoria mapeada</a:t>
            </a:r>
            <a:endParaRPr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Librerías</a:t>
            </a:r>
            <a:r>
              <a:rPr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dinámicas</a:t>
            </a:r>
            <a:endParaRPr i="0" u="none" cap="none" strike="noStrik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7324381" y="6253220"/>
            <a:ext cx="1072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54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lang="es" sz="11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0xbfc9650c</a:t>
            </a:r>
            <a:endParaRPr i="0" sz="1100" u="none" cap="none" strike="noStrike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12" name="Google Shape;112;p16"/>
          <p:cNvCxnSpPr>
            <a:stCxn id="96" idx="3"/>
            <a:endCxn id="109" idx="3"/>
          </p:cNvCxnSpPr>
          <p:nvPr/>
        </p:nvCxnSpPr>
        <p:spPr>
          <a:xfrm flipH="1">
            <a:off x="7295730" y="2567248"/>
            <a:ext cx="1434000" cy="2917800"/>
          </a:xfrm>
          <a:prstGeom prst="bentConnector3">
            <a:avLst>
              <a:gd fmla="val -16606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" name="Google Shape;113;p16"/>
          <p:cNvSpPr txBox="1"/>
          <p:nvPr/>
        </p:nvSpPr>
        <p:spPr>
          <a:xfrm>
            <a:off x="7391400" y="5603913"/>
            <a:ext cx="1596900" cy="615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Memoria Virtual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(Tema 4)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5026106" y="3916496"/>
            <a:ext cx="225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Memoria</a:t>
            </a:r>
            <a:r>
              <a:rPr b="1"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Virtual</a:t>
            </a:r>
            <a:endParaRPr b="1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398716" y="808822"/>
            <a:ext cx="8373600" cy="6771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 </a:t>
            </a:r>
            <a:r>
              <a:rPr b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programa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 un conjunto de instrucciones máquina y datos, almacenados en una </a:t>
            </a:r>
            <a:r>
              <a:rPr b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imagen ejecutable en disco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(entidad pasiva)</a:t>
            </a:r>
            <a:endParaRPr sz="1600">
              <a:solidFill>
                <a:schemeClr val="dk1"/>
              </a:solidFill>
            </a:endParaRPr>
          </a:p>
        </p:txBody>
      </p:sp>
      <p:cxnSp>
        <p:nvCxnSpPr>
          <p:cNvPr id="116" name="Google Shape;116;p16"/>
          <p:cNvCxnSpPr/>
          <p:nvPr/>
        </p:nvCxnSpPr>
        <p:spPr>
          <a:xfrm>
            <a:off x="33051" y="3798065"/>
            <a:ext cx="9067800" cy="0"/>
          </a:xfrm>
          <a:prstGeom prst="straightConnector1">
            <a:avLst/>
          </a:prstGeom>
          <a:noFill/>
          <a:ln cap="flat" cmpd="sng" w="3810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9" name="Google Shape;99;p16"/>
          <p:cNvSpPr txBox="1"/>
          <p:nvPr/>
        </p:nvSpPr>
        <p:spPr>
          <a:xfrm>
            <a:off x="390181" y="1544100"/>
            <a:ext cx="4495800" cy="21450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91425" spcFirstLastPara="1" rIns="91425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numero = 21; </a:t>
            </a:r>
            <a:r>
              <a:rPr i="1" lang="es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//.data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resultado; </a:t>
            </a:r>
            <a:r>
              <a:rPr i="1" lang="es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//.bss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const char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*msg = "Resultado:\n"; </a:t>
            </a:r>
            <a:r>
              <a:rPr i="1" lang="es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//.rodat</a:t>
            </a:r>
            <a:r>
              <a:rPr i="1" lang="es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(void)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static int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factor = 2; </a:t>
            </a:r>
            <a:r>
              <a:rPr i="1" lang="es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//.data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es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//.text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resultado = numero * factor;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 0;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Introducción. Ciclo de Vida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5579550" y="3352275"/>
            <a:ext cx="3502200" cy="1241400"/>
          </a:xfrm>
          <a:prstGeom prst="roundRect">
            <a:avLst>
              <a:gd fmla="val 6516" name="adj"/>
            </a:avLst>
          </a:prstGeom>
          <a:solidFill>
            <a:srgbClr val="FFFFFF"/>
          </a:solidFill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Algunos sistemas implementan </a:t>
            </a:r>
            <a:r>
              <a:rPr i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process swapping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(ineficiente). Linux usa la swap de páginas de memoria (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Tema 4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/>
          </a:p>
        </p:txBody>
      </p:sp>
      <p:cxnSp>
        <p:nvCxnSpPr>
          <p:cNvPr id="124" name="Google Shape;124;p17"/>
          <p:cNvCxnSpPr>
            <a:stCxn id="125" idx="3"/>
            <a:endCxn id="126" idx="1"/>
          </p:cNvCxnSpPr>
          <p:nvPr/>
        </p:nvCxnSpPr>
        <p:spPr>
          <a:xfrm>
            <a:off x="3392844" y="2383470"/>
            <a:ext cx="717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17"/>
          <p:cNvCxnSpPr>
            <a:stCxn id="126" idx="3"/>
            <a:endCxn id="128" idx="2"/>
          </p:cNvCxnSpPr>
          <p:nvPr/>
        </p:nvCxnSpPr>
        <p:spPr>
          <a:xfrm flipH="1" rot="10800000">
            <a:off x="6059844" y="2379570"/>
            <a:ext cx="698400" cy="3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17"/>
          <p:cNvCxnSpPr>
            <a:stCxn id="130" idx="6"/>
            <a:endCxn id="125" idx="1"/>
          </p:cNvCxnSpPr>
          <p:nvPr/>
        </p:nvCxnSpPr>
        <p:spPr>
          <a:xfrm flipH="1" rot="10800000">
            <a:off x="612836" y="2383508"/>
            <a:ext cx="830700" cy="3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" name="Google Shape;131;p17"/>
          <p:cNvSpPr txBox="1"/>
          <p:nvPr/>
        </p:nvSpPr>
        <p:spPr>
          <a:xfrm rot="1412">
            <a:off x="6024050" y="2055858"/>
            <a:ext cx="73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ourier New"/>
                <a:ea typeface="Courier New"/>
                <a:cs typeface="Courier New"/>
                <a:sym typeface="Courier New"/>
              </a:rPr>
              <a:t>wait()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432836" y="2296808"/>
            <a:ext cx="180000" cy="180000"/>
          </a:xfrm>
          <a:prstGeom prst="flowChartConnector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6795931" y="2325543"/>
            <a:ext cx="108000" cy="108000"/>
          </a:xfrm>
          <a:prstGeom prst="flowChartConnector">
            <a:avLst/>
          </a:prstGeom>
          <a:solidFill>
            <a:srgbClr val="CC4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6758131" y="2289543"/>
            <a:ext cx="180000" cy="180000"/>
          </a:xfrm>
          <a:prstGeom prst="flowChartConnector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3452334" y="2041669"/>
            <a:ext cx="61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onsolas"/>
                <a:ea typeface="Consolas"/>
                <a:cs typeface="Consolas"/>
                <a:sym typeface="Consolas"/>
              </a:rPr>
              <a:t>_exit()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539747" y="2016158"/>
            <a:ext cx="9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onsolas"/>
                <a:ea typeface="Consolas"/>
                <a:cs typeface="Consolas"/>
                <a:sym typeface="Consolas"/>
              </a:rPr>
              <a:t>fork()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35" name="Google Shape;135;p17"/>
          <p:cNvGrpSpPr/>
          <p:nvPr/>
        </p:nvGrpSpPr>
        <p:grpSpPr>
          <a:xfrm>
            <a:off x="126250" y="3419043"/>
            <a:ext cx="1949400" cy="853500"/>
            <a:chOff x="1269250" y="4104843"/>
            <a:chExt cx="1949400" cy="853500"/>
          </a:xfrm>
        </p:grpSpPr>
        <p:grpSp>
          <p:nvGrpSpPr>
            <p:cNvPr id="136" name="Google Shape;136;p17"/>
            <p:cNvGrpSpPr/>
            <p:nvPr/>
          </p:nvGrpSpPr>
          <p:grpSpPr>
            <a:xfrm>
              <a:off x="1269250" y="4104843"/>
              <a:ext cx="1949400" cy="853500"/>
              <a:chOff x="2053850" y="4286443"/>
              <a:chExt cx="1949400" cy="853500"/>
            </a:xfrm>
          </p:grpSpPr>
          <p:sp>
            <p:nvSpPr>
              <p:cNvPr id="137" name="Google Shape;137;p17"/>
              <p:cNvSpPr/>
              <p:nvPr/>
            </p:nvSpPr>
            <p:spPr>
              <a:xfrm>
                <a:off x="2054138" y="4286443"/>
                <a:ext cx="1949100" cy="853500"/>
              </a:xfrm>
              <a:prstGeom prst="ellipse">
                <a:avLst/>
              </a:prstGeom>
              <a:solidFill>
                <a:srgbClr val="D0E0E3"/>
              </a:solidFill>
              <a:ln cap="flat" cmpd="sng" w="9525">
                <a:solidFill>
                  <a:srgbClr val="134F5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138" name="Google Shape;138;p17"/>
              <p:cNvSpPr txBox="1"/>
              <p:nvPr/>
            </p:nvSpPr>
            <p:spPr>
              <a:xfrm>
                <a:off x="2053850" y="4528550"/>
                <a:ext cx="19494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" sz="1200">
                    <a:latin typeface="Consolas"/>
                    <a:ea typeface="Consolas"/>
                    <a:cs typeface="Consolas"/>
                    <a:sym typeface="Consolas"/>
                  </a:rPr>
                  <a:t>TASK_INTERRUPTIBLE</a:t>
                </a:r>
                <a:endParaRPr b="1" sz="1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139" name="Google Shape;139;p17"/>
            <p:cNvSpPr txBox="1"/>
            <p:nvPr/>
          </p:nvSpPr>
          <p:spPr>
            <a:xfrm>
              <a:off x="2715375" y="4162714"/>
              <a:ext cx="292200" cy="252000"/>
            </a:xfrm>
            <a:prstGeom prst="rect">
              <a:avLst/>
            </a:prstGeom>
            <a:solidFill>
              <a:srgbClr val="0B5394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8000" lIns="54000" spcFirstLastPara="1" rIns="54000" wrap="square" tIns="180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S</a:t>
              </a:r>
              <a:endParaRPr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40" name="Google Shape;140;p17"/>
          <p:cNvGrpSpPr/>
          <p:nvPr/>
        </p:nvGrpSpPr>
        <p:grpSpPr>
          <a:xfrm>
            <a:off x="2737288" y="3415993"/>
            <a:ext cx="1949412" cy="853500"/>
            <a:chOff x="4489888" y="4787593"/>
            <a:chExt cx="1949412" cy="853500"/>
          </a:xfrm>
        </p:grpSpPr>
        <p:grpSp>
          <p:nvGrpSpPr>
            <p:cNvPr id="141" name="Google Shape;141;p17"/>
            <p:cNvGrpSpPr/>
            <p:nvPr/>
          </p:nvGrpSpPr>
          <p:grpSpPr>
            <a:xfrm>
              <a:off x="4489888" y="4787593"/>
              <a:ext cx="1949412" cy="853500"/>
              <a:chOff x="2054138" y="4286443"/>
              <a:chExt cx="1949412" cy="853500"/>
            </a:xfrm>
          </p:grpSpPr>
          <p:sp>
            <p:nvSpPr>
              <p:cNvPr id="142" name="Google Shape;142;p17"/>
              <p:cNvSpPr/>
              <p:nvPr/>
            </p:nvSpPr>
            <p:spPr>
              <a:xfrm>
                <a:off x="2054138" y="4286443"/>
                <a:ext cx="1949100" cy="853500"/>
              </a:xfrm>
              <a:prstGeom prst="ellipse">
                <a:avLst/>
              </a:prstGeom>
              <a:solidFill>
                <a:srgbClr val="D0E0E3"/>
              </a:solidFill>
              <a:ln cap="flat" cmpd="sng" w="9525">
                <a:solidFill>
                  <a:srgbClr val="134F5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143" name="Google Shape;143;p17"/>
              <p:cNvSpPr txBox="1"/>
              <p:nvPr/>
            </p:nvSpPr>
            <p:spPr>
              <a:xfrm>
                <a:off x="2054150" y="4528550"/>
                <a:ext cx="19494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" sz="1200">
                    <a:latin typeface="Consolas"/>
                    <a:ea typeface="Consolas"/>
                    <a:cs typeface="Consolas"/>
                    <a:sym typeface="Consolas"/>
                  </a:rPr>
                  <a:t>TASK_UNINTERRUPTIBLE</a:t>
                </a:r>
                <a:endParaRPr b="1" sz="1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144" name="Google Shape;144;p17"/>
            <p:cNvSpPr txBox="1"/>
            <p:nvPr/>
          </p:nvSpPr>
          <p:spPr>
            <a:xfrm>
              <a:off x="5943275" y="4838447"/>
              <a:ext cx="292200" cy="252000"/>
            </a:xfrm>
            <a:prstGeom prst="rect">
              <a:avLst/>
            </a:prstGeom>
            <a:solidFill>
              <a:srgbClr val="0B5394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8000" lIns="54000" spcFirstLastPara="1" rIns="54000" wrap="square" tIns="180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D</a:t>
              </a:r>
              <a:endParaRPr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45" name="Google Shape;145;p17"/>
          <p:cNvGrpSpPr/>
          <p:nvPr/>
        </p:nvGrpSpPr>
        <p:grpSpPr>
          <a:xfrm>
            <a:off x="1437943" y="811168"/>
            <a:ext cx="1949412" cy="853500"/>
            <a:chOff x="1575813" y="5383168"/>
            <a:chExt cx="1949412" cy="853500"/>
          </a:xfrm>
        </p:grpSpPr>
        <p:grpSp>
          <p:nvGrpSpPr>
            <p:cNvPr id="146" name="Google Shape;146;p17"/>
            <p:cNvGrpSpPr/>
            <p:nvPr/>
          </p:nvGrpSpPr>
          <p:grpSpPr>
            <a:xfrm>
              <a:off x="1575813" y="5383168"/>
              <a:ext cx="1949412" cy="853500"/>
              <a:chOff x="2054138" y="4286443"/>
              <a:chExt cx="1949412" cy="853500"/>
            </a:xfrm>
          </p:grpSpPr>
          <p:sp>
            <p:nvSpPr>
              <p:cNvPr id="147" name="Google Shape;147;p17"/>
              <p:cNvSpPr/>
              <p:nvPr/>
            </p:nvSpPr>
            <p:spPr>
              <a:xfrm>
                <a:off x="2054138" y="4286443"/>
                <a:ext cx="1949100" cy="853500"/>
              </a:xfrm>
              <a:prstGeom prst="ellipse">
                <a:avLst/>
              </a:prstGeom>
              <a:solidFill>
                <a:srgbClr val="D9D2E9"/>
              </a:solidFill>
              <a:ln cap="flat" cmpd="sng" w="9525">
                <a:solidFill>
                  <a:srgbClr val="134F5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148" name="Google Shape;148;p17"/>
              <p:cNvSpPr txBox="1"/>
              <p:nvPr/>
            </p:nvSpPr>
            <p:spPr>
              <a:xfrm>
                <a:off x="2054150" y="4528550"/>
                <a:ext cx="19494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" sz="1200">
                    <a:latin typeface="Consolas"/>
                    <a:ea typeface="Consolas"/>
                    <a:cs typeface="Consolas"/>
                    <a:sym typeface="Consolas"/>
                  </a:rPr>
                  <a:t>TASK_STOPPED</a:t>
                </a:r>
                <a:endParaRPr b="1" sz="1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149" name="Google Shape;149;p17"/>
            <p:cNvSpPr txBox="1"/>
            <p:nvPr/>
          </p:nvSpPr>
          <p:spPr>
            <a:xfrm>
              <a:off x="3096375" y="5458114"/>
              <a:ext cx="292200" cy="252000"/>
            </a:xfrm>
            <a:prstGeom prst="rect">
              <a:avLst/>
            </a:prstGeom>
            <a:solidFill>
              <a:srgbClr val="0B5394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8000" lIns="54000" spcFirstLastPara="1" rIns="54000" wrap="square" tIns="180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T</a:t>
              </a:r>
              <a:endParaRPr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50" name="Google Shape;150;p17"/>
          <p:cNvGrpSpPr/>
          <p:nvPr/>
        </p:nvGrpSpPr>
        <p:grpSpPr>
          <a:xfrm>
            <a:off x="1443444" y="1956714"/>
            <a:ext cx="1949400" cy="853500"/>
            <a:chOff x="1421650" y="3121508"/>
            <a:chExt cx="1949400" cy="853500"/>
          </a:xfrm>
        </p:grpSpPr>
        <p:grpSp>
          <p:nvGrpSpPr>
            <p:cNvPr id="151" name="Google Shape;151;p17"/>
            <p:cNvGrpSpPr/>
            <p:nvPr/>
          </p:nvGrpSpPr>
          <p:grpSpPr>
            <a:xfrm>
              <a:off x="1421650" y="3121508"/>
              <a:ext cx="1949400" cy="853500"/>
              <a:chOff x="2053850" y="4286443"/>
              <a:chExt cx="1949400" cy="853500"/>
            </a:xfrm>
          </p:grpSpPr>
          <p:sp>
            <p:nvSpPr>
              <p:cNvPr id="152" name="Google Shape;152;p17"/>
              <p:cNvSpPr/>
              <p:nvPr/>
            </p:nvSpPr>
            <p:spPr>
              <a:xfrm>
                <a:off x="2054138" y="4286443"/>
                <a:ext cx="1949100" cy="853500"/>
              </a:xfrm>
              <a:prstGeom prst="ellipse">
                <a:avLst/>
              </a:prstGeom>
              <a:solidFill>
                <a:srgbClr val="93C47D"/>
              </a:solidFill>
              <a:ln cap="flat" cmpd="sng" w="9525">
                <a:solidFill>
                  <a:srgbClr val="134F5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125" name="Google Shape;125;p17"/>
              <p:cNvSpPr txBox="1"/>
              <p:nvPr/>
            </p:nvSpPr>
            <p:spPr>
              <a:xfrm>
                <a:off x="2053850" y="4528550"/>
                <a:ext cx="19494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" sz="1200">
                    <a:latin typeface="Consolas"/>
                    <a:ea typeface="Consolas"/>
                    <a:cs typeface="Consolas"/>
                    <a:sym typeface="Consolas"/>
                  </a:rPr>
                  <a:t>TASK_RUNNING</a:t>
                </a:r>
                <a:endParaRPr b="1" sz="1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153" name="Google Shape;153;p17"/>
            <p:cNvSpPr txBox="1"/>
            <p:nvPr/>
          </p:nvSpPr>
          <p:spPr>
            <a:xfrm>
              <a:off x="2867775" y="3172114"/>
              <a:ext cx="292200" cy="252000"/>
            </a:xfrm>
            <a:prstGeom prst="rect">
              <a:avLst/>
            </a:prstGeom>
            <a:solidFill>
              <a:srgbClr val="0B5394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8000" lIns="54000" spcFirstLastPara="1" rIns="54000" wrap="square" tIns="180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R</a:t>
              </a:r>
              <a:endParaRPr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54" name="Google Shape;154;p17"/>
          <p:cNvGrpSpPr/>
          <p:nvPr/>
        </p:nvGrpSpPr>
        <p:grpSpPr>
          <a:xfrm>
            <a:off x="4110444" y="1956714"/>
            <a:ext cx="1949400" cy="853500"/>
            <a:chOff x="3936250" y="3114243"/>
            <a:chExt cx="1949400" cy="853500"/>
          </a:xfrm>
        </p:grpSpPr>
        <p:grpSp>
          <p:nvGrpSpPr>
            <p:cNvPr id="155" name="Google Shape;155;p17"/>
            <p:cNvGrpSpPr/>
            <p:nvPr/>
          </p:nvGrpSpPr>
          <p:grpSpPr>
            <a:xfrm>
              <a:off x="3936250" y="3114243"/>
              <a:ext cx="1949400" cy="853500"/>
              <a:chOff x="2053850" y="4286443"/>
              <a:chExt cx="1949400" cy="853500"/>
            </a:xfrm>
          </p:grpSpPr>
          <p:sp>
            <p:nvSpPr>
              <p:cNvPr id="156" name="Google Shape;156;p17"/>
              <p:cNvSpPr/>
              <p:nvPr/>
            </p:nvSpPr>
            <p:spPr>
              <a:xfrm>
                <a:off x="2054138" y="4286443"/>
                <a:ext cx="1949100" cy="853500"/>
              </a:xfrm>
              <a:prstGeom prst="ellipse">
                <a:avLst/>
              </a:prstGeom>
              <a:solidFill>
                <a:srgbClr val="E6B8AF"/>
              </a:solidFill>
              <a:ln cap="flat" cmpd="sng" w="9525">
                <a:solidFill>
                  <a:srgbClr val="134F5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0" spcFirstLastPara="1" rIns="0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126" name="Google Shape;126;p17"/>
              <p:cNvSpPr txBox="1"/>
              <p:nvPr/>
            </p:nvSpPr>
            <p:spPr>
              <a:xfrm>
                <a:off x="2053850" y="4528550"/>
                <a:ext cx="19494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0" spcFirstLastPara="1" rIns="0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" sz="1200">
                    <a:latin typeface="Consolas"/>
                    <a:ea typeface="Consolas"/>
                    <a:cs typeface="Consolas"/>
                    <a:sym typeface="Consolas"/>
                  </a:rPr>
                  <a:t>EXIT</a:t>
                </a:r>
                <a:r>
                  <a:rPr b="1" lang="es" sz="1200">
                    <a:latin typeface="Consolas"/>
                    <a:ea typeface="Consolas"/>
                    <a:cs typeface="Consolas"/>
                    <a:sym typeface="Consolas"/>
                  </a:rPr>
                  <a:t>_ZOMBIE</a:t>
                </a:r>
                <a:endParaRPr b="1" sz="1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157" name="Google Shape;157;p17"/>
            <p:cNvSpPr txBox="1"/>
            <p:nvPr/>
          </p:nvSpPr>
          <p:spPr>
            <a:xfrm>
              <a:off x="5382375" y="3172114"/>
              <a:ext cx="292200" cy="252000"/>
            </a:xfrm>
            <a:prstGeom prst="rect">
              <a:avLst/>
            </a:prstGeom>
            <a:solidFill>
              <a:srgbClr val="0B5394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8000" lIns="54000" spcFirstLastPara="1" rIns="54000" wrap="square" tIns="180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Z</a:t>
              </a:r>
              <a:endParaRPr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58" name="Google Shape;158;p17"/>
          <p:cNvSpPr txBox="1"/>
          <p:nvPr/>
        </p:nvSpPr>
        <p:spPr>
          <a:xfrm>
            <a:off x="6330525" y="2405891"/>
            <a:ext cx="102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Consolas"/>
                <a:ea typeface="Consolas"/>
                <a:cs typeface="Consolas"/>
                <a:sym typeface="Consolas"/>
              </a:rPr>
              <a:t>EXIT_DEAD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7261375" y="2464526"/>
            <a:ext cx="292200" cy="2520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54000" spcFirstLastPara="1" rIns="54000" wrap="square" tIns="18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0" name="Google Shape;160;p17"/>
          <p:cNvCxnSpPr>
            <a:stCxn id="138" idx="3"/>
            <a:endCxn id="152" idx="4"/>
          </p:cNvCxnSpPr>
          <p:nvPr/>
        </p:nvCxnSpPr>
        <p:spPr>
          <a:xfrm flipH="1" rot="10800000">
            <a:off x="2075650" y="2810200"/>
            <a:ext cx="342600" cy="1035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1" name="Google Shape;161;p17"/>
          <p:cNvCxnSpPr>
            <a:stCxn id="152" idx="4"/>
            <a:endCxn id="143" idx="1"/>
          </p:cNvCxnSpPr>
          <p:nvPr/>
        </p:nvCxnSpPr>
        <p:spPr>
          <a:xfrm flipH="1" rot="-5400000">
            <a:off x="2061432" y="3167064"/>
            <a:ext cx="1032600" cy="318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" name="Google Shape;162;p17"/>
          <p:cNvSpPr txBox="1"/>
          <p:nvPr/>
        </p:nvSpPr>
        <p:spPr>
          <a:xfrm>
            <a:off x="2442514" y="3058287"/>
            <a:ext cx="102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onsolas"/>
                <a:ea typeface="Consolas"/>
                <a:cs typeface="Consolas"/>
                <a:sym typeface="Consolas"/>
              </a:rPr>
              <a:t>wait_event</a:t>
            </a:r>
            <a:r>
              <a:rPr lang="es" sz="1200"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3" name="Google Shape;163;p17"/>
          <p:cNvCxnSpPr>
            <a:stCxn id="137" idx="0"/>
            <a:endCxn id="152" idx="3"/>
          </p:cNvCxnSpPr>
          <p:nvPr/>
        </p:nvCxnSpPr>
        <p:spPr>
          <a:xfrm flipH="1" rot="10800000">
            <a:off x="1101088" y="2685243"/>
            <a:ext cx="628200" cy="73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" name="Google Shape;164;p17"/>
          <p:cNvCxnSpPr>
            <a:stCxn id="142" idx="0"/>
            <a:endCxn id="152" idx="5"/>
          </p:cNvCxnSpPr>
          <p:nvPr/>
        </p:nvCxnSpPr>
        <p:spPr>
          <a:xfrm rot="10800000">
            <a:off x="3107338" y="2685193"/>
            <a:ext cx="604500" cy="73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p17"/>
          <p:cNvSpPr txBox="1"/>
          <p:nvPr/>
        </p:nvSpPr>
        <p:spPr>
          <a:xfrm>
            <a:off x="1437384" y="2905887"/>
            <a:ext cx="10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onsolas"/>
                <a:ea typeface="Consolas"/>
                <a:cs typeface="Consolas"/>
                <a:sym typeface="Consolas"/>
              </a:rPr>
              <a:t>wake_up()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onsolas"/>
                <a:ea typeface="Consolas"/>
                <a:cs typeface="Consolas"/>
                <a:sym typeface="Consolas"/>
              </a:rPr>
              <a:t>señal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3496402" y="2810225"/>
            <a:ext cx="76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onsolas"/>
                <a:ea typeface="Consolas"/>
                <a:cs typeface="Consolas"/>
                <a:sym typeface="Consolas"/>
              </a:rPr>
              <a:t>wake_up()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7" name="Google Shape;167;p17"/>
          <p:cNvCxnSpPr>
            <a:stCxn id="152" idx="0"/>
            <a:endCxn id="147" idx="4"/>
          </p:cNvCxnSpPr>
          <p:nvPr/>
        </p:nvCxnSpPr>
        <p:spPr>
          <a:xfrm rot="10800000">
            <a:off x="2412582" y="1664814"/>
            <a:ext cx="5700" cy="29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8" name="Google Shape;168;p17"/>
          <p:cNvSpPr txBox="1"/>
          <p:nvPr/>
        </p:nvSpPr>
        <p:spPr>
          <a:xfrm>
            <a:off x="2505323" y="1606263"/>
            <a:ext cx="61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Consolas"/>
                <a:ea typeface="Consolas"/>
                <a:cs typeface="Consolas"/>
                <a:sym typeface="Consolas"/>
              </a:rPr>
              <a:t>señal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69" name="Google Shape;169;p17"/>
          <p:cNvGraphicFramePr/>
          <p:nvPr/>
        </p:nvGraphicFramePr>
        <p:xfrm>
          <a:off x="85241" y="44413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{1339562E-43EB-461E-A026-4F68CA91E101}</a:tableStyleId>
              </a:tblPr>
              <a:tblGrid>
                <a:gridCol w="2464100"/>
                <a:gridCol w="6482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latin typeface="Inter"/>
                          <a:ea typeface="Inter"/>
                          <a:cs typeface="Inter"/>
                          <a:sym typeface="Inter"/>
                        </a:rPr>
                        <a:t>Estado del Proceso</a:t>
                      </a:r>
                      <a:endParaRPr b="1" sz="1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>
                          <a:latin typeface="Inter"/>
                          <a:ea typeface="Inter"/>
                          <a:cs typeface="Inter"/>
                          <a:sym typeface="Inter"/>
                        </a:rPr>
                        <a:t>Descripción</a:t>
                      </a:r>
                      <a:endParaRPr b="1" sz="1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TASK_RUNNING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4000" marB="54000" marR="54000" marL="54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500">
                          <a:latin typeface="Inter"/>
                          <a:ea typeface="Inter"/>
                          <a:cs typeface="Inter"/>
                          <a:sym typeface="Inter"/>
                        </a:rPr>
                        <a:t>En ejecución o preparado (cola de ejecución, ver 3.6 Planificación)</a:t>
                      </a:r>
                      <a:endParaRPr sz="15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TASK_INTERRUPTIBLE</a:t>
                      </a:r>
                      <a:endParaRPr sz="1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latin typeface="Inter"/>
                          <a:ea typeface="Inter"/>
                          <a:cs typeface="Inter"/>
                          <a:sym typeface="Inter"/>
                        </a:rPr>
                        <a:t>Esperando o realizando E/S interrumpible por señal</a:t>
                      </a:r>
                      <a:endParaRPr sz="1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TASK_UNINTERRUPTIBLE</a:t>
                      </a:r>
                      <a:endParaRPr sz="1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latin typeface="Inter"/>
                          <a:ea typeface="Inter"/>
                          <a:cs typeface="Inter"/>
                          <a:sym typeface="Inter"/>
                        </a:rPr>
                        <a:t>Esperando E/S no interrumpible (ej. lectura bloque de disco) </a:t>
                      </a:r>
                      <a:endParaRPr sz="1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</a:tr>
              <a:tr h="37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TASK_STOPPED</a:t>
                      </a:r>
                      <a:endParaRPr sz="1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latin typeface="Inter"/>
                          <a:ea typeface="Inter"/>
                          <a:cs typeface="Inter"/>
                          <a:sym typeface="Inter"/>
                        </a:rPr>
                        <a:t>Parado por una señal puede reanudarse (también </a:t>
                      </a:r>
                      <a:r>
                        <a:rPr lang="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TASK_TRACED</a:t>
                      </a:r>
                      <a:r>
                        <a:rPr lang="es" sz="1600">
                          <a:latin typeface="Inter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endParaRPr sz="1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EXIT_ZOMBIE</a:t>
                      </a:r>
                      <a:endParaRPr sz="1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latin typeface="Inter"/>
                          <a:ea typeface="Inter"/>
                          <a:cs typeface="Inter"/>
                          <a:sym typeface="Inter"/>
                        </a:rPr>
                        <a:t>Proceso terminado, en el sistema para sincronizar su finalización</a:t>
                      </a:r>
                      <a:endParaRPr sz="16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4000" marB="54000" marR="54000" marL="5400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</a:tbl>
          </a:graphicData>
        </a:graphic>
      </p:graphicFrame>
      <p:sp>
        <p:nvSpPr>
          <p:cNvPr id="170" name="Google Shape;170;p17"/>
          <p:cNvSpPr txBox="1"/>
          <p:nvPr/>
        </p:nvSpPr>
        <p:spPr>
          <a:xfrm>
            <a:off x="4258400" y="1094400"/>
            <a:ext cx="373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Estados de un proceso en Linux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>
            <p:ph idx="1" type="subTitle"/>
          </p:nvPr>
        </p:nvSpPr>
        <p:spPr>
          <a:xfrm>
            <a:off x="954245" y="76850"/>
            <a:ext cx="81813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lang="es">
                <a:latin typeface="Inter SemiBold"/>
                <a:ea typeface="Inter SemiBold"/>
                <a:cs typeface="Inter SemiBold"/>
                <a:sym typeface="Inter SemiBold"/>
              </a:rPr>
              <a:t>SISTEMAS OPERATIVOS</a:t>
            </a:r>
            <a:endParaRPr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Grado en </a:t>
            </a:r>
            <a:r>
              <a:rPr i="1" lang="es" sz="1400">
                <a:latin typeface="Inter"/>
                <a:ea typeface="Inter"/>
                <a:cs typeface="Inter"/>
                <a:sym typeface="Inter"/>
              </a:rPr>
              <a:t>Desarrollo de Videojuegos</a:t>
            </a:r>
            <a:endParaRPr i="1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Universidad Complutense de Madrid</a:t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8400" y="113285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 txBox="1"/>
          <p:nvPr>
            <p:ph idx="4294967295" type="ctrTitle"/>
          </p:nvPr>
        </p:nvSpPr>
        <p:spPr>
          <a:xfrm>
            <a:off x="20775" y="2720725"/>
            <a:ext cx="91440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0" lang="es" sz="28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TEMA </a:t>
            </a:r>
            <a:r>
              <a:rPr lang="es" sz="28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3.2</a:t>
            </a:r>
            <a:r>
              <a:rPr i="0" lang="es" sz="28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28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Representación en el Sistema Operativo</a:t>
            </a:r>
            <a:endParaRPr b="0" i="0" sz="2800" u="none" cap="none" strike="noStrike">
              <a:solidFill>
                <a:srgbClr val="4279B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0" name="Google Shape;180;p18" title="Escudo_de_la_Universidad_Complutense_de_Madrid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5" y="76851"/>
            <a:ext cx="799893" cy="91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Bloque de Control de Proceso (PCB)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8400" y="844350"/>
            <a:ext cx="9127200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 bloque de control de proceso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(PCB) es una estructura de datos que contiene toda la información necesaria para gestionar el proceso.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 Linux la PCB está implementada por la estructura </a:t>
            </a:r>
            <a:r>
              <a:rPr lang="es" sz="1800">
                <a:solidFill>
                  <a:schemeClr val="hlink"/>
                </a:solidFill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3"/>
              </a:rPr>
              <a:t>task_struct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incluye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Identificadores del proceso y propietario.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Estado del procesador (registros CPU, contador de programa, puntero de pila…)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Planificación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Memoria virtual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Entrada/Salida (descriptor de ficheros…)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Contabilidad</a:t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0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Identificadores del Proceso (I)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140525" y="844350"/>
            <a:ext cx="88068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Identificadores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Process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ID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PID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). Identificador único que se asigna en la creación. Se utiliza para identificar al proceso en las llamadas al sistema.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Parent Process ID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PPID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). Identificador del proceso que lo creó.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Identificadores de 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Grupo de Procesos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(GID) y 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Sesión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(SID). Son abstracciones que permiten a la shell implementar control de trabajos (Tema 3.5)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140525" y="4044750"/>
            <a:ext cx="8806800" cy="1677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Llamadas al Sistema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identificadores del proceso se pueden obtener con: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pid_t getpid(void);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pid_t getppid(void);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6784685" y="4140489"/>
            <a:ext cx="2073600" cy="342900"/>
          </a:xfrm>
          <a:prstGeom prst="rect">
            <a:avLst/>
          </a:prstGeom>
          <a:noFill/>
          <a:ln cap="rnd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&lt;unistd.h&gt;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731275" y="6224700"/>
            <a:ext cx="4302000" cy="5133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720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Más información </a:t>
            </a:r>
            <a:r>
              <a:rPr b="1" lang="e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credentials</a:t>
            </a:r>
            <a:r>
              <a:rPr b="1" lang="e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(7)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203000" y="844350"/>
            <a:ext cx="88380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Propietario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Identificador del 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usuario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UID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y 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grupo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GID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). Identifican al propietario del proceso.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Identificadores 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efectivos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del 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usuario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EUID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y 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grupo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EGID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). Estos identificadores son los que usa el SO para el control de acceso.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Ejecutables con los bits setuid y setgid fijan los identificadores efectivos a los del archivo. 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140525" y="4120950"/>
            <a:ext cx="8806800" cy="24885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Llamadas al Sistema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identificadores del propietario  proceso se pueden obtener y fijar con: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uid_t</a:t>
            </a:r>
            <a:r>
              <a:rPr b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getuid(</a:t>
            </a:r>
            <a:r>
              <a:rPr b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gid_t</a:t>
            </a:r>
            <a:r>
              <a:rPr b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getgid(</a:t>
            </a:r>
            <a:r>
              <a:rPr b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uid_t</a:t>
            </a:r>
            <a:r>
              <a:rPr b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geteuid(</a:t>
            </a:r>
            <a:r>
              <a:rPr b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    </a:t>
            </a:r>
            <a:r>
              <a:rPr b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setuid(uid_t euid);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gid_t</a:t>
            </a:r>
            <a:r>
              <a:rPr b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getegid(</a:t>
            </a:r>
            <a:r>
              <a:rPr b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    </a:t>
            </a:r>
            <a:r>
              <a:rPr b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setgid(gid_t egid);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6784685" y="4216689"/>
            <a:ext cx="2073600" cy="342900"/>
          </a:xfrm>
          <a:prstGeom prst="rect">
            <a:avLst/>
          </a:prstGeom>
          <a:noFill/>
          <a:ln cap="rnd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&lt;unistd.h&gt;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21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Identificadores del Proceso 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/>
          <p:nvPr/>
        </p:nvSpPr>
        <p:spPr>
          <a:xfrm>
            <a:off x="1944425" y="822200"/>
            <a:ext cx="7034700" cy="3620700"/>
          </a:xfrm>
          <a:prstGeom prst="roundRect">
            <a:avLst>
              <a:gd fmla="val 2921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5403275" y="1254075"/>
            <a:ext cx="3514200" cy="1383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2035900" y="2255418"/>
            <a:ext cx="265200" cy="239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1944425" y="840125"/>
            <a:ext cx="703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Tablas de Descriptores de Ficheros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s" sz="1800">
                <a:solidFill>
                  <a:schemeClr val="hlink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3"/>
              </a:rPr>
              <a:t>files_struct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800">
                <a:solidFill>
                  <a:schemeClr val="hlink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4"/>
              </a:rPr>
              <a:t>fd_table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Tabla de Descriptores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111775" y="992525"/>
            <a:ext cx="1371276" cy="1516266"/>
          </a:xfrm>
          <a:prstGeom prst="flowChartDocument">
            <a:avLst/>
          </a:prstGeom>
          <a:solidFill>
            <a:srgbClr val="CFE2F3"/>
          </a:solidFill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126107" y="1218174"/>
            <a:ext cx="1346100" cy="290700"/>
          </a:xfrm>
          <a:prstGeom prst="rect">
            <a:avLst/>
          </a:prstGeom>
          <a:solidFill>
            <a:srgbClr val="45818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files_struct</a:t>
            </a:r>
            <a:endParaRPr b="1" sz="15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130375" y="1748076"/>
            <a:ext cx="1346100" cy="290700"/>
          </a:xfrm>
          <a:prstGeom prst="rect">
            <a:avLst/>
          </a:prstGeom>
          <a:solidFill>
            <a:srgbClr val="45818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fs_struct</a:t>
            </a:r>
            <a:endParaRPr b="1" sz="15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20" name="Google Shape;220;p22"/>
          <p:cNvGraphicFramePr/>
          <p:nvPr/>
        </p:nvGraphicFramePr>
        <p:xfrm>
          <a:off x="2030500" y="137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{1339562E-43EB-461E-A026-4F68CA91E101}</a:tableStyleId>
              </a:tblPr>
              <a:tblGrid>
                <a:gridCol w="382850"/>
                <a:gridCol w="1756100"/>
              </a:tblGrid>
              <a:tr h="27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stdin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stdout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stderr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“/tmp/data.txt”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1" name="Google Shape;221;p22"/>
          <p:cNvSpPr/>
          <p:nvPr/>
        </p:nvSpPr>
        <p:spPr>
          <a:xfrm>
            <a:off x="5544175" y="1675375"/>
            <a:ext cx="1436700" cy="2907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72000" spcFirstLastPara="1" rIns="36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struct *inode</a:t>
            </a:r>
            <a:endParaRPr sz="1300"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5544175" y="1370575"/>
            <a:ext cx="1436700" cy="2907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72000" spcFirstLastPara="1" rIns="36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f_pos (offset)</a:t>
            </a:r>
            <a:endParaRPr sz="1300"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5544175" y="1980175"/>
            <a:ext cx="1436700" cy="2907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72000" spcFirstLastPara="1" rIns="36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s" sz="1300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operaciones</a:t>
            </a:r>
            <a:endParaRPr sz="1300"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24" name="Google Shape;224;p22"/>
          <p:cNvCxnSpPr>
            <a:endCxn id="221" idx="1"/>
          </p:cNvCxnSpPr>
          <p:nvPr/>
        </p:nvCxnSpPr>
        <p:spPr>
          <a:xfrm>
            <a:off x="3771775" y="1820725"/>
            <a:ext cx="177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25" name="Google Shape;225;p22"/>
          <p:cNvSpPr txBox="1"/>
          <p:nvPr/>
        </p:nvSpPr>
        <p:spPr>
          <a:xfrm>
            <a:off x="4172875" y="1400130"/>
            <a:ext cx="134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Consolas"/>
                <a:ea typeface="Consolas"/>
                <a:cs typeface="Consolas"/>
                <a:sym typeface="Consolas"/>
              </a:rPr>
              <a:t>struct *file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26" name="Google Shape;226;p22"/>
          <p:cNvCxnSpPr>
            <a:stCxn id="221" idx="3"/>
          </p:cNvCxnSpPr>
          <p:nvPr/>
        </p:nvCxnSpPr>
        <p:spPr>
          <a:xfrm>
            <a:off x="6980875" y="1820725"/>
            <a:ext cx="52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7" name="Google Shape;227;p22"/>
          <p:cNvSpPr txBox="1"/>
          <p:nvPr/>
        </p:nvSpPr>
        <p:spPr>
          <a:xfrm>
            <a:off x="7505275" y="1547025"/>
            <a:ext cx="1371300" cy="615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Tipo: 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chardev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/dev/tty/2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2707600" y="2604650"/>
            <a:ext cx="620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descriptor de fichero es el índice de la tabla de </a:t>
            </a:r>
            <a:r>
              <a:rPr i="1"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descripciones</a:t>
            </a: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y bitmaps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29" name="Google Shape;229;p22"/>
          <p:cNvCxnSpPr>
            <a:stCxn id="213" idx="2"/>
            <a:endCxn id="228" idx="1"/>
          </p:cNvCxnSpPr>
          <p:nvPr/>
        </p:nvCxnSpPr>
        <p:spPr>
          <a:xfrm flipH="1" rot="-5400000">
            <a:off x="2221300" y="2441718"/>
            <a:ext cx="433500" cy="539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0" name="Google Shape;230;p22"/>
          <p:cNvSpPr txBox="1"/>
          <p:nvPr/>
        </p:nvSpPr>
        <p:spPr>
          <a:xfrm>
            <a:off x="2076975" y="3295725"/>
            <a:ext cx="14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close_on_exec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3555116" y="3293800"/>
            <a:ext cx="372600" cy="3849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</a:t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3936116" y="3293800"/>
            <a:ext cx="372600" cy="3849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</a:t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4309950" y="3293800"/>
            <a:ext cx="372600" cy="3849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</a:t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4690950" y="3293800"/>
            <a:ext cx="372600" cy="3849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</a:t>
            </a:r>
            <a:endParaRPr/>
          </a:p>
        </p:txBody>
      </p:sp>
      <p:cxnSp>
        <p:nvCxnSpPr>
          <p:cNvPr id="235" name="Google Shape;235;p22"/>
          <p:cNvCxnSpPr>
            <a:endCxn id="234" idx="0"/>
          </p:cNvCxnSpPr>
          <p:nvPr/>
        </p:nvCxnSpPr>
        <p:spPr>
          <a:xfrm>
            <a:off x="3755850" y="3050800"/>
            <a:ext cx="1121400" cy="243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" name="Google Shape;236;p22"/>
          <p:cNvSpPr txBox="1"/>
          <p:nvPr/>
        </p:nvSpPr>
        <p:spPr>
          <a:xfrm>
            <a:off x="1944425" y="3747650"/>
            <a:ext cx="697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 crear un proceso, se copia la tabla (mismos </a:t>
            </a: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objetos</a:t>
            </a: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*file</a:t>
            </a: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). </a:t>
            </a: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close_on_exec</a:t>
            </a: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permite controlar </a:t>
            </a: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qué</a:t>
            </a:r>
            <a:r>
              <a:rPr lang="e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descriptores se copian al hijo.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37" name="Google Shape;237;p22"/>
          <p:cNvCxnSpPr>
            <a:stCxn id="234" idx="3"/>
            <a:endCxn id="236" idx="0"/>
          </p:cNvCxnSpPr>
          <p:nvPr/>
        </p:nvCxnSpPr>
        <p:spPr>
          <a:xfrm>
            <a:off x="5063550" y="3486250"/>
            <a:ext cx="367200" cy="261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22"/>
          <p:cNvCxnSpPr>
            <a:stCxn id="218" idx="3"/>
            <a:endCxn id="211" idx="1"/>
          </p:cNvCxnSpPr>
          <p:nvPr/>
        </p:nvCxnSpPr>
        <p:spPr>
          <a:xfrm>
            <a:off x="1472207" y="1363524"/>
            <a:ext cx="472200" cy="12690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9" name="Google Shape;239;p22"/>
          <p:cNvSpPr txBox="1"/>
          <p:nvPr/>
        </p:nvSpPr>
        <p:spPr>
          <a:xfrm>
            <a:off x="5403000" y="2303575"/>
            <a:ext cx="351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Virtual File System (Tema 2)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50600" y="4454488"/>
            <a:ext cx="409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Contexto del Sistema de Ficheros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147843" y="4877166"/>
            <a:ext cx="91440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Directorio de trabajo,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pwd(1)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usado para resolver toda </a:t>
            </a:r>
            <a:r>
              <a:rPr b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ruta relativa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en el proceso: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getcwd(</a:t>
            </a: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char *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buffer, size_t</a:t>
            </a: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chdir(</a:t>
            </a: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char *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path);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●"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Directorio raíz (root),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chroot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(1,2)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usado para interpretar </a:t>
            </a:r>
            <a:r>
              <a:rPr b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rutas absolutas.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Limita el espacio de nombres del SF del proceso (p.ej. contenedores).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42" name="Google Shape;242;p22"/>
          <p:cNvCxnSpPr>
            <a:stCxn id="219" idx="2"/>
          </p:cNvCxnSpPr>
          <p:nvPr/>
        </p:nvCxnSpPr>
        <p:spPr>
          <a:xfrm>
            <a:off x="803425" y="2038776"/>
            <a:ext cx="0" cy="247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"/>
          <p:cNvSpPr/>
          <p:nvPr/>
        </p:nvSpPr>
        <p:spPr>
          <a:xfrm>
            <a:off x="141125" y="4108915"/>
            <a:ext cx="8838000" cy="2596800"/>
          </a:xfrm>
          <a:prstGeom prst="roundRect">
            <a:avLst>
              <a:gd fmla="val 3671" name="adj"/>
            </a:avLst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3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Contexto de Ejecución y Memoria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203000" y="844350"/>
            <a:ext cx="88380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Contexto de Ejecución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Registros de la CPU: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Contador de programa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Puntero de pila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Registros de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propósito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general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Registros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específicos del procesador (p.ej. SIMD o FPU)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 linux se almacenan en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struct thread_struct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task_struct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con implementaciones espec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íficas para cada arquitectura.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203000" y="4091700"/>
            <a:ext cx="88380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Gestión de Memoria 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Tema 4.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El PCB contiene el perfil completo de memoria virtual del proceso (mm_struct)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Las p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áginas de memoria incluyen los segmentos de código, datos, 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heap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pila, librerías dinámicas…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Además incluye los argumentos del programa (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argv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y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entorno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(Tema 1).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Ver además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getenv(3)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setenv(3)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unsetenv(3)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environ(7)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141125" y="822200"/>
            <a:ext cx="8838000" cy="3192900"/>
          </a:xfrm>
          <a:prstGeom prst="roundRect">
            <a:avLst>
              <a:gd fmla="val 3671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"/>
          <p:cNvSpPr/>
          <p:nvPr/>
        </p:nvSpPr>
        <p:spPr>
          <a:xfrm>
            <a:off x="87475" y="2335575"/>
            <a:ext cx="8983800" cy="4141500"/>
          </a:xfrm>
          <a:prstGeom prst="roundRect">
            <a:avLst>
              <a:gd fmla="val 3671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4"/>
          <p:cNvSpPr/>
          <p:nvPr/>
        </p:nvSpPr>
        <p:spPr>
          <a:xfrm>
            <a:off x="276950" y="5936779"/>
            <a:ext cx="8699700" cy="204900"/>
          </a:xfrm>
          <a:prstGeom prst="roundRect">
            <a:avLst>
              <a:gd fmla="val 40056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4"/>
          <p:cNvSpPr/>
          <p:nvPr/>
        </p:nvSpPr>
        <p:spPr>
          <a:xfrm>
            <a:off x="276950" y="4834525"/>
            <a:ext cx="8699700" cy="1087500"/>
          </a:xfrm>
          <a:prstGeom prst="roundRect">
            <a:avLst>
              <a:gd fmla="val 10811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4"/>
          <p:cNvSpPr/>
          <p:nvPr/>
        </p:nvSpPr>
        <p:spPr>
          <a:xfrm>
            <a:off x="276950" y="3778451"/>
            <a:ext cx="8714100" cy="1031100"/>
          </a:xfrm>
          <a:prstGeom prst="roundRect">
            <a:avLst>
              <a:gd fmla="val 10811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4"/>
          <p:cNvSpPr/>
          <p:nvPr/>
        </p:nvSpPr>
        <p:spPr>
          <a:xfrm>
            <a:off x="276950" y="3098875"/>
            <a:ext cx="8699700" cy="276300"/>
          </a:xfrm>
          <a:prstGeom prst="roundRect">
            <a:avLst>
              <a:gd fmla="val 32356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4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4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Sistema de Ficheros </a:t>
            </a:r>
            <a:r>
              <a:rPr b="0" lang="es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/proc</a:t>
            </a:r>
            <a:endParaRPr b="0" sz="32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7817535" y="5510017"/>
            <a:ext cx="119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B5394"/>
                </a:solidFill>
                <a:latin typeface="Inter"/>
                <a:ea typeface="Inter"/>
                <a:cs typeface="Inter"/>
                <a:sym typeface="Inter"/>
              </a:rPr>
              <a:t>mm</a:t>
            </a:r>
            <a:r>
              <a:rPr b="1" lang="es" sz="1500">
                <a:solidFill>
                  <a:srgbClr val="0B5394"/>
                </a:solidFill>
                <a:latin typeface="Inter"/>
                <a:ea typeface="Inter"/>
                <a:cs typeface="Inter"/>
                <a:sym typeface="Inter"/>
              </a:rPr>
              <a:t>_struct</a:t>
            </a:r>
            <a:endParaRPr b="1" sz="1500">
              <a:solidFill>
                <a:srgbClr val="0B539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5" name="Google Shape;265;p24"/>
          <p:cNvSpPr txBox="1"/>
          <p:nvPr/>
        </p:nvSpPr>
        <p:spPr>
          <a:xfrm>
            <a:off x="7689275" y="4416222"/>
            <a:ext cx="1275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files</a:t>
            </a:r>
            <a:r>
              <a:rPr b="1" lang="es" sz="1500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_struct</a:t>
            </a:r>
            <a:endParaRPr b="1" sz="1500">
              <a:solidFill>
                <a:srgbClr val="38761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6" name="Google Shape;266;p24"/>
          <p:cNvSpPr txBox="1"/>
          <p:nvPr/>
        </p:nvSpPr>
        <p:spPr>
          <a:xfrm>
            <a:off x="203000" y="2368350"/>
            <a:ext cx="8424900" cy="4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Ejemplo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algunos ficheros del directorio proc de un proceso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|-- cmdline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|-- cwd -&gt; /home/ruben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|-- environ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|-- exe -&gt; /usr/bin/bash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|-- fd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   |-- 0 -&gt; /dev/pts/1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   |-- 1 -&gt; /dev/pts/1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   |-- 2 -&gt; /dev/pts/1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   `-- 255 -&gt; /dev/pts/1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|-- map_files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   |-- 560f03ad6000-560f03b0d000 -&gt; /usr/bin/bash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   |-- 560f03b0d000-560f03bdf000 -&gt; /usr/bin/bash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   …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|-- maps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|-- root -&gt; /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|-- status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0" y="732692"/>
            <a:ext cx="91272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Sistema de Ficheros 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/proc/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/proc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expone las estructuras del </a:t>
            </a:r>
            <a:r>
              <a:rPr i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kernel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en un árbol de directorios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 PCB de cada proceso se encuentra en una subdirectorio de la forma </a:t>
            </a:r>
            <a:r>
              <a:rPr lang="es" sz="16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/proc/&lt;PID&gt;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comando ps(1) y top(1) muestran la información de los procesos del sistema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7770000" y="3027425"/>
            <a:ext cx="119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741B47"/>
                </a:solidFill>
                <a:latin typeface="Inter"/>
                <a:ea typeface="Inter"/>
                <a:cs typeface="Inter"/>
                <a:sym typeface="Inter"/>
              </a:rPr>
              <a:t>fs_struct</a:t>
            </a:r>
            <a:endParaRPr b="1" sz="1500">
              <a:solidFill>
                <a:srgbClr val="741B4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7770000" y="5824932"/>
            <a:ext cx="119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741B47"/>
                </a:solidFill>
                <a:latin typeface="Inter"/>
                <a:ea typeface="Inter"/>
                <a:cs typeface="Inter"/>
                <a:sym typeface="Inter"/>
              </a:rPr>
              <a:t>fs_struct</a:t>
            </a:r>
            <a:endParaRPr b="1" sz="1500">
              <a:solidFill>
                <a:srgbClr val="741B47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5"/>
          <p:cNvSpPr txBox="1"/>
          <p:nvPr>
            <p:ph idx="1" type="subTitle"/>
          </p:nvPr>
        </p:nvSpPr>
        <p:spPr>
          <a:xfrm>
            <a:off x="954245" y="76850"/>
            <a:ext cx="81813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lang="es">
                <a:latin typeface="Inter SemiBold"/>
                <a:ea typeface="Inter SemiBold"/>
                <a:cs typeface="Inter SemiBold"/>
                <a:sym typeface="Inter SemiBold"/>
              </a:rPr>
              <a:t>SISTEMAS OPERATIVOS</a:t>
            </a:r>
            <a:endParaRPr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Grado en </a:t>
            </a:r>
            <a:r>
              <a:rPr i="1" lang="es" sz="1400">
                <a:latin typeface="Inter"/>
                <a:ea typeface="Inter"/>
                <a:cs typeface="Inter"/>
                <a:sym typeface="Inter"/>
              </a:rPr>
              <a:t>Desarrollo de Videojuegos</a:t>
            </a:r>
            <a:endParaRPr i="1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Universidad Complutense de Madrid</a:t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8400" y="113285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5"/>
          <p:cNvSpPr txBox="1"/>
          <p:nvPr>
            <p:ph idx="4294967295" type="ctrTitle"/>
          </p:nvPr>
        </p:nvSpPr>
        <p:spPr>
          <a:xfrm>
            <a:off x="534975" y="2720725"/>
            <a:ext cx="86298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TEMA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3.3</a:t>
            </a: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Control de Procesos</a:t>
            </a:r>
            <a:endParaRPr b="0" i="0" sz="3000" u="none" cap="none" strike="noStrike">
              <a:solidFill>
                <a:srgbClr val="4279B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79" name="Google Shape;279;p25" title="Escudo_de_la_Universidad_Complutense_de_Madrid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5" y="76851"/>
            <a:ext cx="799893" cy="91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6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6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Creación de Procesos (I)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86" name="Google Shape;286;p26"/>
          <p:cNvSpPr txBox="1"/>
          <p:nvPr/>
        </p:nvSpPr>
        <p:spPr>
          <a:xfrm>
            <a:off x="0" y="855800"/>
            <a:ext cx="9117600" cy="50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Crear (clonar) un proceso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pid_t fork(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 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Devuelve: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○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En el proceso 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hijo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 el proceso </a:t>
            </a:r>
            <a:r>
              <a:rPr b="1"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padre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PID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del proceso hijo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-1 en caso de </a:t>
            </a:r>
            <a:r>
              <a:rPr b="1"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fallo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no se crea el proceso hijo y se establece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errno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i="1"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kernel 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crea una copia del proceso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padre (task_struct) 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nuevo proceso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: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○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Memoria virtual (</a:t>
            </a:r>
            <a:r>
              <a:rPr i="1" lang="es" sz="1800">
                <a:latin typeface="Inter"/>
                <a:ea typeface="Inter"/>
                <a:cs typeface="Inter"/>
                <a:sym typeface="Inter"/>
              </a:rPr>
              <a:t>copy-on-write)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. Incluido los segmentos de código y datos, y el entorno.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○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Contexto de ejecución (contador de programa)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○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Tabla de descriptores (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close_on_exec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Manejadores de señales.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26"/>
          <p:cNvSpPr txBox="1"/>
          <p:nvPr/>
        </p:nvSpPr>
        <p:spPr>
          <a:xfrm>
            <a:off x="7080389" y="871814"/>
            <a:ext cx="1981200" cy="342900"/>
          </a:xfrm>
          <a:prstGeom prst="rect">
            <a:avLst/>
          </a:prstGeom>
          <a:solidFill>
            <a:srgbClr val="FFFFFF"/>
          </a:solidFill>
          <a:ln cap="rnd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&lt;unistd.h&gt;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7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Creación de Procesos 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94" name="Google Shape;294;p27"/>
          <p:cNvSpPr txBox="1"/>
          <p:nvPr/>
        </p:nvSpPr>
        <p:spPr>
          <a:xfrm>
            <a:off x="85200" y="944875"/>
            <a:ext cx="8973600" cy="57414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2000" spcFirstLastPara="1" rIns="72000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8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 main() {</a:t>
            </a:r>
            <a:endParaRPr sz="1800">
              <a:solidFill>
                <a:srgbClr val="1D111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    pid_t pid;</a:t>
            </a:r>
            <a:endParaRPr sz="1800">
              <a:solidFill>
                <a:srgbClr val="1D111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1D111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    pid = fork();</a:t>
            </a:r>
            <a:endParaRPr sz="1800">
              <a:solidFill>
                <a:srgbClr val="1D111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1D111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BD621A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s" sz="18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switch</a:t>
            </a: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 (pid) {</a:t>
            </a:r>
            <a:endParaRPr sz="1800">
              <a:solidFill>
                <a:srgbClr val="1D111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s" sz="18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b="1" lang="es" sz="1800">
                <a:solidFill>
                  <a:srgbClr val="B1221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800">
              <a:solidFill>
                <a:srgbClr val="1D111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perror(</a:t>
            </a:r>
            <a:r>
              <a:rPr lang="es" sz="1800">
                <a:solidFill>
                  <a:srgbClr val="B12218"/>
                </a:solidFill>
                <a:latin typeface="Courier New"/>
                <a:ea typeface="Courier New"/>
                <a:cs typeface="Courier New"/>
                <a:sym typeface="Courier New"/>
              </a:rPr>
              <a:t>"fork"</a:t>
            </a: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800">
              <a:solidFill>
                <a:srgbClr val="1D111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exit(</a:t>
            </a:r>
            <a:r>
              <a:rPr lang="es" sz="1800">
                <a:solidFill>
                  <a:srgbClr val="B1221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800">
              <a:solidFill>
                <a:srgbClr val="1D111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s" sz="18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s" sz="1800">
                <a:solidFill>
                  <a:srgbClr val="B1221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800">
              <a:solidFill>
                <a:srgbClr val="1D111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printf(</a:t>
            </a:r>
            <a:r>
              <a:rPr lang="es" sz="1800">
                <a:solidFill>
                  <a:srgbClr val="B12218"/>
                </a:solidFill>
                <a:latin typeface="Courier New"/>
                <a:ea typeface="Courier New"/>
                <a:cs typeface="Courier New"/>
                <a:sym typeface="Courier New"/>
              </a:rPr>
              <a:t>"Hijo: </a:t>
            </a:r>
            <a:r>
              <a:rPr lang="es" sz="1800">
                <a:solidFill>
                  <a:srgbClr val="C510C5"/>
                </a:solidFill>
                <a:latin typeface="Courier New"/>
                <a:ea typeface="Courier New"/>
                <a:cs typeface="Courier New"/>
                <a:sym typeface="Courier New"/>
              </a:rPr>
              <a:t>%i</a:t>
            </a:r>
            <a:r>
              <a:rPr lang="es" sz="1800">
                <a:solidFill>
                  <a:srgbClr val="B12218"/>
                </a:solidFill>
                <a:latin typeface="Courier New"/>
                <a:ea typeface="Courier New"/>
                <a:cs typeface="Courier New"/>
                <a:sym typeface="Courier New"/>
              </a:rPr>
              <a:t> (padre: </a:t>
            </a:r>
            <a:r>
              <a:rPr lang="es" sz="1800">
                <a:solidFill>
                  <a:srgbClr val="C510C5"/>
                </a:solidFill>
                <a:latin typeface="Courier New"/>
                <a:ea typeface="Courier New"/>
                <a:cs typeface="Courier New"/>
                <a:sym typeface="Courier New"/>
              </a:rPr>
              <a:t>%i</a:t>
            </a:r>
            <a:r>
              <a:rPr lang="es" sz="1800">
                <a:solidFill>
                  <a:srgbClr val="B1221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" sz="1800">
                <a:solidFill>
                  <a:srgbClr val="C510C5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s" sz="1800">
                <a:solidFill>
                  <a:srgbClr val="B12218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, getpid(), getppid());</a:t>
            </a:r>
            <a:endParaRPr sz="1800">
              <a:solidFill>
                <a:srgbClr val="1D111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es" sz="18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>
              <a:solidFill>
                <a:srgbClr val="1D111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s" sz="18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800">
              <a:solidFill>
                <a:srgbClr val="1D111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printf(</a:t>
            </a:r>
            <a:r>
              <a:rPr lang="es" sz="1800">
                <a:solidFill>
                  <a:srgbClr val="B12218"/>
                </a:solidFill>
                <a:latin typeface="Courier New"/>
                <a:ea typeface="Courier New"/>
                <a:cs typeface="Courier New"/>
                <a:sym typeface="Courier New"/>
              </a:rPr>
              <a:t>"Padre: </a:t>
            </a:r>
            <a:r>
              <a:rPr lang="es" sz="1800">
                <a:solidFill>
                  <a:srgbClr val="C510C5"/>
                </a:solidFill>
                <a:latin typeface="Courier New"/>
                <a:ea typeface="Courier New"/>
                <a:cs typeface="Courier New"/>
                <a:sym typeface="Courier New"/>
              </a:rPr>
              <a:t>%i</a:t>
            </a:r>
            <a:r>
              <a:rPr lang="es" sz="1800">
                <a:solidFill>
                  <a:srgbClr val="B12218"/>
                </a:solidFill>
                <a:latin typeface="Courier New"/>
                <a:ea typeface="Courier New"/>
                <a:cs typeface="Courier New"/>
                <a:sym typeface="Courier New"/>
              </a:rPr>
              <a:t> (hijo: </a:t>
            </a:r>
            <a:r>
              <a:rPr lang="es" sz="1800">
                <a:solidFill>
                  <a:srgbClr val="C510C5"/>
                </a:solidFill>
                <a:latin typeface="Courier New"/>
                <a:ea typeface="Courier New"/>
                <a:cs typeface="Courier New"/>
                <a:sym typeface="Courier New"/>
              </a:rPr>
              <a:t>%i</a:t>
            </a:r>
            <a:r>
              <a:rPr lang="es" sz="1800">
                <a:solidFill>
                  <a:srgbClr val="B12218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" sz="1800">
                <a:solidFill>
                  <a:srgbClr val="C510C5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s" sz="1800">
                <a:solidFill>
                  <a:srgbClr val="B12218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, getpid(), pid);</a:t>
            </a:r>
            <a:endParaRPr sz="1800">
              <a:solidFill>
                <a:srgbClr val="1D111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es" sz="18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>
              <a:solidFill>
                <a:srgbClr val="1D111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800">
              <a:solidFill>
                <a:srgbClr val="1D111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1D111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s" sz="1800">
                <a:solidFill>
                  <a:srgbClr val="E69138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800">
                <a:solidFill>
                  <a:srgbClr val="B1221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>
              <a:solidFill>
                <a:srgbClr val="1D111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1D111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>
              <a:solidFill>
                <a:srgbClr val="1D111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8"/>
          <p:cNvSpPr/>
          <p:nvPr/>
        </p:nvSpPr>
        <p:spPr>
          <a:xfrm>
            <a:off x="1471978" y="4550498"/>
            <a:ext cx="147600" cy="272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3350" lIns="93350" spcFirstLastPara="1" rIns="93350" wrap="square" tIns="93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9"/>
          </a:p>
        </p:txBody>
      </p:sp>
      <p:sp>
        <p:nvSpPr>
          <p:cNvPr id="300" name="Google Shape;300;p28"/>
          <p:cNvSpPr/>
          <p:nvPr/>
        </p:nvSpPr>
        <p:spPr>
          <a:xfrm>
            <a:off x="1408175" y="3656650"/>
            <a:ext cx="147600" cy="1318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3350" lIns="93350" spcFirstLastPara="1" rIns="93350" wrap="square" tIns="93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9"/>
          </a:p>
        </p:txBody>
      </p:sp>
      <p:sp>
        <p:nvSpPr>
          <p:cNvPr id="301" name="Google Shape;301;p28"/>
          <p:cNvSpPr/>
          <p:nvPr/>
        </p:nvSpPr>
        <p:spPr>
          <a:xfrm>
            <a:off x="1297797" y="2882691"/>
            <a:ext cx="117000" cy="2092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3350" lIns="93350" spcFirstLastPara="1" rIns="93350" wrap="square" tIns="93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9"/>
          </a:p>
        </p:txBody>
      </p:sp>
      <p:sp>
        <p:nvSpPr>
          <p:cNvPr id="302" name="Google Shape;302;p28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8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Creación de Procesos 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04" name="Google Shape;304;p28"/>
          <p:cNvSpPr txBox="1"/>
          <p:nvPr/>
        </p:nvSpPr>
        <p:spPr>
          <a:xfrm>
            <a:off x="2110200" y="5591750"/>
            <a:ext cx="4494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Argumentos en modo</a:t>
            </a:r>
            <a:r>
              <a:rPr b="1" lang="es" sz="1700">
                <a:solidFill>
                  <a:srgbClr val="6AA84F"/>
                </a:solidFill>
                <a:latin typeface="Inter"/>
                <a:ea typeface="Inter"/>
                <a:cs typeface="Inter"/>
                <a:sym typeface="Inter"/>
              </a:rPr>
              <a:t> lista (</a:t>
            </a:r>
            <a:r>
              <a:rPr b="1" lang="es" sz="17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b="1" lang="es" sz="1700">
                <a:solidFill>
                  <a:srgbClr val="6AA84F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b="1" lang="es" sz="1700">
                <a:solidFill>
                  <a:srgbClr val="3D85C6"/>
                </a:solidFill>
                <a:latin typeface="Inter"/>
                <a:ea typeface="Inter"/>
                <a:cs typeface="Inter"/>
                <a:sym typeface="Inter"/>
              </a:rPr>
              <a:t>vector (</a:t>
            </a:r>
            <a:r>
              <a:rPr b="1" lang="es" sz="1700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1" lang="es" sz="1700">
                <a:solidFill>
                  <a:srgbClr val="3D85C6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1" sz="1700">
              <a:solidFill>
                <a:srgbClr val="3D85C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05" name="Google Shape;305;p28"/>
          <p:cNvCxnSpPr>
            <a:stCxn id="301" idx="2"/>
            <a:endCxn id="304" idx="1"/>
          </p:cNvCxnSpPr>
          <p:nvPr/>
        </p:nvCxnSpPr>
        <p:spPr>
          <a:xfrm flipH="1" rot="-5400000">
            <a:off x="1313397" y="5018091"/>
            <a:ext cx="839700" cy="753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6" name="Google Shape;306;p28"/>
          <p:cNvSpPr txBox="1"/>
          <p:nvPr/>
        </p:nvSpPr>
        <p:spPr>
          <a:xfrm>
            <a:off x="2262600" y="5058350"/>
            <a:ext cx="6742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Busca el ejecutable en el </a:t>
            </a:r>
            <a:r>
              <a:rPr b="1" lang="es" sz="1700">
                <a:solidFill>
                  <a:srgbClr val="A64D79"/>
                </a:solidFill>
                <a:latin typeface="Inter"/>
                <a:ea typeface="Inter"/>
                <a:cs typeface="Inter"/>
                <a:sym typeface="Inter"/>
              </a:rPr>
              <a:t>path (</a:t>
            </a:r>
            <a:r>
              <a:rPr b="1" lang="es" sz="17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1" lang="es" sz="1700">
                <a:solidFill>
                  <a:srgbClr val="A64D79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r>
              <a:rPr lang="es" sz="1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especifica el </a:t>
            </a:r>
            <a:r>
              <a:rPr b="1" lang="es" sz="1700">
                <a:solidFill>
                  <a:srgbClr val="674EA7"/>
                </a:solidFill>
                <a:latin typeface="Inter"/>
                <a:ea typeface="Inter"/>
                <a:cs typeface="Inter"/>
                <a:sym typeface="Inter"/>
              </a:rPr>
              <a:t>entorno (</a:t>
            </a:r>
            <a:r>
              <a:rPr b="1" lang="es" sz="1700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b="1" lang="es" sz="1700">
                <a:solidFill>
                  <a:srgbClr val="674EA7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1" sz="1700">
              <a:solidFill>
                <a:srgbClr val="674EA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07" name="Google Shape;307;p28"/>
          <p:cNvCxnSpPr>
            <a:stCxn id="300" idx="2"/>
            <a:endCxn id="306" idx="1"/>
          </p:cNvCxnSpPr>
          <p:nvPr/>
        </p:nvCxnSpPr>
        <p:spPr>
          <a:xfrm flipH="1" rot="-5400000">
            <a:off x="1719275" y="4738150"/>
            <a:ext cx="306000" cy="780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8" name="Google Shape;308;p28"/>
          <p:cNvSpPr txBox="1"/>
          <p:nvPr/>
        </p:nvSpPr>
        <p:spPr>
          <a:xfrm>
            <a:off x="147861" y="910500"/>
            <a:ext cx="8814300" cy="42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Ejecutar un programa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Reemplaza la imagen del proceso actual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por una nueva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path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es la ruta a un ejecutable ELF (o un </a:t>
            </a:r>
            <a:r>
              <a:rPr i="1"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script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primer elemento de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argv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es el nombre del programa y el último es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Las familia de funciones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exec(3)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usa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execve(2)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/>
              <a:t>  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exec</a:t>
            </a:r>
            <a:r>
              <a:rPr b="1" lang="es" sz="1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char *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path, 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const char *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a0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s" sz="1800">
                <a:latin typeface="Consolas"/>
                <a:ea typeface="Consolas"/>
                <a:cs typeface="Consolas"/>
                <a:sym typeface="Consolas"/>
              </a:rPr>
              <a:t>…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exec</a:t>
            </a:r>
            <a:r>
              <a:rPr b="1"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char *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path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char *const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argv[]);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exec</a:t>
            </a:r>
            <a:r>
              <a:rPr b="1" lang="es" sz="1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b="1" lang="es" sz="18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char *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file, 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a0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s" sz="1800">
                <a:latin typeface="Consolas"/>
                <a:ea typeface="Consolas"/>
                <a:cs typeface="Consolas"/>
                <a:sym typeface="Consolas"/>
              </a:rPr>
              <a:t> …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exec</a:t>
            </a:r>
            <a:r>
              <a:rPr b="1"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1" lang="es" sz="18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char *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char *const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arg[]);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exec</a:t>
            </a:r>
            <a:r>
              <a:rPr b="1" lang="es" sz="1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b="1" lang="es" sz="1800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char *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path, 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const char *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a0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s" sz="1800">
                <a:latin typeface="Consolas"/>
                <a:ea typeface="Consolas"/>
                <a:cs typeface="Consolas"/>
                <a:sym typeface="Consolas"/>
              </a:rPr>
              <a:t>…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s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char *const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env[]);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exec</a:t>
            </a:r>
            <a:r>
              <a:rPr b="1"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1" lang="es" sz="1800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char *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path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char *const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arg[], 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char *const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env[]);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exec</a:t>
            </a:r>
            <a:r>
              <a:rPr b="1"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1" lang="es" sz="18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1" lang="es" sz="1800">
                <a:solidFill>
                  <a:srgbClr val="674EA7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const char *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file, 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char *const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arg[], 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char *const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env[]);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9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9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Terminación</a:t>
            </a: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de Procesos (I)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15" name="Google Shape;315;p29"/>
          <p:cNvSpPr txBox="1"/>
          <p:nvPr/>
        </p:nvSpPr>
        <p:spPr>
          <a:xfrm>
            <a:off x="0" y="758100"/>
            <a:ext cx="9144000" cy="58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 proceso puede finalizar: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Voluntariamente, llamando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_exit(2)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(o ejecutando 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desde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main()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 recibir una señal (múltiples causas)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Finalización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voluntaria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el proceso: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void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_exit(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int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status);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status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es el estado de salida, que debe ser un número menor que 255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Inter"/>
              <a:buChar char="■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Por convenio, 0 (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EXIT_SUCCESS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 indica éxito y 1 (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EXIT_FAILURE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 error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Inter"/>
              <a:buChar char="■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 devolver nunca errno ni -1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Inter"/>
              <a:buChar char="■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Accesible en la </a:t>
            </a:r>
            <a:r>
              <a:rPr i="1"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shell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vía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$? 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en el proceso padre vía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wait(2)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Los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descriptores de fichero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abiertos por el proceso se cierran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proceso padre recibe la señal SIGCHLD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 función 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exit(3)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llama a las funciones registradas con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atexit(3)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on_exit(3)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vacía y cierra los </a:t>
            </a:r>
            <a:r>
              <a:rPr i="1"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streams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abiertos de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stdio(3)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elimina los ficheros temporales creados por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tmpfile(3)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y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finalmente ejecuta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_exit(2)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0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Terminación de Procesos 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22" name="Google Shape;322;p30"/>
          <p:cNvSpPr txBox="1"/>
          <p:nvPr/>
        </p:nvSpPr>
        <p:spPr>
          <a:xfrm>
            <a:off x="0" y="681900"/>
            <a:ext cx="9144000" cy="6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Estado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Zombi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: U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proceso termina y su padre no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sincroniza la finalización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Esperar a que un proceso hijo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termine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pid_t wait(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wstatus); 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pid_t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waitpid(pid_t pid, 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wstatus, 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options); 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SzPts val="1600"/>
              <a:buChar char="○"/>
            </a:pPr>
            <a:r>
              <a:rPr b="1" lang="es" sz="16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pid</a:t>
            </a:r>
            <a:r>
              <a:rPr lang="e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especifica a qué procesos hijos esperar: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■"/>
            </a:pPr>
            <a:r>
              <a:rPr lang="e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 0</a:t>
            </a:r>
            <a:r>
              <a:rPr lang="e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El proceso cuyo </a:t>
            </a:r>
            <a:r>
              <a:rPr lang="e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PID</a:t>
            </a:r>
            <a:r>
              <a:rPr lang="e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es pid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Inter"/>
              <a:buChar char="■"/>
            </a:pPr>
            <a:r>
              <a:rPr lang="e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0</a:t>
            </a:r>
            <a:r>
              <a:rPr lang="e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Cualquier proceso hijo de su grupo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■"/>
            </a:pPr>
            <a:r>
              <a:rPr lang="es" sz="16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-1</a:t>
            </a:r>
            <a:r>
              <a:rPr lang="e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Cualquier proceso hijo (igual que wait(2))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■"/>
            </a:pPr>
            <a:r>
              <a:rPr lang="e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&lt;-1</a:t>
            </a:r>
            <a:r>
              <a:rPr lang="e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Un proceso  hijo cuyo PGID es -pid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b="1" lang="es" sz="16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options</a:t>
            </a:r>
            <a:r>
              <a:rPr lang="e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es una OR bit a bit de las siguientes opciones: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■"/>
            </a:pPr>
            <a:r>
              <a:rPr lang="e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WNOHANG</a:t>
            </a:r>
            <a:r>
              <a:rPr lang="e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retorna sin esperar si no hay hijos que hayan terminado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■"/>
            </a:pPr>
            <a:r>
              <a:rPr lang="e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WUNTRACED</a:t>
            </a:r>
            <a:r>
              <a:rPr lang="e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retorna si un proceso hijo ha sido detenido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■"/>
            </a:pPr>
            <a:r>
              <a:rPr lang="e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WCONTINUED</a:t>
            </a:r>
            <a:r>
              <a:rPr lang="e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retorna si un proceso hijo detenido ha sido reanudado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b="1" lang="es" sz="16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wstatus</a:t>
            </a:r>
            <a:r>
              <a:rPr lang="e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contiene información de estado, que puede consultarse con las macros: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Char char="■"/>
            </a:pPr>
            <a:r>
              <a:rPr lang="e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WIFEXITED(s)</a:t>
            </a:r>
            <a:r>
              <a:rPr lang="e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indica si el hijo terminó normalmente con _exit(2)</a:t>
            </a:r>
            <a:r>
              <a:rPr lang="es" sz="1600">
                <a:latin typeface="Inter"/>
                <a:ea typeface="Inter"/>
                <a:cs typeface="Inter"/>
                <a:sym typeface="Inter"/>
              </a:rPr>
              <a:t>. E</a:t>
            </a:r>
            <a:r>
              <a:rPr lang="e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 ese caso, </a:t>
            </a:r>
            <a:r>
              <a:rPr lang="e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WEXITSTATUS(s)</a:t>
            </a:r>
            <a:r>
              <a:rPr lang="e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devuelve el estado de salida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2" marL="13716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900"/>
              <a:buChar char="■"/>
            </a:pPr>
            <a:r>
              <a:rPr lang="e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WIFSIGNALED(s)</a:t>
            </a:r>
            <a:r>
              <a:rPr lang="e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indica si el hijo terminó al recibir una señal</a:t>
            </a:r>
            <a:r>
              <a:rPr lang="es" sz="1600">
                <a:latin typeface="Inter"/>
                <a:ea typeface="Inter"/>
                <a:cs typeface="Inter"/>
                <a:sym typeface="Inter"/>
              </a:rPr>
              <a:t>.</a:t>
            </a:r>
            <a:r>
              <a:rPr lang="e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600"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 ese caso, </a:t>
            </a:r>
            <a:r>
              <a:rPr lang="e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WTERMSIG(s)</a:t>
            </a:r>
            <a:r>
              <a:rPr lang="e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devuelve el número de la señal recibida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Devuelve el </a:t>
            </a:r>
            <a:r>
              <a:rPr lang="e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PID</a:t>
            </a:r>
            <a:r>
              <a:rPr lang="e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del hijo terminado o -1 en caso de error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1"/>
          <p:cNvSpPr txBox="1"/>
          <p:nvPr/>
        </p:nvSpPr>
        <p:spPr>
          <a:xfrm>
            <a:off x="0" y="758100"/>
            <a:ext cx="9144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proceso init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es el primer proceso que arranca el </a:t>
            </a:r>
            <a:r>
              <a:rPr i="1" lang="es" sz="1800">
                <a:latin typeface="Inter"/>
                <a:ea typeface="Inter"/>
                <a:cs typeface="Inter"/>
                <a:sym typeface="Inter"/>
              </a:rPr>
              <a:t>kernel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después de inicializar el sistema. Ejemplos: 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systemd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OpenRC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,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sysvinit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…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El proceso init se encarga de: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○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Gestionar los servicios del sistema (red, login, montaje de sistemas de ficheros, terminales de control…)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○"/>
            </a:pPr>
            <a:r>
              <a:rPr b="1" i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subreaper</a:t>
            </a:r>
            <a:r>
              <a:rPr i="1" lang="es" sz="18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(ver 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PR_SET_CHILD_SUBREAPER(2const)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). </a:t>
            </a:r>
            <a:r>
              <a:rPr i="1" lang="es" sz="1800">
                <a:latin typeface="Inter"/>
                <a:ea typeface="Inter"/>
                <a:cs typeface="Inter"/>
                <a:sym typeface="Inter"/>
              </a:rPr>
              <a:t>Adopta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a los procesos huérfanos (proceso padre terminado) y ejecuta 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wait()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para recoger los procesos zombie.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1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Terminación de Procesos (III)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2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2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Envío de Señales (I)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36" name="Google Shape;336;p32"/>
          <p:cNvSpPr txBox="1"/>
          <p:nvPr/>
        </p:nvSpPr>
        <p:spPr>
          <a:xfrm>
            <a:off x="0" y="758100"/>
            <a:ext cx="9144000" cy="6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Las señales son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interrupciones software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, que informan a un proceso de la ocurrencia de un evento de forma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asíncrona</a:t>
            </a:r>
            <a:endParaRPr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Las genera un proceso o el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núcleo del sistema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Las opciones en la ocurrencia de un evento son: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○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Realizar la acción por defecto asociada a la señal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.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Capturar la señal con una funci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ón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manejador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.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80"/>
              </a:spcBef>
              <a:spcAft>
                <a:spcPts val="0"/>
              </a:spcAft>
              <a:buSzPts val="1800"/>
              <a:buFont typeface="Inter"/>
              <a:buChar char="○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Bloquear la señal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Inter"/>
              <a:buChar char="○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Ignorar la señal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Algunas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señales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: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SIGINT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Interrupción. Se puede generar con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Ctrl+C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b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=terminar proceso)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SIGSTOP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Parar proceso.</a:t>
            </a:r>
            <a:r>
              <a:rPr lang="es" sz="16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No se puede capturar, bloquear ni ignorar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b="1" lang="es" sz="1600">
                <a:solidFill>
                  <a:srgbClr val="A64D79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=parar)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SIGTSTP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Parar proceso. Se puede generar con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Ctrl+Z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b="1" lang="es" sz="1600">
                <a:solidFill>
                  <a:srgbClr val="A64D79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SIGCONT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Reanudar proceso parado (continuar)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SIGKILL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(9): Terminación brusca. </a:t>
            </a:r>
            <a:r>
              <a:rPr lang="es" sz="16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se puede capturar, bloquear ni ignorar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b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SIGSEGV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Violación de segmento </a:t>
            </a:r>
            <a:r>
              <a:rPr i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 datos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b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1" lang="es" sz="1600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=core, volcado de memoria)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SIGTERM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Terminar proceso (</a:t>
            </a:r>
            <a:r>
              <a:rPr b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SIGCHLD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Terminación del proceso hijo (</a:t>
            </a:r>
            <a:r>
              <a:rPr b="1" lang="es" sz="1600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ignorar)</a:t>
            </a:r>
            <a:endParaRPr sz="16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7266475" y="6242700"/>
            <a:ext cx="1629000" cy="4434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signal(7)</a:t>
            </a:r>
            <a:endParaRPr b="1" sz="2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3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Envío de Señales 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44" name="Google Shape;344;p33"/>
          <p:cNvSpPr txBox="1"/>
          <p:nvPr/>
        </p:nvSpPr>
        <p:spPr>
          <a:xfrm>
            <a:off x="0" y="758100"/>
            <a:ext cx="9144000" cy="6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Enviar una señal a un proceso: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kill(pid_t pid, </a:t>
            </a:r>
            <a:r>
              <a:rPr b="1"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signal);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Char char="○"/>
            </a:pP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pid</a:t>
            </a:r>
            <a:r>
              <a:rPr b="1" lang="es" sz="1800">
                <a:solidFill>
                  <a:srgbClr val="000000"/>
                </a:solidFill>
              </a:rPr>
              <a:t>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indica a qué procesos se enviará la señal: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857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nsolas"/>
              <a:buChar char="■"/>
            </a:pP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&gt;0:</a:t>
            </a:r>
            <a:r>
              <a:rPr lang="es" sz="1800">
                <a:solidFill>
                  <a:srgbClr val="000000"/>
                </a:solidFill>
              </a:rPr>
              <a:t> Al proceso con ese PID</a:t>
            </a:r>
            <a:endParaRPr sz="1800">
              <a:solidFill>
                <a:srgbClr val="000000"/>
              </a:solidFill>
            </a:endParaRPr>
          </a:p>
          <a:p>
            <a:pPr indent="-2857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nsolas"/>
              <a:buChar char="■"/>
            </a:pP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0:</a:t>
            </a:r>
            <a:r>
              <a:rPr lang="es" sz="1800">
                <a:solidFill>
                  <a:srgbClr val="000000"/>
                </a:solidFill>
              </a:rPr>
              <a:t> A todos los procesos de su grupo</a:t>
            </a:r>
            <a:endParaRPr sz="1800">
              <a:solidFill>
                <a:srgbClr val="000000"/>
              </a:solidFill>
            </a:endParaRPr>
          </a:p>
          <a:p>
            <a:pPr indent="-2857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nsolas"/>
              <a:buChar char="■"/>
            </a:pP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-1:</a:t>
            </a:r>
            <a:r>
              <a:rPr lang="es" sz="1800">
                <a:solidFill>
                  <a:srgbClr val="000000"/>
                </a:solidFill>
              </a:rPr>
              <a:t> A todos los procesos (de mayor a menor), excepto init y el </a:t>
            </a:r>
            <a:r>
              <a:rPr lang="es" sz="1800"/>
              <a:t>proceso</a:t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nsolas"/>
              <a:buChar char="■"/>
            </a:pP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&lt;-1:</a:t>
            </a:r>
            <a:r>
              <a:rPr lang="es" sz="1800"/>
              <a:t> 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todos los procesos del grupo cuyo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PGID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es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-pid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Char char="○"/>
            </a:pP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s" sz="1800">
                <a:solidFill>
                  <a:srgbClr val="000000"/>
                </a:solidFill>
              </a:rPr>
              <a:t> 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 la señal que se enviará (si es 0, se simula el envío)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comando 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kill(1)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, también </a:t>
            </a:r>
            <a:r>
              <a:rPr i="1" lang="es" sz="1800">
                <a:latin typeface="Courier New"/>
                <a:ea typeface="Courier New"/>
                <a:cs typeface="Courier New"/>
                <a:sym typeface="Courier New"/>
              </a:rPr>
              <a:t>built-in</a:t>
            </a:r>
            <a:r>
              <a:rPr i="1" lang="es" sz="18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 la </a:t>
            </a:r>
            <a:r>
              <a:rPr i="1"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shell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expone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esta funcionalidad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Llamadas equivalentes: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raise(</a:t>
            </a:r>
            <a:r>
              <a:rPr b="1"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signal);</a:t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abort(</a:t>
            </a:r>
            <a:r>
              <a:rPr b="1"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Char char="○"/>
            </a:pP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raise(signal) ⇒ kill(getpid(), signal)</a:t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Char char="○"/>
            </a:pPr>
            <a:r>
              <a:rPr lang="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abort() ⇒ kill(getpid(), SIGABRT)</a:t>
            </a:r>
            <a:endParaRPr sz="1800"/>
          </a:p>
        </p:txBody>
      </p:sp>
      <p:grpSp>
        <p:nvGrpSpPr>
          <p:cNvPr id="345" name="Google Shape;345;p33"/>
          <p:cNvGrpSpPr/>
          <p:nvPr/>
        </p:nvGrpSpPr>
        <p:grpSpPr>
          <a:xfrm>
            <a:off x="6963910" y="858982"/>
            <a:ext cx="2095227" cy="762000"/>
            <a:chOff x="5748723" y="1392382"/>
            <a:chExt cx="1642800" cy="762000"/>
          </a:xfrm>
        </p:grpSpPr>
        <p:sp>
          <p:nvSpPr>
            <p:cNvPr id="346" name="Google Shape;346;p33"/>
            <p:cNvSpPr txBox="1"/>
            <p:nvPr/>
          </p:nvSpPr>
          <p:spPr>
            <a:xfrm>
              <a:off x="5748723" y="1773382"/>
              <a:ext cx="1642800" cy="381000"/>
            </a:xfrm>
            <a:prstGeom prst="rect">
              <a:avLst/>
            </a:pr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ourier New"/>
                <a:buNone/>
              </a:pPr>
              <a:r>
                <a:rPr b="0" i="0" lang="es" sz="1800" u="none" cap="none" strike="noStrike">
                  <a:solidFill>
                    <a:srgbClr val="000000"/>
                  </a:solidFill>
                </a:rPr>
                <a:t>SV+BSD+POSIX</a:t>
              </a:r>
              <a:endParaRPr b="0" i="0" sz="1800" u="none" cap="none" strike="noStrike"/>
            </a:p>
          </p:txBody>
        </p:sp>
        <p:sp>
          <p:nvSpPr>
            <p:cNvPr id="347" name="Google Shape;347;p33"/>
            <p:cNvSpPr txBox="1"/>
            <p:nvPr/>
          </p:nvSpPr>
          <p:spPr>
            <a:xfrm>
              <a:off x="5748723" y="1392382"/>
              <a:ext cx="1642800" cy="381000"/>
            </a:xfrm>
            <a:prstGeom prst="rect">
              <a:avLst/>
            </a:prstGeom>
            <a:solidFill>
              <a:srgbClr val="FFFFFF"/>
            </a:solidFill>
            <a:ln cap="rnd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ourier New"/>
                <a:buNone/>
              </a:pPr>
              <a:r>
                <a:rPr b="0" i="0" lang="es" sz="1800" u="none" cap="none" strike="noStrik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&lt;signal.h&gt;</a:t>
              </a:r>
              <a:endParaRPr b="0" i="0" sz="1800" u="none" cap="none" strike="noStrike"/>
            </a:p>
          </p:txBody>
        </p:sp>
      </p:grpSp>
      <p:sp>
        <p:nvSpPr>
          <p:cNvPr id="348" name="Google Shape;348;p33"/>
          <p:cNvSpPr txBox="1"/>
          <p:nvPr/>
        </p:nvSpPr>
        <p:spPr>
          <a:xfrm>
            <a:off x="6981986" y="5028407"/>
            <a:ext cx="2077151" cy="381000"/>
          </a:xfrm>
          <a:prstGeom prst="rect">
            <a:avLst/>
          </a:prstGeom>
          <a:noFill/>
          <a:ln cap="rnd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ourier New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&lt;stdlib.h&gt;</a:t>
            </a:r>
            <a:endParaRPr b="0" i="0" sz="1800" u="none" cap="none" strike="noStrike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/>
          <p:nvPr>
            <p:ph idx="1" type="subTitle"/>
          </p:nvPr>
        </p:nvSpPr>
        <p:spPr>
          <a:xfrm>
            <a:off x="954245" y="76850"/>
            <a:ext cx="81813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lang="es">
                <a:latin typeface="Inter SemiBold"/>
                <a:ea typeface="Inter SemiBold"/>
                <a:cs typeface="Inter SemiBold"/>
                <a:sym typeface="Inter SemiBold"/>
              </a:rPr>
              <a:t>SISTEMAS OPERATIVOS</a:t>
            </a:r>
            <a:endParaRPr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Grado en </a:t>
            </a:r>
            <a:r>
              <a:rPr i="1" lang="es" sz="1400">
                <a:latin typeface="Inter"/>
                <a:ea typeface="Inter"/>
                <a:cs typeface="Inter"/>
                <a:sym typeface="Inter"/>
              </a:rPr>
              <a:t>Desarrollo de Videojuegos</a:t>
            </a:r>
            <a:endParaRPr i="1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Universidad Complutense de Madrid</a:t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6" name="Google Shape;356;p34"/>
          <p:cNvSpPr/>
          <p:nvPr/>
        </p:nvSpPr>
        <p:spPr>
          <a:xfrm>
            <a:off x="8400" y="113285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4"/>
          <p:cNvSpPr txBox="1"/>
          <p:nvPr>
            <p:ph idx="4294967295" type="ctrTitle"/>
          </p:nvPr>
        </p:nvSpPr>
        <p:spPr>
          <a:xfrm>
            <a:off x="534975" y="2720725"/>
            <a:ext cx="86298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TEMA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3.4</a:t>
            </a: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Grupos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 de Procesos</a:t>
            </a:r>
            <a:endParaRPr b="0" i="0" sz="3000" u="none" cap="none" strike="noStrike">
              <a:solidFill>
                <a:srgbClr val="4279B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58" name="Google Shape;358;p34" title="Escudo_de_la_Universidad_Complutense_de_Madrid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5" y="76851"/>
            <a:ext cx="799893" cy="91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3" name="Google Shape;363;p35"/>
          <p:cNvCxnSpPr>
            <a:endCxn id="364" idx="1"/>
          </p:cNvCxnSpPr>
          <p:nvPr/>
        </p:nvCxnSpPr>
        <p:spPr>
          <a:xfrm>
            <a:off x="4487075" y="1609652"/>
            <a:ext cx="166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65" name="Google Shape;365;p35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5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Sesiones y Grupos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67" name="Google Shape;367;p35"/>
          <p:cNvSpPr/>
          <p:nvPr/>
        </p:nvSpPr>
        <p:spPr>
          <a:xfrm>
            <a:off x="214975" y="810500"/>
            <a:ext cx="4555800" cy="3891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5"/>
          <p:cNvSpPr txBox="1"/>
          <p:nvPr/>
        </p:nvSpPr>
        <p:spPr>
          <a:xfrm>
            <a:off x="162679" y="4378567"/>
            <a:ext cx="304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Session ID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9" name="Google Shape;369;p35"/>
          <p:cNvSpPr/>
          <p:nvPr/>
        </p:nvSpPr>
        <p:spPr>
          <a:xfrm>
            <a:off x="1839800" y="853477"/>
            <a:ext cx="2837700" cy="1834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0" name="Google Shape;370;p35"/>
          <p:cNvGrpSpPr/>
          <p:nvPr/>
        </p:nvGrpSpPr>
        <p:grpSpPr>
          <a:xfrm>
            <a:off x="2000550" y="960973"/>
            <a:ext cx="1089300" cy="1390500"/>
            <a:chOff x="1619550" y="3454075"/>
            <a:chExt cx="1089300" cy="1390500"/>
          </a:xfrm>
        </p:grpSpPr>
        <p:sp>
          <p:nvSpPr>
            <p:cNvPr id="371" name="Google Shape;371;p35"/>
            <p:cNvSpPr txBox="1"/>
            <p:nvPr/>
          </p:nvSpPr>
          <p:spPr>
            <a:xfrm>
              <a:off x="1619550" y="3454075"/>
              <a:ext cx="1089300" cy="1390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ls -l</a:t>
              </a:r>
              <a:endParaRPr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PID:  </a:t>
              </a:r>
              <a:r>
                <a:rPr b="1"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134</a:t>
              </a:r>
              <a:endParaRPr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PPID: 100</a:t>
              </a:r>
              <a:endParaRPr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PGID: </a:t>
              </a:r>
              <a:r>
                <a:rPr b="1" lang="es">
                  <a:solidFill>
                    <a:srgbClr val="6AA84F"/>
                  </a:solidFill>
                  <a:latin typeface="Consolas"/>
                  <a:ea typeface="Consolas"/>
                  <a:cs typeface="Consolas"/>
                  <a:sym typeface="Consolas"/>
                </a:rPr>
                <a:t>134</a:t>
              </a:r>
              <a:endParaRPr b="1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SID:  100</a:t>
              </a:r>
              <a:endParaRPr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372" name="Google Shape;372;p35"/>
            <p:cNvCxnSpPr/>
            <p:nvPr/>
          </p:nvCxnSpPr>
          <p:spPr>
            <a:xfrm>
              <a:off x="1626725" y="3812400"/>
              <a:ext cx="108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73" name="Google Shape;373;p35"/>
          <p:cNvGrpSpPr/>
          <p:nvPr/>
        </p:nvGrpSpPr>
        <p:grpSpPr>
          <a:xfrm>
            <a:off x="3372150" y="960973"/>
            <a:ext cx="1089300" cy="1390500"/>
            <a:chOff x="1619550" y="3454075"/>
            <a:chExt cx="1089300" cy="1390500"/>
          </a:xfrm>
        </p:grpSpPr>
        <p:sp>
          <p:nvSpPr>
            <p:cNvPr id="374" name="Google Shape;374;p35"/>
            <p:cNvSpPr txBox="1"/>
            <p:nvPr/>
          </p:nvSpPr>
          <p:spPr>
            <a:xfrm>
              <a:off x="1619550" y="3454075"/>
              <a:ext cx="1089300" cy="1390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grep txt</a:t>
              </a:r>
              <a:endParaRPr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PID:  136</a:t>
              </a:r>
              <a:endParaRPr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PPID: 100</a:t>
              </a:r>
              <a:endParaRPr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PGID: 134</a:t>
              </a:r>
              <a:endParaRPr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SID:  100</a:t>
              </a:r>
              <a:endParaRPr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375" name="Google Shape;375;p35"/>
            <p:cNvCxnSpPr/>
            <p:nvPr/>
          </p:nvCxnSpPr>
          <p:spPr>
            <a:xfrm>
              <a:off x="1626725" y="3812400"/>
              <a:ext cx="108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76" name="Google Shape;376;p35"/>
          <p:cNvSpPr/>
          <p:nvPr/>
        </p:nvSpPr>
        <p:spPr>
          <a:xfrm>
            <a:off x="1839800" y="2779975"/>
            <a:ext cx="2837700" cy="1834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5"/>
          <p:cNvSpPr txBox="1"/>
          <p:nvPr/>
        </p:nvSpPr>
        <p:spPr>
          <a:xfrm>
            <a:off x="1889965" y="4256473"/>
            <a:ext cx="254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Grupo de procesos</a:t>
            </a:r>
            <a:r>
              <a:rPr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: 312</a:t>
            </a:r>
            <a:endParaRPr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78" name="Google Shape;378;p35"/>
          <p:cNvGrpSpPr/>
          <p:nvPr/>
        </p:nvGrpSpPr>
        <p:grpSpPr>
          <a:xfrm>
            <a:off x="2000550" y="2899177"/>
            <a:ext cx="1089300" cy="1390500"/>
            <a:chOff x="1619550" y="3454075"/>
            <a:chExt cx="1089300" cy="1390500"/>
          </a:xfrm>
        </p:grpSpPr>
        <p:sp>
          <p:nvSpPr>
            <p:cNvPr id="379" name="Google Shape;379;p35"/>
            <p:cNvSpPr txBox="1"/>
            <p:nvPr/>
          </p:nvSpPr>
          <p:spPr>
            <a:xfrm>
              <a:off x="1619550" y="3454075"/>
              <a:ext cx="1089300" cy="1390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ps -e</a:t>
              </a:r>
              <a:endParaRPr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PID:  </a:t>
              </a:r>
              <a:r>
                <a:rPr b="1"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312</a:t>
              </a:r>
              <a:endParaRPr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PPID: 100</a:t>
              </a:r>
              <a:endParaRPr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PGID: </a:t>
              </a:r>
              <a:r>
                <a:rPr b="1" lang="es">
                  <a:solidFill>
                    <a:srgbClr val="6AA84F"/>
                  </a:solidFill>
                  <a:latin typeface="Consolas"/>
                  <a:ea typeface="Consolas"/>
                  <a:cs typeface="Consolas"/>
                  <a:sym typeface="Consolas"/>
                </a:rPr>
                <a:t>312</a:t>
              </a:r>
              <a:endParaRPr b="1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SID:  100</a:t>
              </a:r>
              <a:endParaRPr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380" name="Google Shape;380;p35"/>
            <p:cNvCxnSpPr/>
            <p:nvPr/>
          </p:nvCxnSpPr>
          <p:spPr>
            <a:xfrm>
              <a:off x="1626725" y="3812400"/>
              <a:ext cx="108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1" name="Google Shape;381;p35"/>
          <p:cNvGrpSpPr/>
          <p:nvPr/>
        </p:nvGrpSpPr>
        <p:grpSpPr>
          <a:xfrm>
            <a:off x="3372150" y="2899177"/>
            <a:ext cx="1089300" cy="1390500"/>
            <a:chOff x="1619550" y="3454075"/>
            <a:chExt cx="1089300" cy="1390500"/>
          </a:xfrm>
        </p:grpSpPr>
        <p:sp>
          <p:nvSpPr>
            <p:cNvPr id="382" name="Google Shape;382;p35"/>
            <p:cNvSpPr txBox="1"/>
            <p:nvPr/>
          </p:nvSpPr>
          <p:spPr>
            <a:xfrm>
              <a:off x="1619550" y="3454075"/>
              <a:ext cx="1089300" cy="1390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wc -l</a:t>
              </a:r>
              <a:endParaRPr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PID:  313</a:t>
              </a:r>
              <a:endParaRPr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PPID: 100</a:t>
              </a:r>
              <a:endParaRPr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PGID: 312</a:t>
              </a:r>
              <a:endParaRPr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SID:  100</a:t>
              </a:r>
              <a:endParaRPr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383" name="Google Shape;383;p35"/>
            <p:cNvCxnSpPr/>
            <p:nvPr/>
          </p:nvCxnSpPr>
          <p:spPr>
            <a:xfrm>
              <a:off x="1626725" y="3812400"/>
              <a:ext cx="1082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4" name="Google Shape;384;p35"/>
          <p:cNvSpPr txBox="1"/>
          <p:nvPr/>
        </p:nvSpPr>
        <p:spPr>
          <a:xfrm>
            <a:off x="1889965" y="2329975"/>
            <a:ext cx="254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Grupo de procesos</a:t>
            </a:r>
            <a:r>
              <a:rPr lang="es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: 134</a:t>
            </a:r>
            <a:endParaRPr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64" name="Google Shape;364;p35" title="3c1cbc894a7713f6a2ae5daa3a164eb436359325_2_664x5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3575" y="765565"/>
            <a:ext cx="2241900" cy="168817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5"/>
          <p:cNvSpPr txBox="1"/>
          <p:nvPr/>
        </p:nvSpPr>
        <p:spPr>
          <a:xfrm>
            <a:off x="4910500" y="3754006"/>
            <a:ext cx="1825800" cy="400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Leader de la sesión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6" name="Google Shape;386;p35"/>
          <p:cNvSpPr txBox="1"/>
          <p:nvPr/>
        </p:nvSpPr>
        <p:spPr>
          <a:xfrm>
            <a:off x="4910500" y="4280240"/>
            <a:ext cx="1825800" cy="400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Leader del grupo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87" name="Google Shape;387;p35"/>
          <p:cNvCxnSpPr>
            <a:stCxn id="388" idx="3"/>
            <a:endCxn id="369" idx="1"/>
          </p:cNvCxnSpPr>
          <p:nvPr/>
        </p:nvCxnSpPr>
        <p:spPr>
          <a:xfrm flipH="1" rot="10800000">
            <a:off x="1408911" y="1770727"/>
            <a:ext cx="430800" cy="833100"/>
          </a:xfrm>
          <a:prstGeom prst="straightConnector1">
            <a:avLst/>
          </a:prstGeom>
          <a:noFill/>
          <a:ln cap="flat" cmpd="sng" w="19050">
            <a:solidFill>
              <a:srgbClr val="45818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35"/>
          <p:cNvCxnSpPr>
            <a:stCxn id="388" idx="3"/>
            <a:endCxn id="376" idx="1"/>
          </p:cNvCxnSpPr>
          <p:nvPr/>
        </p:nvCxnSpPr>
        <p:spPr>
          <a:xfrm>
            <a:off x="1408911" y="2603827"/>
            <a:ext cx="430800" cy="109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" name="Google Shape;390;p35"/>
          <p:cNvSpPr txBox="1"/>
          <p:nvPr/>
        </p:nvSpPr>
        <p:spPr>
          <a:xfrm>
            <a:off x="365977" y="944975"/>
            <a:ext cx="1535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Grupo en primer plano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latin typeface="Inter"/>
                <a:ea typeface="Inter"/>
                <a:cs typeface="Inter"/>
                <a:sym typeface="Inter"/>
              </a:rPr>
              <a:t>foreground</a:t>
            </a:r>
            <a:r>
              <a:rPr i="1" lang="es">
                <a:latin typeface="Inter"/>
                <a:ea typeface="Inter"/>
                <a:cs typeface="Inter"/>
                <a:sym typeface="Inter"/>
              </a:rPr>
              <a:t> (fg)</a:t>
            </a:r>
            <a:endParaRPr i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Google Shape;391;p35"/>
          <p:cNvSpPr txBox="1"/>
          <p:nvPr/>
        </p:nvSpPr>
        <p:spPr>
          <a:xfrm>
            <a:off x="298109" y="3445243"/>
            <a:ext cx="182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Inter"/>
                <a:ea typeface="Inter"/>
                <a:cs typeface="Inter"/>
                <a:sym typeface="Inter"/>
              </a:rPr>
              <a:t>Grupos en segundo plano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latin typeface="Inter"/>
                <a:ea typeface="Inter"/>
                <a:cs typeface="Inter"/>
                <a:sym typeface="Inter"/>
              </a:rPr>
              <a:t>background (bg)</a:t>
            </a:r>
            <a:endParaRPr i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Google Shape;392;p35"/>
          <p:cNvSpPr txBox="1"/>
          <p:nvPr/>
        </p:nvSpPr>
        <p:spPr>
          <a:xfrm>
            <a:off x="305279" y="1887076"/>
            <a:ext cx="1119000" cy="14286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3925" lIns="93925" spcFirstLastPara="1" rIns="93925" wrap="square" tIns="939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38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bash</a:t>
            </a:r>
            <a:endParaRPr b="1" sz="1438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27"/>
              </a:spcBef>
              <a:spcAft>
                <a:spcPts val="0"/>
              </a:spcAft>
              <a:buNone/>
            </a:pPr>
            <a:r>
              <a:rPr lang="es" sz="1438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PID:  100</a:t>
            </a:r>
            <a:endParaRPr sz="1438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8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PPID: 83</a:t>
            </a:r>
            <a:endParaRPr sz="1438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8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PGID: 100</a:t>
            </a:r>
            <a:endParaRPr sz="1438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8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SID:  100</a:t>
            </a:r>
            <a:endParaRPr sz="1438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93" name="Google Shape;393;p35"/>
          <p:cNvGrpSpPr/>
          <p:nvPr/>
        </p:nvGrpSpPr>
        <p:grpSpPr>
          <a:xfrm>
            <a:off x="319611" y="1908577"/>
            <a:ext cx="1089300" cy="1390500"/>
            <a:chOff x="1619550" y="3454075"/>
            <a:chExt cx="1089300" cy="1390500"/>
          </a:xfrm>
        </p:grpSpPr>
        <p:sp>
          <p:nvSpPr>
            <p:cNvPr id="388" name="Google Shape;388;p35"/>
            <p:cNvSpPr txBox="1"/>
            <p:nvPr/>
          </p:nvSpPr>
          <p:spPr>
            <a:xfrm>
              <a:off x="1619550" y="3454075"/>
              <a:ext cx="1089300" cy="139050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A64D7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bash</a:t>
              </a:r>
              <a:endParaRPr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PID:  </a:t>
              </a:r>
              <a:r>
                <a:rPr b="1"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PPID: 83</a:t>
              </a:r>
              <a:endParaRPr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PGID: </a:t>
              </a:r>
              <a:r>
                <a:rPr b="1" lang="es">
                  <a:solidFill>
                    <a:srgbClr val="6AA84F"/>
                  </a:solidFill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b="1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SID:  </a:t>
              </a:r>
              <a:r>
                <a:rPr b="1" lang="es">
                  <a:solidFill>
                    <a:srgbClr val="A64D79"/>
                  </a:solidFill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b="1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394" name="Google Shape;394;p35"/>
            <p:cNvCxnSpPr/>
            <p:nvPr/>
          </p:nvCxnSpPr>
          <p:spPr>
            <a:xfrm>
              <a:off x="1626725" y="3812400"/>
              <a:ext cx="10821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5" name="Google Shape;395;p35"/>
          <p:cNvSpPr txBox="1"/>
          <p:nvPr/>
        </p:nvSpPr>
        <p:spPr>
          <a:xfrm>
            <a:off x="4878850" y="2455425"/>
            <a:ext cx="423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Terminal de Control</a:t>
            </a:r>
            <a:r>
              <a:rPr lang="es" sz="1600">
                <a:latin typeface="Inter"/>
                <a:ea typeface="Inter"/>
                <a:cs typeface="Inter"/>
                <a:sym typeface="Inter"/>
              </a:rPr>
              <a:t>. El grupo en </a:t>
            </a:r>
            <a:r>
              <a:rPr b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primer plano </a:t>
            </a:r>
            <a:r>
              <a:rPr lang="es" sz="1600">
                <a:latin typeface="Inter"/>
                <a:ea typeface="Inter"/>
                <a:cs typeface="Inter"/>
                <a:sym typeface="Inter"/>
              </a:rPr>
              <a:t>es el </a:t>
            </a:r>
            <a:r>
              <a:rPr lang="es" sz="1600">
                <a:latin typeface="Inter"/>
                <a:ea typeface="Inter"/>
                <a:cs typeface="Inter"/>
                <a:sym typeface="Inter"/>
              </a:rPr>
              <a:t>único que puede leer del terminal y recibe las señales generadas.</a:t>
            </a:r>
            <a:endParaRPr sz="1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6" name="Google Shape;396;p35"/>
          <p:cNvSpPr txBox="1"/>
          <p:nvPr/>
        </p:nvSpPr>
        <p:spPr>
          <a:xfrm>
            <a:off x="76200" y="4632925"/>
            <a:ext cx="9144000" cy="22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omandos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para la gesti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ón de trabajos (grupos): &amp;, 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jobs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fg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bg</a:t>
            </a:r>
            <a:endParaRPr sz="1800">
              <a:solidFill>
                <a:srgbClr val="E691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Llamadas al sistema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para la gestión de sesiones y grupos: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pid_t getpgid(pid_t pid);</a:t>
            </a:r>
            <a:b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setpgid(pid_t pid, pid_t pgid);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pid_t getsid(pid_t pid);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pid_t setsid(</a:t>
            </a:r>
            <a:r>
              <a:rPr b="1"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7" name="Google Shape;397;p35"/>
          <p:cNvCxnSpPr>
            <a:stCxn id="371" idx="3"/>
            <a:endCxn id="374" idx="1"/>
          </p:cNvCxnSpPr>
          <p:nvPr/>
        </p:nvCxnSpPr>
        <p:spPr>
          <a:xfrm>
            <a:off x="3089850" y="1656223"/>
            <a:ext cx="282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35"/>
          <p:cNvCxnSpPr>
            <a:stCxn id="379" idx="3"/>
            <a:endCxn id="382" idx="1"/>
          </p:cNvCxnSpPr>
          <p:nvPr/>
        </p:nvCxnSpPr>
        <p:spPr>
          <a:xfrm>
            <a:off x="3089850" y="3594427"/>
            <a:ext cx="282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9" name="Google Shape;399;p35"/>
          <p:cNvSpPr txBox="1"/>
          <p:nvPr/>
        </p:nvSpPr>
        <p:spPr>
          <a:xfrm>
            <a:off x="4753700" y="1199100"/>
            <a:ext cx="140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/dev/pts/0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6"/>
          <p:cNvSpPr txBox="1"/>
          <p:nvPr>
            <p:ph idx="1" type="subTitle"/>
          </p:nvPr>
        </p:nvSpPr>
        <p:spPr>
          <a:xfrm>
            <a:off x="954245" y="76850"/>
            <a:ext cx="81813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lang="es">
                <a:latin typeface="Inter SemiBold"/>
                <a:ea typeface="Inter SemiBold"/>
                <a:cs typeface="Inter SemiBold"/>
                <a:sym typeface="Inter SemiBold"/>
              </a:rPr>
              <a:t>SISTEMAS OPERATIVOS</a:t>
            </a:r>
            <a:endParaRPr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Grado en </a:t>
            </a:r>
            <a:r>
              <a:rPr i="1" lang="es" sz="1400">
                <a:latin typeface="Inter"/>
                <a:ea typeface="Inter"/>
                <a:cs typeface="Inter"/>
                <a:sym typeface="Inter"/>
              </a:rPr>
              <a:t>Desarrollo de Videojuegos</a:t>
            </a:r>
            <a:endParaRPr i="1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Universidad Complutense de Madrid</a:t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7" name="Google Shape;407;p36"/>
          <p:cNvSpPr/>
          <p:nvPr/>
        </p:nvSpPr>
        <p:spPr>
          <a:xfrm>
            <a:off x="8400" y="113285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6"/>
          <p:cNvSpPr txBox="1"/>
          <p:nvPr>
            <p:ph idx="4294967295" type="ctrTitle"/>
          </p:nvPr>
        </p:nvSpPr>
        <p:spPr>
          <a:xfrm>
            <a:off x="534975" y="2720725"/>
            <a:ext cx="86298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TEMA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3.6</a:t>
            </a: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Planificación</a:t>
            </a:r>
            <a:endParaRPr b="0" i="0" sz="3000" u="none" cap="none" strike="noStrike">
              <a:solidFill>
                <a:srgbClr val="4279B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09" name="Google Shape;409;p36" title="Escudo_de_la_Universidad_Complutense_de_Madrid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5" y="76851"/>
            <a:ext cx="799893" cy="91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7"/>
          <p:cNvSpPr/>
          <p:nvPr/>
        </p:nvSpPr>
        <p:spPr>
          <a:xfrm>
            <a:off x="111225" y="5539803"/>
            <a:ext cx="8917800" cy="1236900"/>
          </a:xfrm>
          <a:prstGeom prst="roundRect">
            <a:avLst>
              <a:gd fmla="val 13014" name="adj"/>
            </a:avLst>
          </a:prstGeom>
          <a:solidFill>
            <a:srgbClr val="F3F3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7"/>
          <p:cNvSpPr txBox="1"/>
          <p:nvPr/>
        </p:nvSpPr>
        <p:spPr>
          <a:xfrm>
            <a:off x="151675" y="5517100"/>
            <a:ext cx="8917800" cy="12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¿A qué proceso asignamos la CPU? (</a:t>
            </a:r>
            <a:r>
              <a:rPr b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Algoritmos de Planificación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¿Cómo cambiamos de un proceso a otro? (</a:t>
            </a:r>
            <a:r>
              <a:rPr b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Cambio de Contexto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¿Cuándo evaluamos el estado del sistema? (</a:t>
            </a:r>
            <a:r>
              <a:rPr b="1" i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Tick </a:t>
            </a:r>
            <a:r>
              <a:rPr b="1" lang="es" sz="16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de reloj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6" name="Google Shape;416;p37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7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MultiProgramación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18" name="Google Shape;418;p37"/>
          <p:cNvSpPr txBox="1"/>
          <p:nvPr/>
        </p:nvSpPr>
        <p:spPr>
          <a:xfrm>
            <a:off x="111223" y="627515"/>
            <a:ext cx="6782100" cy="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 </a:t>
            </a:r>
            <a:r>
              <a:rPr b="1" i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multiprogramación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ejora la eficiencia del uso de los recursos del sistema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 proceso usa la CPU mientras otro hace un operación de E/S.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9" name="Google Shape;419;p37"/>
          <p:cNvCxnSpPr/>
          <p:nvPr/>
        </p:nvCxnSpPr>
        <p:spPr>
          <a:xfrm rot="10800000">
            <a:off x="991183" y="1762035"/>
            <a:ext cx="0" cy="295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0" name="Google Shape;420;p37"/>
          <p:cNvCxnSpPr/>
          <p:nvPr/>
        </p:nvCxnSpPr>
        <p:spPr>
          <a:xfrm>
            <a:off x="991183" y="4717335"/>
            <a:ext cx="723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1" name="Google Shape;421;p37"/>
          <p:cNvSpPr/>
          <p:nvPr/>
        </p:nvSpPr>
        <p:spPr>
          <a:xfrm>
            <a:off x="995833" y="2160960"/>
            <a:ext cx="464100" cy="1239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7"/>
          <p:cNvSpPr/>
          <p:nvPr/>
        </p:nvSpPr>
        <p:spPr>
          <a:xfrm>
            <a:off x="1452606" y="2159399"/>
            <a:ext cx="464100" cy="3918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7"/>
          <p:cNvSpPr/>
          <p:nvPr/>
        </p:nvSpPr>
        <p:spPr>
          <a:xfrm>
            <a:off x="6529444" y="2160960"/>
            <a:ext cx="464100" cy="1239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7"/>
          <p:cNvSpPr/>
          <p:nvPr/>
        </p:nvSpPr>
        <p:spPr>
          <a:xfrm>
            <a:off x="6993971" y="2294910"/>
            <a:ext cx="464100" cy="1239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7"/>
          <p:cNvSpPr/>
          <p:nvPr/>
        </p:nvSpPr>
        <p:spPr>
          <a:xfrm>
            <a:off x="7458071" y="2160960"/>
            <a:ext cx="464100" cy="1239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7"/>
          <p:cNvSpPr/>
          <p:nvPr/>
        </p:nvSpPr>
        <p:spPr>
          <a:xfrm>
            <a:off x="1917452" y="2426194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7"/>
          <p:cNvSpPr/>
          <p:nvPr/>
        </p:nvSpPr>
        <p:spPr>
          <a:xfrm>
            <a:off x="2374652" y="2426194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7"/>
          <p:cNvSpPr/>
          <p:nvPr/>
        </p:nvSpPr>
        <p:spPr>
          <a:xfrm>
            <a:off x="2838752" y="2426194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7"/>
          <p:cNvSpPr/>
          <p:nvPr/>
        </p:nvSpPr>
        <p:spPr>
          <a:xfrm>
            <a:off x="4683775" y="2426194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7"/>
          <p:cNvSpPr/>
          <p:nvPr/>
        </p:nvSpPr>
        <p:spPr>
          <a:xfrm>
            <a:off x="5140975" y="2426194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7"/>
          <p:cNvSpPr/>
          <p:nvPr/>
        </p:nvSpPr>
        <p:spPr>
          <a:xfrm>
            <a:off x="5605075" y="2426194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7"/>
          <p:cNvSpPr/>
          <p:nvPr/>
        </p:nvSpPr>
        <p:spPr>
          <a:xfrm>
            <a:off x="985467" y="3188194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7"/>
          <p:cNvSpPr/>
          <p:nvPr/>
        </p:nvSpPr>
        <p:spPr>
          <a:xfrm>
            <a:off x="1442667" y="3188194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7"/>
          <p:cNvSpPr/>
          <p:nvPr/>
        </p:nvSpPr>
        <p:spPr>
          <a:xfrm>
            <a:off x="1906767" y="3188194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7"/>
          <p:cNvSpPr/>
          <p:nvPr/>
        </p:nvSpPr>
        <p:spPr>
          <a:xfrm>
            <a:off x="6067744" y="2158285"/>
            <a:ext cx="464100" cy="3918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7"/>
          <p:cNvSpPr/>
          <p:nvPr/>
        </p:nvSpPr>
        <p:spPr>
          <a:xfrm>
            <a:off x="2358233" y="2920294"/>
            <a:ext cx="464100" cy="3918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7"/>
          <p:cNvSpPr/>
          <p:nvPr/>
        </p:nvSpPr>
        <p:spPr>
          <a:xfrm>
            <a:off x="2822331" y="2920294"/>
            <a:ext cx="464100" cy="1239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7"/>
          <p:cNvSpPr/>
          <p:nvPr/>
        </p:nvSpPr>
        <p:spPr>
          <a:xfrm>
            <a:off x="3286858" y="3058040"/>
            <a:ext cx="464100" cy="1239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7"/>
          <p:cNvSpPr/>
          <p:nvPr/>
        </p:nvSpPr>
        <p:spPr>
          <a:xfrm>
            <a:off x="3744058" y="2920294"/>
            <a:ext cx="464100" cy="1239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/>
          <p:nvPr/>
        </p:nvSpPr>
        <p:spPr>
          <a:xfrm>
            <a:off x="4215483" y="2917523"/>
            <a:ext cx="464100" cy="3918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7"/>
          <p:cNvSpPr/>
          <p:nvPr/>
        </p:nvSpPr>
        <p:spPr>
          <a:xfrm>
            <a:off x="4679594" y="3188194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7"/>
          <p:cNvSpPr/>
          <p:nvPr/>
        </p:nvSpPr>
        <p:spPr>
          <a:xfrm>
            <a:off x="5136794" y="3188194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7"/>
          <p:cNvSpPr/>
          <p:nvPr/>
        </p:nvSpPr>
        <p:spPr>
          <a:xfrm>
            <a:off x="5600894" y="3188194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7"/>
          <p:cNvSpPr/>
          <p:nvPr/>
        </p:nvSpPr>
        <p:spPr>
          <a:xfrm>
            <a:off x="3286858" y="3746417"/>
            <a:ext cx="464100" cy="3918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7"/>
          <p:cNvSpPr/>
          <p:nvPr/>
        </p:nvSpPr>
        <p:spPr>
          <a:xfrm>
            <a:off x="992794" y="4016137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7"/>
          <p:cNvSpPr/>
          <p:nvPr/>
        </p:nvSpPr>
        <p:spPr>
          <a:xfrm>
            <a:off x="1449994" y="4016137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7"/>
          <p:cNvSpPr/>
          <p:nvPr/>
        </p:nvSpPr>
        <p:spPr>
          <a:xfrm>
            <a:off x="1914094" y="4016137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7"/>
          <p:cNvSpPr/>
          <p:nvPr/>
        </p:nvSpPr>
        <p:spPr>
          <a:xfrm>
            <a:off x="2364394" y="4016137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7"/>
          <p:cNvSpPr/>
          <p:nvPr/>
        </p:nvSpPr>
        <p:spPr>
          <a:xfrm>
            <a:off x="2828494" y="4016137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7"/>
          <p:cNvSpPr/>
          <p:nvPr/>
        </p:nvSpPr>
        <p:spPr>
          <a:xfrm>
            <a:off x="3751385" y="3871329"/>
            <a:ext cx="464100" cy="1239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</a:t>
            </a:r>
            <a:endParaRPr/>
          </a:p>
        </p:txBody>
      </p:sp>
      <p:sp>
        <p:nvSpPr>
          <p:cNvPr id="451" name="Google Shape;451;p37"/>
          <p:cNvSpPr/>
          <p:nvPr/>
        </p:nvSpPr>
        <p:spPr>
          <a:xfrm>
            <a:off x="4211515" y="3874260"/>
            <a:ext cx="464100" cy="1239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7"/>
          <p:cNvSpPr/>
          <p:nvPr/>
        </p:nvSpPr>
        <p:spPr>
          <a:xfrm>
            <a:off x="4673112" y="3726256"/>
            <a:ext cx="464100" cy="1239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</a:t>
            </a:r>
            <a:endParaRPr/>
          </a:p>
        </p:txBody>
      </p:sp>
      <p:sp>
        <p:nvSpPr>
          <p:cNvPr id="453" name="Google Shape;453;p37"/>
          <p:cNvSpPr/>
          <p:nvPr/>
        </p:nvSpPr>
        <p:spPr>
          <a:xfrm>
            <a:off x="5133242" y="3726256"/>
            <a:ext cx="464100" cy="1239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7"/>
          <p:cNvSpPr/>
          <p:nvPr/>
        </p:nvSpPr>
        <p:spPr>
          <a:xfrm>
            <a:off x="3296379" y="2426194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7"/>
          <p:cNvSpPr/>
          <p:nvPr/>
        </p:nvSpPr>
        <p:spPr>
          <a:xfrm>
            <a:off x="3753579" y="2426194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7"/>
          <p:cNvSpPr/>
          <p:nvPr/>
        </p:nvSpPr>
        <p:spPr>
          <a:xfrm>
            <a:off x="4217679" y="2426194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7"/>
          <p:cNvSpPr/>
          <p:nvPr/>
        </p:nvSpPr>
        <p:spPr>
          <a:xfrm>
            <a:off x="5594838" y="3724437"/>
            <a:ext cx="464100" cy="3918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7"/>
          <p:cNvSpPr/>
          <p:nvPr/>
        </p:nvSpPr>
        <p:spPr>
          <a:xfrm>
            <a:off x="6053698" y="3990842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7"/>
          <p:cNvSpPr/>
          <p:nvPr/>
        </p:nvSpPr>
        <p:spPr>
          <a:xfrm>
            <a:off x="6058094" y="3188194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7"/>
          <p:cNvSpPr/>
          <p:nvPr/>
        </p:nvSpPr>
        <p:spPr>
          <a:xfrm>
            <a:off x="6983594" y="2924850"/>
            <a:ext cx="464100" cy="3918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7"/>
          <p:cNvSpPr/>
          <p:nvPr/>
        </p:nvSpPr>
        <p:spPr>
          <a:xfrm>
            <a:off x="6518225" y="3188194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7"/>
          <p:cNvSpPr/>
          <p:nvPr/>
        </p:nvSpPr>
        <p:spPr>
          <a:xfrm>
            <a:off x="7448240" y="3056910"/>
            <a:ext cx="464100" cy="1239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7"/>
          <p:cNvSpPr/>
          <p:nvPr/>
        </p:nvSpPr>
        <p:spPr>
          <a:xfrm>
            <a:off x="6510915" y="3990838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7"/>
          <p:cNvSpPr/>
          <p:nvPr/>
        </p:nvSpPr>
        <p:spPr>
          <a:xfrm>
            <a:off x="6968115" y="3990838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7"/>
          <p:cNvSpPr/>
          <p:nvPr/>
        </p:nvSpPr>
        <p:spPr>
          <a:xfrm>
            <a:off x="7425315" y="3990838"/>
            <a:ext cx="4641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6" name="Google Shape;466;p37"/>
          <p:cNvCxnSpPr/>
          <p:nvPr/>
        </p:nvCxnSpPr>
        <p:spPr>
          <a:xfrm>
            <a:off x="1912333" y="2164385"/>
            <a:ext cx="0" cy="254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67" name="Google Shape;467;p37"/>
          <p:cNvCxnSpPr/>
          <p:nvPr/>
        </p:nvCxnSpPr>
        <p:spPr>
          <a:xfrm>
            <a:off x="2369533" y="2164385"/>
            <a:ext cx="0" cy="254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68" name="Google Shape;468;p37"/>
          <p:cNvSpPr/>
          <p:nvPr/>
        </p:nvSpPr>
        <p:spPr>
          <a:xfrm>
            <a:off x="990899" y="4366736"/>
            <a:ext cx="6898500" cy="1239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7"/>
          <p:cNvSpPr/>
          <p:nvPr/>
        </p:nvSpPr>
        <p:spPr>
          <a:xfrm>
            <a:off x="1914094" y="4367829"/>
            <a:ext cx="464100" cy="123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7"/>
          <p:cNvSpPr/>
          <p:nvPr/>
        </p:nvSpPr>
        <p:spPr>
          <a:xfrm>
            <a:off x="992794" y="4817702"/>
            <a:ext cx="464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</a:t>
            </a:r>
            <a:endParaRPr/>
          </a:p>
        </p:txBody>
      </p:sp>
      <p:sp>
        <p:nvSpPr>
          <p:cNvPr id="471" name="Google Shape;471;p37"/>
          <p:cNvSpPr/>
          <p:nvPr/>
        </p:nvSpPr>
        <p:spPr>
          <a:xfrm>
            <a:off x="1449994" y="4817702"/>
            <a:ext cx="464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</a:t>
            </a:r>
            <a:endParaRPr/>
          </a:p>
        </p:txBody>
      </p:sp>
      <p:sp>
        <p:nvSpPr>
          <p:cNvPr id="472" name="Google Shape;472;p37"/>
          <p:cNvSpPr/>
          <p:nvPr/>
        </p:nvSpPr>
        <p:spPr>
          <a:xfrm>
            <a:off x="1907194" y="4817702"/>
            <a:ext cx="464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</a:t>
            </a:r>
            <a:endParaRPr/>
          </a:p>
        </p:txBody>
      </p:sp>
      <p:sp>
        <p:nvSpPr>
          <p:cNvPr id="473" name="Google Shape;473;p37"/>
          <p:cNvSpPr/>
          <p:nvPr/>
        </p:nvSpPr>
        <p:spPr>
          <a:xfrm>
            <a:off x="2364394" y="4817702"/>
            <a:ext cx="464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</a:t>
            </a:r>
            <a:endParaRPr/>
          </a:p>
        </p:txBody>
      </p:sp>
      <p:sp>
        <p:nvSpPr>
          <p:cNvPr id="474" name="Google Shape;474;p37"/>
          <p:cNvSpPr/>
          <p:nvPr/>
        </p:nvSpPr>
        <p:spPr>
          <a:xfrm>
            <a:off x="2821594" y="4817702"/>
            <a:ext cx="464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5</a:t>
            </a:r>
            <a:endParaRPr/>
          </a:p>
        </p:txBody>
      </p:sp>
      <p:sp>
        <p:nvSpPr>
          <p:cNvPr id="475" name="Google Shape;475;p37"/>
          <p:cNvSpPr/>
          <p:nvPr/>
        </p:nvSpPr>
        <p:spPr>
          <a:xfrm>
            <a:off x="3278794" y="4817702"/>
            <a:ext cx="464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6</a:t>
            </a:r>
            <a:endParaRPr/>
          </a:p>
        </p:txBody>
      </p:sp>
      <p:sp>
        <p:nvSpPr>
          <p:cNvPr id="476" name="Google Shape;476;p37"/>
          <p:cNvSpPr/>
          <p:nvPr/>
        </p:nvSpPr>
        <p:spPr>
          <a:xfrm>
            <a:off x="3735994" y="4817702"/>
            <a:ext cx="464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7</a:t>
            </a:r>
            <a:endParaRPr/>
          </a:p>
        </p:txBody>
      </p:sp>
      <p:sp>
        <p:nvSpPr>
          <p:cNvPr id="477" name="Google Shape;477;p37"/>
          <p:cNvSpPr/>
          <p:nvPr/>
        </p:nvSpPr>
        <p:spPr>
          <a:xfrm>
            <a:off x="4193194" y="4817702"/>
            <a:ext cx="464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8</a:t>
            </a:r>
            <a:endParaRPr/>
          </a:p>
        </p:txBody>
      </p:sp>
      <p:sp>
        <p:nvSpPr>
          <p:cNvPr id="478" name="Google Shape;478;p37"/>
          <p:cNvSpPr/>
          <p:nvPr/>
        </p:nvSpPr>
        <p:spPr>
          <a:xfrm>
            <a:off x="4650394" y="4817702"/>
            <a:ext cx="464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9</a:t>
            </a:r>
            <a:endParaRPr/>
          </a:p>
        </p:txBody>
      </p:sp>
      <p:sp>
        <p:nvSpPr>
          <p:cNvPr id="479" name="Google Shape;479;p37"/>
          <p:cNvSpPr/>
          <p:nvPr/>
        </p:nvSpPr>
        <p:spPr>
          <a:xfrm>
            <a:off x="5107594" y="4817702"/>
            <a:ext cx="464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10</a:t>
            </a:r>
            <a:endParaRPr/>
          </a:p>
        </p:txBody>
      </p:sp>
      <p:sp>
        <p:nvSpPr>
          <p:cNvPr id="480" name="Google Shape;480;p37"/>
          <p:cNvSpPr/>
          <p:nvPr/>
        </p:nvSpPr>
        <p:spPr>
          <a:xfrm>
            <a:off x="5564794" y="4817702"/>
            <a:ext cx="464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11</a:t>
            </a:r>
            <a:endParaRPr/>
          </a:p>
        </p:txBody>
      </p:sp>
      <p:sp>
        <p:nvSpPr>
          <p:cNvPr id="481" name="Google Shape;481;p37"/>
          <p:cNvSpPr/>
          <p:nvPr/>
        </p:nvSpPr>
        <p:spPr>
          <a:xfrm>
            <a:off x="6021994" y="4817702"/>
            <a:ext cx="464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12</a:t>
            </a:r>
            <a:endParaRPr/>
          </a:p>
        </p:txBody>
      </p:sp>
      <p:sp>
        <p:nvSpPr>
          <p:cNvPr id="482" name="Google Shape;482;p37"/>
          <p:cNvSpPr/>
          <p:nvPr/>
        </p:nvSpPr>
        <p:spPr>
          <a:xfrm>
            <a:off x="6479194" y="4817702"/>
            <a:ext cx="464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13</a:t>
            </a:r>
            <a:endParaRPr/>
          </a:p>
        </p:txBody>
      </p:sp>
      <p:sp>
        <p:nvSpPr>
          <p:cNvPr id="483" name="Google Shape;483;p37"/>
          <p:cNvSpPr/>
          <p:nvPr/>
        </p:nvSpPr>
        <p:spPr>
          <a:xfrm>
            <a:off x="6936394" y="4817702"/>
            <a:ext cx="464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14</a:t>
            </a:r>
            <a:endParaRPr/>
          </a:p>
        </p:txBody>
      </p:sp>
      <p:sp>
        <p:nvSpPr>
          <p:cNvPr id="484" name="Google Shape;484;p37"/>
          <p:cNvSpPr/>
          <p:nvPr/>
        </p:nvSpPr>
        <p:spPr>
          <a:xfrm>
            <a:off x="7393594" y="4817702"/>
            <a:ext cx="464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15</a:t>
            </a:r>
            <a:endParaRPr/>
          </a:p>
        </p:txBody>
      </p:sp>
      <p:sp>
        <p:nvSpPr>
          <p:cNvPr id="485" name="Google Shape;485;p37"/>
          <p:cNvSpPr/>
          <p:nvPr/>
        </p:nvSpPr>
        <p:spPr>
          <a:xfrm>
            <a:off x="383123" y="5122500"/>
            <a:ext cx="42369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Utilizaci</a:t>
            </a:r>
            <a:r>
              <a:rPr b="1" lang="es"/>
              <a:t>ón de la </a:t>
            </a:r>
            <a:r>
              <a:rPr b="1" lang="es"/>
              <a:t>CPU</a:t>
            </a:r>
            <a:r>
              <a:rPr lang="es"/>
              <a:t> 14 de 15 ciclos (93%)</a:t>
            </a:r>
            <a:endParaRPr/>
          </a:p>
        </p:txBody>
      </p:sp>
      <p:cxnSp>
        <p:nvCxnSpPr>
          <p:cNvPr id="486" name="Google Shape;486;p37"/>
          <p:cNvCxnSpPr>
            <a:stCxn id="469" idx="2"/>
            <a:endCxn id="485" idx="0"/>
          </p:cNvCxnSpPr>
          <p:nvPr/>
        </p:nvCxnSpPr>
        <p:spPr>
          <a:xfrm>
            <a:off x="2146144" y="4491729"/>
            <a:ext cx="355500" cy="63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87" name="Google Shape;487;p37"/>
          <p:cNvSpPr/>
          <p:nvPr/>
        </p:nvSpPr>
        <p:spPr>
          <a:xfrm>
            <a:off x="15170" y="2200649"/>
            <a:ext cx="1084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Proceso A</a:t>
            </a:r>
            <a:endParaRPr/>
          </a:p>
        </p:txBody>
      </p:sp>
      <p:sp>
        <p:nvSpPr>
          <p:cNvPr id="488" name="Google Shape;488;p37"/>
          <p:cNvSpPr/>
          <p:nvPr/>
        </p:nvSpPr>
        <p:spPr>
          <a:xfrm>
            <a:off x="15170" y="2962649"/>
            <a:ext cx="1084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Proceso B</a:t>
            </a:r>
            <a:endParaRPr/>
          </a:p>
        </p:txBody>
      </p:sp>
      <p:sp>
        <p:nvSpPr>
          <p:cNvPr id="489" name="Google Shape;489;p37"/>
          <p:cNvSpPr/>
          <p:nvPr/>
        </p:nvSpPr>
        <p:spPr>
          <a:xfrm>
            <a:off x="15170" y="3786748"/>
            <a:ext cx="1084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Proceso C</a:t>
            </a:r>
            <a:endParaRPr/>
          </a:p>
        </p:txBody>
      </p:sp>
      <p:sp>
        <p:nvSpPr>
          <p:cNvPr id="490" name="Google Shape;490;p37"/>
          <p:cNvSpPr/>
          <p:nvPr/>
        </p:nvSpPr>
        <p:spPr>
          <a:xfrm>
            <a:off x="94858" y="4258052"/>
            <a:ext cx="9051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CPU</a:t>
            </a:r>
            <a:endParaRPr/>
          </a:p>
        </p:txBody>
      </p:sp>
      <p:sp>
        <p:nvSpPr>
          <p:cNvPr id="491" name="Google Shape;491;p37"/>
          <p:cNvSpPr/>
          <p:nvPr/>
        </p:nvSpPr>
        <p:spPr>
          <a:xfrm>
            <a:off x="6893175" y="871900"/>
            <a:ext cx="2176200" cy="8793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7"/>
          <p:cNvSpPr/>
          <p:nvPr/>
        </p:nvSpPr>
        <p:spPr>
          <a:xfrm>
            <a:off x="6942603" y="1141113"/>
            <a:ext cx="417900" cy="1239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7"/>
          <p:cNvSpPr/>
          <p:nvPr/>
        </p:nvSpPr>
        <p:spPr>
          <a:xfrm>
            <a:off x="6942603" y="934357"/>
            <a:ext cx="417900" cy="1239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7"/>
          <p:cNvSpPr/>
          <p:nvPr/>
        </p:nvSpPr>
        <p:spPr>
          <a:xfrm>
            <a:off x="6942603" y="1347870"/>
            <a:ext cx="417900" cy="1239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7"/>
          <p:cNvSpPr/>
          <p:nvPr/>
        </p:nvSpPr>
        <p:spPr>
          <a:xfrm>
            <a:off x="6942603" y="1554626"/>
            <a:ext cx="417900" cy="123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7"/>
          <p:cNvSpPr txBox="1"/>
          <p:nvPr/>
        </p:nvSpPr>
        <p:spPr>
          <a:xfrm>
            <a:off x="7308771" y="775215"/>
            <a:ext cx="1904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Ejecución (usuario)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Ejecución (sistema)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Listo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Espera E/S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7" name="Google Shape;497;p37"/>
          <p:cNvSpPr/>
          <p:nvPr/>
        </p:nvSpPr>
        <p:spPr>
          <a:xfrm>
            <a:off x="3458300" y="2071537"/>
            <a:ext cx="129300" cy="2160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8" name="Google Shape;498;p37"/>
          <p:cNvCxnSpPr>
            <a:endCxn id="497" idx="0"/>
          </p:cNvCxnSpPr>
          <p:nvPr/>
        </p:nvCxnSpPr>
        <p:spPr>
          <a:xfrm>
            <a:off x="3042050" y="1543837"/>
            <a:ext cx="480900" cy="52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8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8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Niveles de Planificación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05" name="Google Shape;505;p38"/>
          <p:cNvSpPr txBox="1"/>
          <p:nvPr/>
        </p:nvSpPr>
        <p:spPr>
          <a:xfrm>
            <a:off x="55679" y="803350"/>
            <a:ext cx="9026700" cy="30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Niveles de Planificación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Tradicionalmente los planificadores se clasifican en tres tipos: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Planificador a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largo plazo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Control de admisión de </a:t>
            </a:r>
            <a:r>
              <a:rPr b="1"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trabajos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en el sistema (procesos que se pueden ejecutar)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Planificador a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medio plazo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Mueve los procesos de memoria principal a secundaria (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process swapping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Planificador a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corto plazo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Decide qué procesos, de los que están listos para ejecutarse, se ejecutarán a continuación en la CPU.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6" name="Google Shape;506;p38"/>
          <p:cNvSpPr txBox="1"/>
          <p:nvPr/>
        </p:nvSpPr>
        <p:spPr>
          <a:xfrm>
            <a:off x="55675" y="3775150"/>
            <a:ext cx="9026700" cy="27750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Planificadores en el Sistema Operativo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único 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planificador en los SO de propósito general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actuales es el planificador a 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corto plazo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planificadores a largo plazo se implementan con aplicaciones específicas de gestión de trabajos (p.ej. Slurm o PBS)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planificadores a medio plazo ha sido reemplazado por los mecanismos de paginación (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Tema 4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). OS para dispositivos móviles (Android) pueden suspender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aplicaciones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en segundo plano.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9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9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Activación del Planificador (</a:t>
            </a:r>
            <a:r>
              <a:rPr b="0" i="1" lang="es" sz="3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ticks</a:t>
            </a: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13" name="Google Shape;513;p39"/>
          <p:cNvSpPr txBox="1"/>
          <p:nvPr/>
        </p:nvSpPr>
        <p:spPr>
          <a:xfrm>
            <a:off x="55675" y="743126"/>
            <a:ext cx="9026700" cy="42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Eventos de Planificación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Determina cuándo se ejecuta el planificador para evaluar el estado del sistema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Peri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ódicamente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temporizador hardware genera una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interrupción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 intervalos regulares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 frecuencia define el </a:t>
            </a:r>
            <a:r>
              <a:rPr b="1" i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tick rate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(p.ej. Linux 100Hz por defecto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CONFIG_HZ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 rutina de tratamiento de interrupción activa el evento de planificación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Tickless</a:t>
            </a:r>
            <a:endParaRPr b="1" i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 interrupción del temporizador se programa a demanda.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Mejor perfil en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ahorro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energía para sistemas empotrados o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móviles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Linux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usa un modelo híbrido 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tickless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cuando sólo hay una tarea (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adaptive)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 ninguna (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idle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ahorro de energía) 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4" name="Google Shape;514;p39"/>
          <p:cNvSpPr/>
          <p:nvPr/>
        </p:nvSpPr>
        <p:spPr>
          <a:xfrm>
            <a:off x="170200" y="5755625"/>
            <a:ext cx="618900" cy="324900"/>
          </a:xfrm>
          <a:prstGeom prst="rect">
            <a:avLst/>
          </a:prstGeom>
          <a:solidFill>
            <a:srgbClr val="D0E0E3"/>
          </a:solidFill>
          <a:ln cap="flat" cmpd="sng" w="190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9"/>
          <p:cNvSpPr/>
          <p:nvPr/>
        </p:nvSpPr>
        <p:spPr>
          <a:xfrm>
            <a:off x="789100" y="5430725"/>
            <a:ext cx="371100" cy="3249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9"/>
          <p:cNvSpPr/>
          <p:nvPr/>
        </p:nvSpPr>
        <p:spPr>
          <a:xfrm>
            <a:off x="1144725" y="5856400"/>
            <a:ext cx="618900" cy="2238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idle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17" name="Google Shape;517;p39"/>
          <p:cNvSpPr/>
          <p:nvPr/>
        </p:nvSpPr>
        <p:spPr>
          <a:xfrm>
            <a:off x="1779100" y="5430725"/>
            <a:ext cx="371100" cy="3249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9"/>
          <p:cNvSpPr/>
          <p:nvPr/>
        </p:nvSpPr>
        <p:spPr>
          <a:xfrm>
            <a:off x="2769100" y="5430725"/>
            <a:ext cx="371100" cy="3249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9"/>
          <p:cNvSpPr/>
          <p:nvPr/>
        </p:nvSpPr>
        <p:spPr>
          <a:xfrm>
            <a:off x="3140200" y="5755625"/>
            <a:ext cx="618900" cy="324900"/>
          </a:xfrm>
          <a:prstGeom prst="rect">
            <a:avLst/>
          </a:prstGeom>
          <a:solidFill>
            <a:srgbClr val="D0E0E3"/>
          </a:solidFill>
          <a:ln cap="flat" cmpd="sng" w="190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0" name="Google Shape;520;p39"/>
          <p:cNvCxnSpPr/>
          <p:nvPr/>
        </p:nvCxnSpPr>
        <p:spPr>
          <a:xfrm>
            <a:off x="788354" y="5152200"/>
            <a:ext cx="0" cy="129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1" name="Google Shape;521;p39"/>
          <p:cNvCxnSpPr/>
          <p:nvPr/>
        </p:nvCxnSpPr>
        <p:spPr>
          <a:xfrm>
            <a:off x="1771627" y="5152200"/>
            <a:ext cx="0" cy="129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39"/>
          <p:cNvCxnSpPr/>
          <p:nvPr/>
        </p:nvCxnSpPr>
        <p:spPr>
          <a:xfrm>
            <a:off x="2762227" y="5152200"/>
            <a:ext cx="0" cy="129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39"/>
          <p:cNvCxnSpPr/>
          <p:nvPr/>
        </p:nvCxnSpPr>
        <p:spPr>
          <a:xfrm>
            <a:off x="3752827" y="5152200"/>
            <a:ext cx="0" cy="129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24" name="Google Shape;524;p39"/>
          <p:cNvSpPr/>
          <p:nvPr/>
        </p:nvSpPr>
        <p:spPr>
          <a:xfrm>
            <a:off x="2135326" y="5856400"/>
            <a:ext cx="618900" cy="2238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idle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25" name="Google Shape;525;p39"/>
          <p:cNvSpPr/>
          <p:nvPr/>
        </p:nvSpPr>
        <p:spPr>
          <a:xfrm>
            <a:off x="4742200" y="5755625"/>
            <a:ext cx="618900" cy="324900"/>
          </a:xfrm>
          <a:prstGeom prst="rect">
            <a:avLst/>
          </a:prstGeom>
          <a:solidFill>
            <a:srgbClr val="D0E0E3"/>
          </a:solidFill>
          <a:ln cap="flat" cmpd="sng" w="190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9"/>
          <p:cNvSpPr/>
          <p:nvPr/>
        </p:nvSpPr>
        <p:spPr>
          <a:xfrm>
            <a:off x="5361100" y="5430725"/>
            <a:ext cx="371100" cy="3249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27" name="Google Shape;527;p39"/>
          <p:cNvCxnSpPr/>
          <p:nvPr/>
        </p:nvCxnSpPr>
        <p:spPr>
          <a:xfrm>
            <a:off x="5360354" y="5152200"/>
            <a:ext cx="0" cy="129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28" name="Google Shape;528;p39"/>
          <p:cNvSpPr/>
          <p:nvPr/>
        </p:nvSpPr>
        <p:spPr>
          <a:xfrm>
            <a:off x="5716723" y="5856400"/>
            <a:ext cx="1609500" cy="2238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idle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29" name="Google Shape;529;p39"/>
          <p:cNvSpPr/>
          <p:nvPr/>
        </p:nvSpPr>
        <p:spPr>
          <a:xfrm>
            <a:off x="7341100" y="5430725"/>
            <a:ext cx="371100" cy="3249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9"/>
          <p:cNvSpPr/>
          <p:nvPr/>
        </p:nvSpPr>
        <p:spPr>
          <a:xfrm>
            <a:off x="7712200" y="5755625"/>
            <a:ext cx="1014300" cy="324900"/>
          </a:xfrm>
          <a:prstGeom prst="rect">
            <a:avLst/>
          </a:prstGeom>
          <a:solidFill>
            <a:srgbClr val="D0E0E3"/>
          </a:solidFill>
          <a:ln cap="flat" cmpd="sng" w="19050">
            <a:solidFill>
              <a:srgbClr val="4581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1" name="Google Shape;531;p39"/>
          <p:cNvCxnSpPr/>
          <p:nvPr/>
        </p:nvCxnSpPr>
        <p:spPr>
          <a:xfrm>
            <a:off x="7326900" y="5152200"/>
            <a:ext cx="0" cy="129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39"/>
          <p:cNvCxnSpPr/>
          <p:nvPr/>
        </p:nvCxnSpPr>
        <p:spPr>
          <a:xfrm>
            <a:off x="8720481" y="5152200"/>
            <a:ext cx="0" cy="129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39"/>
          <p:cNvCxnSpPr/>
          <p:nvPr/>
        </p:nvCxnSpPr>
        <p:spPr>
          <a:xfrm>
            <a:off x="776650" y="6352450"/>
            <a:ext cx="98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34" name="Google Shape;534;p39"/>
          <p:cNvCxnSpPr/>
          <p:nvPr/>
        </p:nvCxnSpPr>
        <p:spPr>
          <a:xfrm>
            <a:off x="1767250" y="6352450"/>
            <a:ext cx="98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35" name="Google Shape;535;p39"/>
          <p:cNvCxnSpPr/>
          <p:nvPr/>
        </p:nvCxnSpPr>
        <p:spPr>
          <a:xfrm>
            <a:off x="2757850" y="6352450"/>
            <a:ext cx="98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36" name="Google Shape;536;p39"/>
          <p:cNvCxnSpPr/>
          <p:nvPr/>
        </p:nvCxnSpPr>
        <p:spPr>
          <a:xfrm>
            <a:off x="5348650" y="6359800"/>
            <a:ext cx="1985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537" name="Google Shape;537;p39"/>
          <p:cNvCxnSpPr/>
          <p:nvPr/>
        </p:nvCxnSpPr>
        <p:spPr>
          <a:xfrm>
            <a:off x="7326900" y="6359777"/>
            <a:ext cx="1392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538" name="Google Shape;538;p39"/>
          <p:cNvSpPr txBox="1"/>
          <p:nvPr/>
        </p:nvSpPr>
        <p:spPr>
          <a:xfrm>
            <a:off x="882162" y="6353908"/>
            <a:ext cx="77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10ms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9" name="Google Shape;539;p39"/>
          <p:cNvSpPr txBox="1"/>
          <p:nvPr/>
        </p:nvSpPr>
        <p:spPr>
          <a:xfrm>
            <a:off x="1872762" y="6353908"/>
            <a:ext cx="77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10ms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0" name="Google Shape;540;p39"/>
          <p:cNvSpPr txBox="1"/>
          <p:nvPr/>
        </p:nvSpPr>
        <p:spPr>
          <a:xfrm>
            <a:off x="2939562" y="6353908"/>
            <a:ext cx="77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10ms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1" name="Google Shape;541;p39"/>
          <p:cNvSpPr txBox="1"/>
          <p:nvPr/>
        </p:nvSpPr>
        <p:spPr>
          <a:xfrm>
            <a:off x="6063762" y="6353908"/>
            <a:ext cx="77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45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2" name="Google Shape;542;p39"/>
          <p:cNvSpPr txBox="1"/>
          <p:nvPr/>
        </p:nvSpPr>
        <p:spPr>
          <a:xfrm>
            <a:off x="7740162" y="6353908"/>
            <a:ext cx="77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5ms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43" name="Google Shape;543;p39"/>
          <p:cNvCxnSpPr>
            <a:stCxn id="526" idx="3"/>
            <a:endCxn id="529" idx="1"/>
          </p:cNvCxnSpPr>
          <p:nvPr/>
        </p:nvCxnSpPr>
        <p:spPr>
          <a:xfrm>
            <a:off x="5732200" y="5593175"/>
            <a:ext cx="16089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4" name="Google Shape;544;p39"/>
          <p:cNvSpPr txBox="1"/>
          <p:nvPr/>
        </p:nvSpPr>
        <p:spPr>
          <a:xfrm>
            <a:off x="5284900" y="5383800"/>
            <a:ext cx="5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RTI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5" name="Google Shape;545;p39"/>
          <p:cNvSpPr txBox="1"/>
          <p:nvPr/>
        </p:nvSpPr>
        <p:spPr>
          <a:xfrm>
            <a:off x="7266100" y="5383800"/>
            <a:ext cx="5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RTI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6" name="Google Shape;546;p39"/>
          <p:cNvSpPr txBox="1"/>
          <p:nvPr/>
        </p:nvSpPr>
        <p:spPr>
          <a:xfrm>
            <a:off x="2694100" y="5383800"/>
            <a:ext cx="5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RTI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7" name="Google Shape;547;p39"/>
          <p:cNvSpPr txBox="1"/>
          <p:nvPr/>
        </p:nvSpPr>
        <p:spPr>
          <a:xfrm>
            <a:off x="1703500" y="5383800"/>
            <a:ext cx="5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RTI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8" name="Google Shape;548;p39"/>
          <p:cNvSpPr txBox="1"/>
          <p:nvPr/>
        </p:nvSpPr>
        <p:spPr>
          <a:xfrm>
            <a:off x="712900" y="5383800"/>
            <a:ext cx="5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RTI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9" name="Google Shape;549;p39"/>
          <p:cNvSpPr txBox="1"/>
          <p:nvPr/>
        </p:nvSpPr>
        <p:spPr>
          <a:xfrm>
            <a:off x="202225" y="5713512"/>
            <a:ext cx="56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CPU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0" name="Google Shape;550;p39"/>
          <p:cNvSpPr txBox="1"/>
          <p:nvPr/>
        </p:nvSpPr>
        <p:spPr>
          <a:xfrm>
            <a:off x="3166698" y="5713512"/>
            <a:ext cx="56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CPU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1" name="Google Shape;551;p39"/>
          <p:cNvSpPr txBox="1"/>
          <p:nvPr/>
        </p:nvSpPr>
        <p:spPr>
          <a:xfrm>
            <a:off x="4766898" y="5713512"/>
            <a:ext cx="56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CPU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2" name="Google Shape;552;p39"/>
          <p:cNvSpPr txBox="1"/>
          <p:nvPr/>
        </p:nvSpPr>
        <p:spPr>
          <a:xfrm>
            <a:off x="7967298" y="5713512"/>
            <a:ext cx="56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CPU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3" name="Google Shape;553;p39"/>
          <p:cNvSpPr txBox="1"/>
          <p:nvPr/>
        </p:nvSpPr>
        <p:spPr>
          <a:xfrm>
            <a:off x="5530334" y="5058500"/>
            <a:ext cx="185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siguiente interrupción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0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40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Activación del Planificador 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60" name="Google Shape;560;p40"/>
          <p:cNvSpPr txBox="1"/>
          <p:nvPr/>
        </p:nvSpPr>
        <p:spPr>
          <a:xfrm>
            <a:off x="41021" y="818004"/>
            <a:ext cx="9079800" cy="56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Eventos de Planificación</a:t>
            </a:r>
            <a:endParaRPr b="1" sz="20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Determina cuándo se ejecuta el planificador para evaluar el estado del sistema: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Cambio estado del proceso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 tarea se bloquea (E/S, futex, sleep,...) 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TASK_INTERRUPTIBLE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TASK_UNINTERRUPTIBLE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 tarea se desbloquea (E/S completada, futex desbloqueado…) 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TASK_RUNNING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Creación o terminación de un proceso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Después de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fork()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clone()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se crea una nueva tarea que se añade a la cola de tareas ejecutables.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Cuando el proceso termina por cualquier causa: recepción de una señal (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SIGKILL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SIGSEV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...) o de forma voluntaria (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_exit()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Cesión voluntaria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proceso cede la CPU (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sched_yield(2)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proceso cambia su prioridad (ej.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nice(2)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1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Cambios de Contexto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67" name="Google Shape;567;p41"/>
          <p:cNvSpPr txBox="1"/>
          <p:nvPr/>
        </p:nvSpPr>
        <p:spPr>
          <a:xfrm>
            <a:off x="41025" y="818000"/>
            <a:ext cx="9026700" cy="48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Cambio de Contexto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Conjunto de acciones que realiza el SO para cambiar el proceso en ejecución: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Cambio de la memoria virtual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Actualización de los registros de memoria al contexto de memoria del nuevo proceso (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mm_struct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ej. dirección de la tabla de páginas, caché asociadas… 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Tema 4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Cambio del contexto ejecución de la CPU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thread_struct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Guardar los registros de propósito general, contador de programa, pila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Guardar los registros específicos (e.j. fpu)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Actualizar el puntero de pila a la nueva tarea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Cargar los registros de la nueva tarea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Continuar con la ejecución de la nueva tarea (en modo usuario)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8" name="Google Shape;568;p41"/>
          <p:cNvSpPr txBox="1"/>
          <p:nvPr/>
        </p:nvSpPr>
        <p:spPr>
          <a:xfrm>
            <a:off x="55675" y="5527750"/>
            <a:ext cx="9026700" cy="11031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 operación de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cambio de contexto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un proceso es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costosa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cambio de contexto entre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threads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es menor (memoria virtual) pero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no despreciable.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2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42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Objetivos de Planificación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75" name="Google Shape;575;p42"/>
          <p:cNvSpPr txBox="1"/>
          <p:nvPr/>
        </p:nvSpPr>
        <p:spPr>
          <a:xfrm>
            <a:off x="41025" y="818000"/>
            <a:ext cx="9079800" cy="47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planificador es un algoritmo que asigna recursos a los procesos tratando de optimizar un objetivo: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Utilización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s" sz="18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maximizar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el tiempo que la CPU está en uso.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Productividad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s" sz="18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maximizar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el número de procesos terminados por unidad de tiempo.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Tiempo de respuesta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s" sz="18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minimizar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el tiempo desde que empieza el proceso hasta que produce la primera respuesta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i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Turnaround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s" sz="18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minimizar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el tiempo desde que entra el proceso en el sistema hasta que termina.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Tiempo de espera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s" sz="18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minimizar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el tiempo total en la cola de espera. 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Tiempo de espera = Turnaround - Tiempo CPU - Tiempo E/S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Fairness (</a:t>
            </a:r>
            <a:r>
              <a:rPr b="1" i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justicia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reparto 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equitativo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 los recursos modulado por la prioridad y características de cada proceso.</a:t>
            </a:r>
            <a:endParaRPr i="1" sz="18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3"/>
          <p:cNvSpPr/>
          <p:nvPr/>
        </p:nvSpPr>
        <p:spPr>
          <a:xfrm>
            <a:off x="2208325" y="942975"/>
            <a:ext cx="4544100" cy="1851600"/>
          </a:xfrm>
          <a:prstGeom prst="roundRect">
            <a:avLst>
              <a:gd fmla="val 8382" name="adj"/>
            </a:avLst>
          </a:prstGeom>
          <a:solidFill>
            <a:srgbClr val="F3F3F3"/>
          </a:solidFill>
          <a:ln cap="flat" cmpd="sng" w="19050">
            <a:solidFill>
              <a:srgbClr val="45818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43"/>
          <p:cNvSpPr/>
          <p:nvPr/>
        </p:nvSpPr>
        <p:spPr>
          <a:xfrm>
            <a:off x="3275125" y="3190150"/>
            <a:ext cx="2652300" cy="1242600"/>
          </a:xfrm>
          <a:prstGeom prst="roundRect">
            <a:avLst>
              <a:gd fmla="val 8382" name="adj"/>
            </a:avLst>
          </a:prstGeom>
          <a:solidFill>
            <a:srgbClr val="F3F3F3"/>
          </a:solidFill>
          <a:ln cap="flat" cmpd="sng" w="19050">
            <a:solidFill>
              <a:srgbClr val="741B4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43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43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Modelos de Planificación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4" name="Google Shape;584;p43"/>
          <p:cNvSpPr/>
          <p:nvPr/>
        </p:nvSpPr>
        <p:spPr>
          <a:xfrm>
            <a:off x="2337300" y="1824425"/>
            <a:ext cx="1828500" cy="920400"/>
          </a:xfrm>
          <a:prstGeom prst="roundRect">
            <a:avLst>
              <a:gd fmla="val 11145" name="adj"/>
            </a:avLst>
          </a:prstGeom>
          <a:solidFill>
            <a:srgbClr val="D0E0E3"/>
          </a:solidFill>
          <a:ln cap="flat" cmpd="sng" w="952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Inter"/>
                <a:ea typeface="Inter"/>
                <a:cs typeface="Inter"/>
                <a:sym typeface="Inter"/>
              </a:rPr>
              <a:t>READY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5" name="Google Shape;585;p43"/>
          <p:cNvSpPr/>
          <p:nvPr/>
        </p:nvSpPr>
        <p:spPr>
          <a:xfrm>
            <a:off x="5380800" y="2007600"/>
            <a:ext cx="1299600" cy="5325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952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RUNNING</a:t>
            </a:r>
            <a:endParaRPr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86" name="Google Shape;586;p43"/>
          <p:cNvCxnSpPr>
            <a:stCxn id="584" idx="3"/>
            <a:endCxn id="585" idx="1"/>
          </p:cNvCxnSpPr>
          <p:nvPr/>
        </p:nvCxnSpPr>
        <p:spPr>
          <a:xfrm flipH="1" rot="10800000">
            <a:off x="4165800" y="2273825"/>
            <a:ext cx="12150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7" name="Google Shape;587;p43"/>
          <p:cNvCxnSpPr>
            <a:stCxn id="585" idx="3"/>
            <a:endCxn id="581" idx="3"/>
          </p:cNvCxnSpPr>
          <p:nvPr/>
        </p:nvCxnSpPr>
        <p:spPr>
          <a:xfrm flipH="1">
            <a:off x="5927400" y="2273850"/>
            <a:ext cx="753000" cy="1537500"/>
          </a:xfrm>
          <a:prstGeom prst="bentConnector3">
            <a:avLst>
              <a:gd fmla="val -3497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8" name="Google Shape;588;p43"/>
          <p:cNvSpPr/>
          <p:nvPr/>
        </p:nvSpPr>
        <p:spPr>
          <a:xfrm>
            <a:off x="3450975" y="3313250"/>
            <a:ext cx="2278500" cy="338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TASK_UNINTERRUPTIBLE</a:t>
            </a:r>
            <a:endParaRPr/>
          </a:p>
        </p:txBody>
      </p:sp>
      <p:sp>
        <p:nvSpPr>
          <p:cNvPr id="589" name="Google Shape;589;p43"/>
          <p:cNvSpPr/>
          <p:nvPr/>
        </p:nvSpPr>
        <p:spPr>
          <a:xfrm>
            <a:off x="3450975" y="3694250"/>
            <a:ext cx="2278500" cy="3384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TASK_INTERRUPTIBLE</a:t>
            </a:r>
            <a:endParaRPr/>
          </a:p>
        </p:txBody>
      </p:sp>
      <p:sp>
        <p:nvSpPr>
          <p:cNvPr id="590" name="Google Shape;590;p43"/>
          <p:cNvSpPr txBox="1"/>
          <p:nvPr/>
        </p:nvSpPr>
        <p:spPr>
          <a:xfrm>
            <a:off x="4067325" y="4032650"/>
            <a:ext cx="104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WAITING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91" name="Google Shape;591;p43"/>
          <p:cNvCxnSpPr>
            <a:stCxn id="581" idx="1"/>
            <a:endCxn id="592" idx="1"/>
          </p:cNvCxnSpPr>
          <p:nvPr/>
        </p:nvCxnSpPr>
        <p:spPr>
          <a:xfrm rot="10800000">
            <a:off x="2795725" y="2387650"/>
            <a:ext cx="479400" cy="1423800"/>
          </a:xfrm>
          <a:prstGeom prst="bentConnector3">
            <a:avLst>
              <a:gd fmla="val 26692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93" name="Google Shape;593;p43"/>
          <p:cNvGrpSpPr/>
          <p:nvPr/>
        </p:nvGrpSpPr>
        <p:grpSpPr>
          <a:xfrm>
            <a:off x="2521950" y="2195471"/>
            <a:ext cx="1440450" cy="235421"/>
            <a:chOff x="693150" y="2747602"/>
            <a:chExt cx="1440450" cy="197700"/>
          </a:xfrm>
        </p:grpSpPr>
        <p:sp>
          <p:nvSpPr>
            <p:cNvPr id="594" name="Google Shape;594;p43"/>
            <p:cNvSpPr/>
            <p:nvPr/>
          </p:nvSpPr>
          <p:spPr>
            <a:xfrm>
              <a:off x="1377462" y="2747602"/>
              <a:ext cx="190500" cy="197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134F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43"/>
            <p:cNvSpPr/>
            <p:nvPr/>
          </p:nvSpPr>
          <p:spPr>
            <a:xfrm>
              <a:off x="1569427" y="2747602"/>
              <a:ext cx="190500" cy="197700"/>
            </a:xfrm>
            <a:prstGeom prst="rect">
              <a:avLst/>
            </a:prstGeom>
            <a:solidFill>
              <a:srgbClr val="45818E"/>
            </a:solidFill>
            <a:ln cap="flat" cmpd="sng" w="9525">
              <a:solidFill>
                <a:srgbClr val="134F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43"/>
            <p:cNvSpPr/>
            <p:nvPr/>
          </p:nvSpPr>
          <p:spPr>
            <a:xfrm>
              <a:off x="1751135" y="2747602"/>
              <a:ext cx="190500" cy="197700"/>
            </a:xfrm>
            <a:prstGeom prst="rect">
              <a:avLst/>
            </a:prstGeom>
            <a:solidFill>
              <a:srgbClr val="45818E"/>
            </a:solidFill>
            <a:ln cap="flat" cmpd="sng" w="9525">
              <a:solidFill>
                <a:srgbClr val="134F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3"/>
            <p:cNvSpPr/>
            <p:nvPr/>
          </p:nvSpPr>
          <p:spPr>
            <a:xfrm>
              <a:off x="1943100" y="2747602"/>
              <a:ext cx="190500" cy="197700"/>
            </a:xfrm>
            <a:prstGeom prst="rect">
              <a:avLst/>
            </a:prstGeom>
            <a:solidFill>
              <a:srgbClr val="45818E"/>
            </a:solidFill>
            <a:ln cap="flat" cmpd="sng" w="9525">
              <a:solidFill>
                <a:srgbClr val="134F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43"/>
            <p:cNvSpPr/>
            <p:nvPr/>
          </p:nvSpPr>
          <p:spPr>
            <a:xfrm>
              <a:off x="1188427" y="2747602"/>
              <a:ext cx="190500" cy="197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134F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43"/>
            <p:cNvSpPr/>
            <p:nvPr/>
          </p:nvSpPr>
          <p:spPr>
            <a:xfrm>
              <a:off x="1006719" y="2747602"/>
              <a:ext cx="190500" cy="197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134F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00" name="Google Shape;600;p43"/>
            <p:cNvCxnSpPr>
              <a:stCxn id="597" idx="0"/>
            </p:cNvCxnSpPr>
            <p:nvPr/>
          </p:nvCxnSpPr>
          <p:spPr>
            <a:xfrm rot="10800000">
              <a:off x="693150" y="2747602"/>
              <a:ext cx="1345200" cy="0"/>
            </a:xfrm>
            <a:prstGeom prst="straightConnector1">
              <a:avLst/>
            </a:prstGeom>
            <a:noFill/>
            <a:ln cap="flat" cmpd="sng" w="9525">
              <a:solidFill>
                <a:srgbClr val="134F5C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601" name="Google Shape;601;p43"/>
          <p:cNvCxnSpPr>
            <a:stCxn id="596" idx="2"/>
          </p:cNvCxnSpPr>
          <p:nvPr/>
        </p:nvCxnSpPr>
        <p:spPr>
          <a:xfrm rot="10800000">
            <a:off x="2517485" y="2430892"/>
            <a:ext cx="1157700" cy="0"/>
          </a:xfrm>
          <a:prstGeom prst="straightConnector1">
            <a:avLst/>
          </a:prstGeom>
          <a:noFill/>
          <a:ln cap="flat" cmpd="sng" w="9525">
            <a:solidFill>
              <a:srgbClr val="134F5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2" name="Google Shape;602;p43"/>
          <p:cNvSpPr txBox="1"/>
          <p:nvPr/>
        </p:nvSpPr>
        <p:spPr>
          <a:xfrm>
            <a:off x="2302125" y="2344627"/>
            <a:ext cx="186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cola de preparados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03" name="Google Shape;603;p43"/>
          <p:cNvCxnSpPr>
            <a:stCxn id="585" idx="0"/>
            <a:endCxn id="604" idx="1"/>
          </p:cNvCxnSpPr>
          <p:nvPr/>
        </p:nvCxnSpPr>
        <p:spPr>
          <a:xfrm rot="5400000">
            <a:off x="4299300" y="504000"/>
            <a:ext cx="227700" cy="3234900"/>
          </a:xfrm>
          <a:prstGeom prst="bentConnector4">
            <a:avLst>
              <a:gd fmla="val -162187" name="adj1"/>
              <a:gd fmla="val 125179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5" name="Google Shape;605;p43"/>
          <p:cNvSpPr/>
          <p:nvPr/>
        </p:nvSpPr>
        <p:spPr>
          <a:xfrm>
            <a:off x="7514400" y="2007600"/>
            <a:ext cx="1299600" cy="5325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952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DONE </a:t>
            </a:r>
            <a:endParaRPr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ZOMBIE</a:t>
            </a:r>
            <a:endParaRPr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06" name="Google Shape;606;p43"/>
          <p:cNvCxnSpPr>
            <a:stCxn id="607" idx="3"/>
            <a:endCxn id="608" idx="1"/>
          </p:cNvCxnSpPr>
          <p:nvPr/>
        </p:nvCxnSpPr>
        <p:spPr>
          <a:xfrm>
            <a:off x="6672388" y="2235163"/>
            <a:ext cx="843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9" name="Google Shape;609;p43"/>
          <p:cNvSpPr txBox="1"/>
          <p:nvPr/>
        </p:nvSpPr>
        <p:spPr>
          <a:xfrm>
            <a:off x="434475" y="2004650"/>
            <a:ext cx="99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Creación 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clone()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10" name="Google Shape;610;p43"/>
          <p:cNvCxnSpPr>
            <a:stCxn id="609" idx="3"/>
            <a:endCxn id="611" idx="1"/>
          </p:cNvCxnSpPr>
          <p:nvPr/>
        </p:nvCxnSpPr>
        <p:spPr>
          <a:xfrm flipH="1" rot="10800000">
            <a:off x="1425675" y="2311250"/>
            <a:ext cx="13698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4" name="Google Shape;604;p43"/>
          <p:cNvSpPr/>
          <p:nvPr/>
        </p:nvSpPr>
        <p:spPr>
          <a:xfrm>
            <a:off x="2795600" y="2209813"/>
            <a:ext cx="128700" cy="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43"/>
          <p:cNvSpPr/>
          <p:nvPr/>
        </p:nvSpPr>
        <p:spPr>
          <a:xfrm>
            <a:off x="2795600" y="2286013"/>
            <a:ext cx="128700" cy="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43"/>
          <p:cNvSpPr/>
          <p:nvPr/>
        </p:nvSpPr>
        <p:spPr>
          <a:xfrm>
            <a:off x="2795600" y="2362213"/>
            <a:ext cx="128700" cy="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43"/>
          <p:cNvSpPr/>
          <p:nvPr/>
        </p:nvSpPr>
        <p:spPr>
          <a:xfrm>
            <a:off x="6543688" y="2209813"/>
            <a:ext cx="128700" cy="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43"/>
          <p:cNvSpPr/>
          <p:nvPr/>
        </p:nvSpPr>
        <p:spPr>
          <a:xfrm>
            <a:off x="6543688" y="2286013"/>
            <a:ext cx="128700" cy="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3"/>
          <p:cNvSpPr/>
          <p:nvPr/>
        </p:nvSpPr>
        <p:spPr>
          <a:xfrm>
            <a:off x="7515238" y="2209813"/>
            <a:ext cx="128700" cy="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43"/>
          <p:cNvSpPr/>
          <p:nvPr/>
        </p:nvSpPr>
        <p:spPr>
          <a:xfrm>
            <a:off x="7515238" y="2286013"/>
            <a:ext cx="128700" cy="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43"/>
          <p:cNvSpPr txBox="1"/>
          <p:nvPr/>
        </p:nvSpPr>
        <p:spPr>
          <a:xfrm>
            <a:off x="4168275" y="1929200"/>
            <a:ext cx="121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schedule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5" name="Google Shape;615;p43"/>
          <p:cNvSpPr txBox="1"/>
          <p:nvPr/>
        </p:nvSpPr>
        <p:spPr>
          <a:xfrm>
            <a:off x="1005975" y="2891225"/>
            <a:ext cx="144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wake_up()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signal()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616" name="Google Shape;616;p43"/>
          <p:cNvGrpSpPr/>
          <p:nvPr/>
        </p:nvGrpSpPr>
        <p:grpSpPr>
          <a:xfrm>
            <a:off x="6848500" y="1595825"/>
            <a:ext cx="1086000" cy="400200"/>
            <a:chOff x="6848500" y="1157675"/>
            <a:chExt cx="1086000" cy="400200"/>
          </a:xfrm>
        </p:grpSpPr>
        <p:sp>
          <p:nvSpPr>
            <p:cNvPr id="617" name="Google Shape;617;p43"/>
            <p:cNvSpPr txBox="1"/>
            <p:nvPr/>
          </p:nvSpPr>
          <p:spPr>
            <a:xfrm>
              <a:off x="7091500" y="1157675"/>
              <a:ext cx="843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exit</a:t>
              </a: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</a:t>
              </a:r>
              <a:endParaRPr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18" name="Google Shape;618;p43"/>
            <p:cNvSpPr/>
            <p:nvPr/>
          </p:nvSpPr>
          <p:spPr>
            <a:xfrm>
              <a:off x="6848500" y="1186163"/>
              <a:ext cx="338400" cy="338400"/>
            </a:xfrm>
            <a:prstGeom prst="ellipse">
              <a:avLst/>
            </a:prstGeom>
            <a:solidFill>
              <a:srgbClr val="3D85C6"/>
            </a:solidFill>
            <a:ln>
              <a:noFill/>
            </a:ln>
          </p:spPr>
          <p:txBody>
            <a:bodyPr anchorCtr="0" anchor="ctr" bIns="91425" lIns="54000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 b="1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19" name="Google Shape;619;p43"/>
          <p:cNvGrpSpPr/>
          <p:nvPr/>
        </p:nvGrpSpPr>
        <p:grpSpPr>
          <a:xfrm>
            <a:off x="7005375" y="2887563"/>
            <a:ext cx="1779000" cy="400200"/>
            <a:chOff x="6205275" y="2811363"/>
            <a:chExt cx="1779000" cy="400200"/>
          </a:xfrm>
        </p:grpSpPr>
        <p:sp>
          <p:nvSpPr>
            <p:cNvPr id="620" name="Google Shape;620;p43"/>
            <p:cNvSpPr txBox="1"/>
            <p:nvPr/>
          </p:nvSpPr>
          <p:spPr>
            <a:xfrm>
              <a:off x="6543675" y="2811363"/>
              <a:ext cx="1440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wait_event</a:t>
              </a: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</a:t>
              </a:r>
              <a:endParaRPr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21" name="Google Shape;621;p43"/>
            <p:cNvSpPr/>
            <p:nvPr/>
          </p:nvSpPr>
          <p:spPr>
            <a:xfrm>
              <a:off x="6205275" y="2842263"/>
              <a:ext cx="338400" cy="338400"/>
            </a:xfrm>
            <a:prstGeom prst="ellipse">
              <a:avLst/>
            </a:prstGeom>
            <a:solidFill>
              <a:srgbClr val="3D85C6"/>
            </a:solidFill>
            <a:ln>
              <a:noFill/>
            </a:ln>
          </p:spPr>
          <p:txBody>
            <a:bodyPr anchorCtr="0" anchor="ctr" bIns="91425" lIns="54000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  <a:endParaRPr b="1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22" name="Google Shape;622;p43"/>
          <p:cNvSpPr/>
          <p:nvPr/>
        </p:nvSpPr>
        <p:spPr>
          <a:xfrm>
            <a:off x="156900" y="2132875"/>
            <a:ext cx="338400" cy="3384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5400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1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23" name="Google Shape;623;p43"/>
          <p:cNvGrpSpPr/>
          <p:nvPr/>
        </p:nvGrpSpPr>
        <p:grpSpPr>
          <a:xfrm>
            <a:off x="2595300" y="1062600"/>
            <a:ext cx="2378481" cy="615600"/>
            <a:chOff x="2595300" y="805425"/>
            <a:chExt cx="2378481" cy="615600"/>
          </a:xfrm>
        </p:grpSpPr>
        <p:sp>
          <p:nvSpPr>
            <p:cNvPr id="624" name="Google Shape;624;p43"/>
            <p:cNvSpPr txBox="1"/>
            <p:nvPr/>
          </p:nvSpPr>
          <p:spPr>
            <a:xfrm>
              <a:off x="2886081" y="805425"/>
              <a:ext cx="2087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expropiación</a:t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scheduler_yield()</a:t>
              </a:r>
              <a:endParaRPr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25" name="Google Shape;625;p43"/>
            <p:cNvSpPr/>
            <p:nvPr/>
          </p:nvSpPr>
          <p:spPr>
            <a:xfrm>
              <a:off x="2595300" y="944025"/>
              <a:ext cx="338400" cy="338400"/>
            </a:xfrm>
            <a:prstGeom prst="ellipse">
              <a:avLst/>
            </a:prstGeom>
            <a:solidFill>
              <a:srgbClr val="3D85C6"/>
            </a:solidFill>
            <a:ln>
              <a:noFill/>
            </a:ln>
          </p:spPr>
          <p:txBody>
            <a:bodyPr anchorCtr="0" anchor="ctr" bIns="91425" lIns="54000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4</a:t>
              </a:r>
              <a:endParaRPr b="1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26" name="Google Shape;626;p43"/>
          <p:cNvSpPr/>
          <p:nvPr/>
        </p:nvSpPr>
        <p:spPr>
          <a:xfrm>
            <a:off x="690300" y="3029825"/>
            <a:ext cx="338400" cy="3384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5400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7" name="Google Shape;627;p43"/>
          <p:cNvSpPr txBox="1"/>
          <p:nvPr/>
        </p:nvSpPr>
        <p:spPr>
          <a:xfrm>
            <a:off x="8400" y="4665075"/>
            <a:ext cx="91176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No expropiativo:</a:t>
            </a:r>
            <a:r>
              <a:rPr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proceso usa la CPU hasta que termina, entra en espera de un evento o cede la CPU voluntariamente. </a:t>
            </a:r>
            <a:endParaRPr i="1" sz="18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28" name="Google Shape;628;p43"/>
          <p:cNvSpPr/>
          <p:nvPr/>
        </p:nvSpPr>
        <p:spPr>
          <a:xfrm>
            <a:off x="5113125" y="5010450"/>
            <a:ext cx="338400" cy="3384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5400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1" sz="1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9" name="Google Shape;629;p43"/>
          <p:cNvSpPr/>
          <p:nvPr/>
        </p:nvSpPr>
        <p:spPr>
          <a:xfrm>
            <a:off x="5503650" y="5010450"/>
            <a:ext cx="338400" cy="3384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5400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1" sz="1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0" name="Google Shape;630;p43"/>
          <p:cNvSpPr/>
          <p:nvPr/>
        </p:nvSpPr>
        <p:spPr>
          <a:xfrm>
            <a:off x="5894175" y="5010450"/>
            <a:ext cx="338400" cy="3384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5400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1" name="Google Shape;631;p43"/>
          <p:cNvSpPr txBox="1"/>
          <p:nvPr/>
        </p:nvSpPr>
        <p:spPr>
          <a:xfrm>
            <a:off x="8400" y="5503275"/>
            <a:ext cx="91176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xpropiativo:</a:t>
            </a:r>
            <a:r>
              <a:rPr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proceso usa la CPU hasta que el planificador decide reemplazarlo por otro. </a:t>
            </a:r>
            <a:endParaRPr i="1" sz="18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32" name="Google Shape;632;p43"/>
          <p:cNvSpPr/>
          <p:nvPr/>
        </p:nvSpPr>
        <p:spPr>
          <a:xfrm>
            <a:off x="2998575" y="5848650"/>
            <a:ext cx="338400" cy="3384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5400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1" sz="1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3" name="Google Shape;633;p43"/>
          <p:cNvSpPr/>
          <p:nvPr/>
        </p:nvSpPr>
        <p:spPr>
          <a:xfrm>
            <a:off x="3522450" y="5848650"/>
            <a:ext cx="338400" cy="338400"/>
          </a:xfrm>
          <a:prstGeom prst="ellipse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5400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34" name="Google Shape;634;p43"/>
          <p:cNvCxnSpPr/>
          <p:nvPr/>
        </p:nvCxnSpPr>
        <p:spPr>
          <a:xfrm>
            <a:off x="3362325" y="6010275"/>
            <a:ext cx="114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5" name="Google Shape;635;p43"/>
          <p:cNvSpPr txBox="1"/>
          <p:nvPr/>
        </p:nvSpPr>
        <p:spPr>
          <a:xfrm>
            <a:off x="5312400" y="923925"/>
            <a:ext cx="14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TASK_RUNNING</a:t>
            </a:r>
            <a:endParaRPr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0" name="Google Shape;640;p44"/>
          <p:cNvCxnSpPr/>
          <p:nvPr/>
        </p:nvCxnSpPr>
        <p:spPr>
          <a:xfrm rot="10800000">
            <a:off x="742611" y="353377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44"/>
          <p:cNvCxnSpPr/>
          <p:nvPr/>
        </p:nvCxnSpPr>
        <p:spPr>
          <a:xfrm rot="10800000">
            <a:off x="980736" y="352425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2" name="Google Shape;642;p44"/>
          <p:cNvCxnSpPr/>
          <p:nvPr/>
        </p:nvCxnSpPr>
        <p:spPr>
          <a:xfrm rot="10800000">
            <a:off x="1218861" y="352425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44"/>
          <p:cNvCxnSpPr/>
          <p:nvPr/>
        </p:nvCxnSpPr>
        <p:spPr>
          <a:xfrm rot="10800000">
            <a:off x="1456986" y="35147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44"/>
          <p:cNvCxnSpPr/>
          <p:nvPr/>
        </p:nvCxnSpPr>
        <p:spPr>
          <a:xfrm rot="10800000">
            <a:off x="1704636" y="352425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44"/>
          <p:cNvCxnSpPr/>
          <p:nvPr/>
        </p:nvCxnSpPr>
        <p:spPr>
          <a:xfrm rot="10800000">
            <a:off x="1942761" y="35147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44"/>
          <p:cNvCxnSpPr/>
          <p:nvPr/>
        </p:nvCxnSpPr>
        <p:spPr>
          <a:xfrm rot="10800000">
            <a:off x="2180886" y="35147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44"/>
          <p:cNvCxnSpPr/>
          <p:nvPr/>
        </p:nvCxnSpPr>
        <p:spPr>
          <a:xfrm rot="10800000">
            <a:off x="2419011" y="350520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44"/>
          <p:cNvCxnSpPr/>
          <p:nvPr/>
        </p:nvCxnSpPr>
        <p:spPr>
          <a:xfrm rot="10800000">
            <a:off x="2676186" y="353377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44"/>
          <p:cNvCxnSpPr/>
          <p:nvPr/>
        </p:nvCxnSpPr>
        <p:spPr>
          <a:xfrm rot="10800000">
            <a:off x="2914311" y="352425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44"/>
          <p:cNvCxnSpPr/>
          <p:nvPr/>
        </p:nvCxnSpPr>
        <p:spPr>
          <a:xfrm rot="10800000">
            <a:off x="3152436" y="352425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51" name="Google Shape;651;p44"/>
          <p:cNvCxnSpPr/>
          <p:nvPr/>
        </p:nvCxnSpPr>
        <p:spPr>
          <a:xfrm rot="10800000">
            <a:off x="3390561" y="35147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52" name="Google Shape;652;p44"/>
          <p:cNvCxnSpPr/>
          <p:nvPr/>
        </p:nvCxnSpPr>
        <p:spPr>
          <a:xfrm rot="10800000">
            <a:off x="3638211" y="352425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53" name="Google Shape;653;p44"/>
          <p:cNvCxnSpPr/>
          <p:nvPr/>
        </p:nvCxnSpPr>
        <p:spPr>
          <a:xfrm rot="10800000">
            <a:off x="3876336" y="35147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54" name="Google Shape;654;p44"/>
          <p:cNvCxnSpPr/>
          <p:nvPr/>
        </p:nvCxnSpPr>
        <p:spPr>
          <a:xfrm rot="10800000">
            <a:off x="4114461" y="35147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55" name="Google Shape;655;p44"/>
          <p:cNvCxnSpPr/>
          <p:nvPr/>
        </p:nvCxnSpPr>
        <p:spPr>
          <a:xfrm rot="10800000">
            <a:off x="4352586" y="350520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56" name="Google Shape;656;p44"/>
          <p:cNvCxnSpPr/>
          <p:nvPr/>
        </p:nvCxnSpPr>
        <p:spPr>
          <a:xfrm rot="10800000">
            <a:off x="4581186" y="35147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57" name="Google Shape;657;p44"/>
          <p:cNvCxnSpPr/>
          <p:nvPr/>
        </p:nvCxnSpPr>
        <p:spPr>
          <a:xfrm rot="10800000">
            <a:off x="4828836" y="352425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58" name="Google Shape;658;p44"/>
          <p:cNvCxnSpPr/>
          <p:nvPr/>
        </p:nvCxnSpPr>
        <p:spPr>
          <a:xfrm rot="10800000">
            <a:off x="5066961" y="35147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44"/>
          <p:cNvCxnSpPr/>
          <p:nvPr/>
        </p:nvCxnSpPr>
        <p:spPr>
          <a:xfrm rot="10800000">
            <a:off x="5305086" y="35147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60" name="Google Shape;660;p44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44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First Come First Serve (FCFS)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62" name="Google Shape;662;p44"/>
          <p:cNvSpPr txBox="1"/>
          <p:nvPr/>
        </p:nvSpPr>
        <p:spPr>
          <a:xfrm>
            <a:off x="0" y="786675"/>
            <a:ext cx="91440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000" spcFirstLastPara="1" rIns="36000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Los procesos se planifican según el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orden de entrada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en la cola de preparados.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Las tareas largas (T1) pueden bloquear otras más cortas (T2, T3) o aquellas que se interrumpen para E/S (T0)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En general presenta 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baja productividad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, y un 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alto tiempo de respuesta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latencia</a:t>
            </a:r>
            <a:endParaRPr b="1" sz="1800"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663" name="Google Shape;663;p44"/>
          <p:cNvGraphicFramePr/>
          <p:nvPr/>
        </p:nvGraphicFramePr>
        <p:xfrm>
          <a:off x="5715000" y="368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{1339562E-43EB-461E-A026-4F68CA91E101}</a:tableStyleId>
              </a:tblPr>
              <a:tblGrid>
                <a:gridCol w="952500"/>
                <a:gridCol w="1285875"/>
                <a:gridCol w="1076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Proceso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Entrada (ms)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CPU (ms)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T0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5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T1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12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T2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T3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64" name="Google Shape;664;p44"/>
          <p:cNvCxnSpPr/>
          <p:nvPr/>
        </p:nvCxnSpPr>
        <p:spPr>
          <a:xfrm>
            <a:off x="492075" y="6153150"/>
            <a:ext cx="500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5" name="Google Shape;665;p44"/>
          <p:cNvCxnSpPr/>
          <p:nvPr/>
        </p:nvCxnSpPr>
        <p:spPr>
          <a:xfrm rot="10800000">
            <a:off x="492075" y="3467250"/>
            <a:ext cx="0" cy="268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6" name="Google Shape;666;p44"/>
          <p:cNvSpPr/>
          <p:nvPr/>
        </p:nvSpPr>
        <p:spPr>
          <a:xfrm>
            <a:off x="1219200" y="5636950"/>
            <a:ext cx="2895300" cy="345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Inter"/>
                <a:ea typeface="Inter"/>
                <a:cs typeface="Inter"/>
                <a:sym typeface="Inter"/>
              </a:rPr>
              <a:t>W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7" name="Google Shape;667;p44"/>
          <p:cNvSpPr/>
          <p:nvPr/>
        </p:nvSpPr>
        <p:spPr>
          <a:xfrm>
            <a:off x="981075" y="5018450"/>
            <a:ext cx="2657100" cy="345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Inter"/>
                <a:ea typeface="Inter"/>
                <a:cs typeface="Inter"/>
                <a:sym typeface="Inter"/>
              </a:rPr>
              <a:t>W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8" name="Google Shape;668;p44"/>
          <p:cNvSpPr/>
          <p:nvPr/>
        </p:nvSpPr>
        <p:spPr>
          <a:xfrm>
            <a:off x="742950" y="4399925"/>
            <a:ext cx="2895300" cy="345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9" name="Google Shape;669;p44"/>
          <p:cNvSpPr/>
          <p:nvPr/>
        </p:nvSpPr>
        <p:spPr>
          <a:xfrm>
            <a:off x="495300" y="3781425"/>
            <a:ext cx="241200" cy="345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0" name="Google Shape;670;p44"/>
          <p:cNvSpPr/>
          <p:nvPr/>
        </p:nvSpPr>
        <p:spPr>
          <a:xfrm>
            <a:off x="736300" y="3781425"/>
            <a:ext cx="492300" cy="3450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Inter"/>
                <a:ea typeface="Inter"/>
                <a:cs typeface="Inter"/>
                <a:sym typeface="Inter"/>
              </a:rPr>
              <a:t>E/S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1" name="Google Shape;671;p44"/>
          <p:cNvSpPr/>
          <p:nvPr/>
        </p:nvSpPr>
        <p:spPr>
          <a:xfrm>
            <a:off x="3643123" y="5018450"/>
            <a:ext cx="466500" cy="345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2" name="Google Shape;672;p44"/>
          <p:cNvSpPr/>
          <p:nvPr/>
        </p:nvSpPr>
        <p:spPr>
          <a:xfrm>
            <a:off x="4119600" y="5636950"/>
            <a:ext cx="241200" cy="345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3" name="Google Shape;673;p44"/>
          <p:cNvSpPr/>
          <p:nvPr/>
        </p:nvSpPr>
        <p:spPr>
          <a:xfrm>
            <a:off x="1228600" y="3781400"/>
            <a:ext cx="3117300" cy="345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Inter"/>
                <a:ea typeface="Inter"/>
                <a:cs typeface="Inter"/>
                <a:sym typeface="Inter"/>
              </a:rPr>
              <a:t>W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4" name="Google Shape;674;p44"/>
          <p:cNvSpPr/>
          <p:nvPr/>
        </p:nvSpPr>
        <p:spPr>
          <a:xfrm>
            <a:off x="4355800" y="3781425"/>
            <a:ext cx="949200" cy="345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Google Shape;675;p44"/>
          <p:cNvSpPr/>
          <p:nvPr/>
        </p:nvSpPr>
        <p:spPr>
          <a:xfrm>
            <a:off x="619125" y="6162675"/>
            <a:ext cx="24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1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6" name="Google Shape;676;p44"/>
          <p:cNvSpPr/>
          <p:nvPr/>
        </p:nvSpPr>
        <p:spPr>
          <a:xfrm>
            <a:off x="1583168" y="6162675"/>
            <a:ext cx="24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5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7" name="Google Shape;677;p44"/>
          <p:cNvSpPr/>
          <p:nvPr/>
        </p:nvSpPr>
        <p:spPr>
          <a:xfrm>
            <a:off x="2788221" y="6162675"/>
            <a:ext cx="24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10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8" name="Google Shape;678;p44"/>
          <p:cNvSpPr/>
          <p:nvPr/>
        </p:nvSpPr>
        <p:spPr>
          <a:xfrm>
            <a:off x="3987796" y="6162675"/>
            <a:ext cx="24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15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9" name="Google Shape;679;p44"/>
          <p:cNvSpPr/>
          <p:nvPr/>
        </p:nvSpPr>
        <p:spPr>
          <a:xfrm>
            <a:off x="5183325" y="6162675"/>
            <a:ext cx="24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20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0" name="Google Shape;680;p44"/>
          <p:cNvSpPr/>
          <p:nvPr/>
        </p:nvSpPr>
        <p:spPr>
          <a:xfrm>
            <a:off x="138054" y="3790950"/>
            <a:ext cx="360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T0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1" name="Google Shape;681;p44"/>
          <p:cNvSpPr/>
          <p:nvPr/>
        </p:nvSpPr>
        <p:spPr>
          <a:xfrm>
            <a:off x="138054" y="4400550"/>
            <a:ext cx="360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s" sz="1200">
                <a:latin typeface="Inter"/>
                <a:ea typeface="Inter"/>
                <a:cs typeface="Inter"/>
                <a:sym typeface="Inter"/>
              </a:rPr>
              <a:t>1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2" name="Google Shape;682;p44"/>
          <p:cNvSpPr/>
          <p:nvPr/>
        </p:nvSpPr>
        <p:spPr>
          <a:xfrm>
            <a:off x="123825" y="5029200"/>
            <a:ext cx="360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T2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3" name="Google Shape;683;p44"/>
          <p:cNvSpPr/>
          <p:nvPr/>
        </p:nvSpPr>
        <p:spPr>
          <a:xfrm>
            <a:off x="123825" y="5638800"/>
            <a:ext cx="360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T3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8" name="Google Shape;688;p45"/>
          <p:cNvCxnSpPr/>
          <p:nvPr/>
        </p:nvCxnSpPr>
        <p:spPr>
          <a:xfrm rot="10800000">
            <a:off x="742611" y="330517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89" name="Google Shape;689;p45"/>
          <p:cNvCxnSpPr/>
          <p:nvPr/>
        </p:nvCxnSpPr>
        <p:spPr>
          <a:xfrm rot="10800000">
            <a:off x="980736" y="329565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45"/>
          <p:cNvCxnSpPr/>
          <p:nvPr/>
        </p:nvCxnSpPr>
        <p:spPr>
          <a:xfrm rot="10800000">
            <a:off x="1218861" y="329565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45"/>
          <p:cNvCxnSpPr/>
          <p:nvPr/>
        </p:nvCxnSpPr>
        <p:spPr>
          <a:xfrm rot="10800000">
            <a:off x="1456986" y="32861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2" name="Google Shape;692;p45"/>
          <p:cNvCxnSpPr/>
          <p:nvPr/>
        </p:nvCxnSpPr>
        <p:spPr>
          <a:xfrm rot="10800000">
            <a:off x="1704636" y="329565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3" name="Google Shape;693;p45"/>
          <p:cNvCxnSpPr/>
          <p:nvPr/>
        </p:nvCxnSpPr>
        <p:spPr>
          <a:xfrm rot="10800000">
            <a:off x="1942761" y="32861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4" name="Google Shape;694;p45"/>
          <p:cNvCxnSpPr/>
          <p:nvPr/>
        </p:nvCxnSpPr>
        <p:spPr>
          <a:xfrm rot="10800000">
            <a:off x="2180886" y="32861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5" name="Google Shape;695;p45"/>
          <p:cNvCxnSpPr/>
          <p:nvPr/>
        </p:nvCxnSpPr>
        <p:spPr>
          <a:xfrm rot="10800000">
            <a:off x="2419011" y="327660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6" name="Google Shape;696;p45"/>
          <p:cNvCxnSpPr/>
          <p:nvPr/>
        </p:nvCxnSpPr>
        <p:spPr>
          <a:xfrm rot="10800000">
            <a:off x="2676186" y="330517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7" name="Google Shape;697;p45"/>
          <p:cNvCxnSpPr/>
          <p:nvPr/>
        </p:nvCxnSpPr>
        <p:spPr>
          <a:xfrm rot="10800000">
            <a:off x="2914311" y="329565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8" name="Google Shape;698;p45"/>
          <p:cNvCxnSpPr/>
          <p:nvPr/>
        </p:nvCxnSpPr>
        <p:spPr>
          <a:xfrm rot="10800000">
            <a:off x="3152436" y="329565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9" name="Google Shape;699;p45"/>
          <p:cNvCxnSpPr/>
          <p:nvPr/>
        </p:nvCxnSpPr>
        <p:spPr>
          <a:xfrm rot="10800000">
            <a:off x="3390561" y="32861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00" name="Google Shape;700;p45"/>
          <p:cNvCxnSpPr/>
          <p:nvPr/>
        </p:nvCxnSpPr>
        <p:spPr>
          <a:xfrm rot="10800000">
            <a:off x="3638211" y="329565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45"/>
          <p:cNvCxnSpPr/>
          <p:nvPr/>
        </p:nvCxnSpPr>
        <p:spPr>
          <a:xfrm rot="10800000">
            <a:off x="3876336" y="32861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02" name="Google Shape;702;p45"/>
          <p:cNvCxnSpPr/>
          <p:nvPr/>
        </p:nvCxnSpPr>
        <p:spPr>
          <a:xfrm rot="10800000">
            <a:off x="4114461" y="32861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45"/>
          <p:cNvCxnSpPr/>
          <p:nvPr/>
        </p:nvCxnSpPr>
        <p:spPr>
          <a:xfrm rot="10800000">
            <a:off x="4352586" y="327660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04" name="Google Shape;704;p45"/>
          <p:cNvCxnSpPr/>
          <p:nvPr/>
        </p:nvCxnSpPr>
        <p:spPr>
          <a:xfrm rot="10800000">
            <a:off x="4581186" y="32861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05" name="Google Shape;705;p45"/>
          <p:cNvCxnSpPr/>
          <p:nvPr/>
        </p:nvCxnSpPr>
        <p:spPr>
          <a:xfrm rot="10800000">
            <a:off x="4828836" y="329565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06" name="Google Shape;706;p45"/>
          <p:cNvCxnSpPr/>
          <p:nvPr/>
        </p:nvCxnSpPr>
        <p:spPr>
          <a:xfrm rot="10800000">
            <a:off x="5066961" y="32861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07" name="Google Shape;707;p45"/>
          <p:cNvCxnSpPr/>
          <p:nvPr/>
        </p:nvCxnSpPr>
        <p:spPr>
          <a:xfrm rot="10800000">
            <a:off x="5305086" y="32861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08" name="Google Shape;708;p45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45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Shortest Job First (SJF)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10" name="Google Shape;710;p45"/>
          <p:cNvSpPr txBox="1"/>
          <p:nvPr/>
        </p:nvSpPr>
        <p:spPr>
          <a:xfrm>
            <a:off x="0" y="615225"/>
            <a:ext cx="91440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000" spcFirstLastPara="1" rIns="36000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e planifican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primero los procesos m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ás cortos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Favorece tareas interactivas, la 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productividad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(más número de tareas completadas) y el 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tiempo medio de espera</a:t>
            </a:r>
            <a:endParaRPr b="1"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Es necesario conocer el perfil de ejecución de las tareas (predicción basada en las ciclos anteriores)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Problemas de 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inanición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 injusticias (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unfairness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para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tareas largas (expropiativo)</a:t>
            </a:r>
            <a:r>
              <a:rPr b="1" baseline="30000" lang="es" sz="1800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endParaRPr b="1" baseline="30000" sz="1800">
              <a:solidFill>
                <a:srgbClr val="CC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711" name="Google Shape;711;p45"/>
          <p:cNvGraphicFramePr/>
          <p:nvPr/>
        </p:nvGraphicFramePr>
        <p:xfrm>
          <a:off x="5715000" y="345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{1339562E-43EB-461E-A026-4F68CA91E101}</a:tableStyleId>
              </a:tblPr>
              <a:tblGrid>
                <a:gridCol w="952500"/>
                <a:gridCol w="1285875"/>
                <a:gridCol w="1076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Proceso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Entrada (ms)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CPU (ms)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T0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5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T1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12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T2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T3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12" name="Google Shape;712;p45"/>
          <p:cNvCxnSpPr/>
          <p:nvPr/>
        </p:nvCxnSpPr>
        <p:spPr>
          <a:xfrm>
            <a:off x="492075" y="5924550"/>
            <a:ext cx="500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3" name="Google Shape;713;p45"/>
          <p:cNvCxnSpPr/>
          <p:nvPr/>
        </p:nvCxnSpPr>
        <p:spPr>
          <a:xfrm rot="10800000">
            <a:off x="492075" y="3238650"/>
            <a:ext cx="0" cy="268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4" name="Google Shape;714;p45"/>
          <p:cNvSpPr/>
          <p:nvPr/>
        </p:nvSpPr>
        <p:spPr>
          <a:xfrm>
            <a:off x="1219200" y="5408350"/>
            <a:ext cx="485400" cy="345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Inter"/>
                <a:ea typeface="Inter"/>
                <a:cs typeface="Inter"/>
                <a:sym typeface="Inter"/>
              </a:rPr>
              <a:t>W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5" name="Google Shape;715;p45"/>
          <p:cNvSpPr/>
          <p:nvPr/>
        </p:nvSpPr>
        <p:spPr>
          <a:xfrm>
            <a:off x="981075" y="4789850"/>
            <a:ext cx="969900" cy="345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Inter"/>
                <a:ea typeface="Inter"/>
                <a:cs typeface="Inter"/>
                <a:sym typeface="Inter"/>
              </a:rPr>
              <a:t>W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6" name="Google Shape;716;p45"/>
          <p:cNvSpPr/>
          <p:nvPr/>
        </p:nvSpPr>
        <p:spPr>
          <a:xfrm>
            <a:off x="2422475" y="4168713"/>
            <a:ext cx="2895300" cy="345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7" name="Google Shape;717;p45"/>
          <p:cNvSpPr/>
          <p:nvPr/>
        </p:nvSpPr>
        <p:spPr>
          <a:xfrm>
            <a:off x="495300" y="3552825"/>
            <a:ext cx="1205100" cy="345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8" name="Google Shape;718;p45"/>
          <p:cNvSpPr/>
          <p:nvPr/>
        </p:nvSpPr>
        <p:spPr>
          <a:xfrm>
            <a:off x="1957198" y="4789850"/>
            <a:ext cx="466500" cy="345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9" name="Google Shape;719;p45"/>
          <p:cNvSpPr/>
          <p:nvPr/>
        </p:nvSpPr>
        <p:spPr>
          <a:xfrm>
            <a:off x="1709775" y="5408350"/>
            <a:ext cx="241200" cy="345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0" name="Google Shape;720;p45"/>
          <p:cNvSpPr/>
          <p:nvPr/>
        </p:nvSpPr>
        <p:spPr>
          <a:xfrm>
            <a:off x="619125" y="5934075"/>
            <a:ext cx="24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1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1" name="Google Shape;721;p45"/>
          <p:cNvSpPr/>
          <p:nvPr/>
        </p:nvSpPr>
        <p:spPr>
          <a:xfrm>
            <a:off x="1583168" y="5934075"/>
            <a:ext cx="24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5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2" name="Google Shape;722;p45"/>
          <p:cNvSpPr/>
          <p:nvPr/>
        </p:nvSpPr>
        <p:spPr>
          <a:xfrm>
            <a:off x="2788221" y="5934075"/>
            <a:ext cx="24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10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3" name="Google Shape;723;p45"/>
          <p:cNvSpPr/>
          <p:nvPr/>
        </p:nvSpPr>
        <p:spPr>
          <a:xfrm>
            <a:off x="3987796" y="5934075"/>
            <a:ext cx="24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15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4" name="Google Shape;724;p45"/>
          <p:cNvSpPr/>
          <p:nvPr/>
        </p:nvSpPr>
        <p:spPr>
          <a:xfrm>
            <a:off x="5183325" y="5934075"/>
            <a:ext cx="24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20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5" name="Google Shape;725;p45"/>
          <p:cNvSpPr/>
          <p:nvPr/>
        </p:nvSpPr>
        <p:spPr>
          <a:xfrm>
            <a:off x="742602" y="4168725"/>
            <a:ext cx="1676100" cy="345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Inter"/>
                <a:ea typeface="Inter"/>
                <a:cs typeface="Inter"/>
                <a:sym typeface="Inter"/>
              </a:rPr>
              <a:t>W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6" name="Google Shape;726;p45"/>
          <p:cNvSpPr/>
          <p:nvPr/>
        </p:nvSpPr>
        <p:spPr>
          <a:xfrm>
            <a:off x="138054" y="3562350"/>
            <a:ext cx="360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T0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7" name="Google Shape;727;p45"/>
          <p:cNvSpPr/>
          <p:nvPr/>
        </p:nvSpPr>
        <p:spPr>
          <a:xfrm>
            <a:off x="138054" y="4171950"/>
            <a:ext cx="360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T1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8" name="Google Shape;728;p45"/>
          <p:cNvSpPr/>
          <p:nvPr/>
        </p:nvSpPr>
        <p:spPr>
          <a:xfrm>
            <a:off x="123825" y="4800600"/>
            <a:ext cx="360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T2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9" name="Google Shape;729;p45"/>
          <p:cNvSpPr/>
          <p:nvPr/>
        </p:nvSpPr>
        <p:spPr>
          <a:xfrm>
            <a:off x="123825" y="5410200"/>
            <a:ext cx="360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T3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0" name="Google Shape;730;p45"/>
          <p:cNvSpPr txBox="1"/>
          <p:nvPr/>
        </p:nvSpPr>
        <p:spPr>
          <a:xfrm>
            <a:off x="125" y="6393525"/>
            <a:ext cx="911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baseline="30000" lang="es" sz="1800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planificadores basados en prioridad presentan este problema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5" name="Google Shape;735;p46"/>
          <p:cNvCxnSpPr/>
          <p:nvPr/>
        </p:nvCxnSpPr>
        <p:spPr>
          <a:xfrm rot="10800000">
            <a:off x="742611" y="390525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36" name="Google Shape;736;p46"/>
          <p:cNvCxnSpPr/>
          <p:nvPr/>
        </p:nvCxnSpPr>
        <p:spPr>
          <a:xfrm rot="10800000">
            <a:off x="980736" y="38957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37" name="Google Shape;737;p46"/>
          <p:cNvCxnSpPr/>
          <p:nvPr/>
        </p:nvCxnSpPr>
        <p:spPr>
          <a:xfrm rot="10800000">
            <a:off x="1218861" y="38957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38" name="Google Shape;738;p46"/>
          <p:cNvCxnSpPr/>
          <p:nvPr/>
        </p:nvCxnSpPr>
        <p:spPr>
          <a:xfrm rot="10800000">
            <a:off x="1456986" y="388620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39" name="Google Shape;739;p46"/>
          <p:cNvCxnSpPr/>
          <p:nvPr/>
        </p:nvCxnSpPr>
        <p:spPr>
          <a:xfrm rot="10800000">
            <a:off x="1704636" y="38957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40" name="Google Shape;740;p46"/>
          <p:cNvCxnSpPr/>
          <p:nvPr/>
        </p:nvCxnSpPr>
        <p:spPr>
          <a:xfrm rot="10800000">
            <a:off x="1942761" y="388620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41" name="Google Shape;741;p46"/>
          <p:cNvCxnSpPr/>
          <p:nvPr/>
        </p:nvCxnSpPr>
        <p:spPr>
          <a:xfrm rot="10800000">
            <a:off x="2180886" y="388620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42" name="Google Shape;742;p46"/>
          <p:cNvCxnSpPr/>
          <p:nvPr/>
        </p:nvCxnSpPr>
        <p:spPr>
          <a:xfrm rot="10800000">
            <a:off x="2419011" y="387667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43" name="Google Shape;743;p46"/>
          <p:cNvCxnSpPr/>
          <p:nvPr/>
        </p:nvCxnSpPr>
        <p:spPr>
          <a:xfrm rot="10800000">
            <a:off x="2676186" y="390525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44" name="Google Shape;744;p46"/>
          <p:cNvCxnSpPr/>
          <p:nvPr/>
        </p:nvCxnSpPr>
        <p:spPr>
          <a:xfrm rot="10800000">
            <a:off x="2914311" y="38957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45" name="Google Shape;745;p46"/>
          <p:cNvCxnSpPr/>
          <p:nvPr/>
        </p:nvCxnSpPr>
        <p:spPr>
          <a:xfrm rot="10800000">
            <a:off x="3152436" y="38957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46" name="Google Shape;746;p46"/>
          <p:cNvCxnSpPr/>
          <p:nvPr/>
        </p:nvCxnSpPr>
        <p:spPr>
          <a:xfrm rot="10800000">
            <a:off x="3390561" y="388620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47" name="Google Shape;747;p46"/>
          <p:cNvCxnSpPr/>
          <p:nvPr/>
        </p:nvCxnSpPr>
        <p:spPr>
          <a:xfrm rot="10800000">
            <a:off x="3638211" y="38957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48" name="Google Shape;748;p46"/>
          <p:cNvCxnSpPr/>
          <p:nvPr/>
        </p:nvCxnSpPr>
        <p:spPr>
          <a:xfrm rot="10800000">
            <a:off x="3876336" y="388620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49" name="Google Shape;749;p46"/>
          <p:cNvCxnSpPr/>
          <p:nvPr/>
        </p:nvCxnSpPr>
        <p:spPr>
          <a:xfrm rot="10800000">
            <a:off x="4114461" y="388620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50" name="Google Shape;750;p46"/>
          <p:cNvCxnSpPr/>
          <p:nvPr/>
        </p:nvCxnSpPr>
        <p:spPr>
          <a:xfrm rot="10800000">
            <a:off x="4352586" y="387667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51" name="Google Shape;751;p46"/>
          <p:cNvCxnSpPr/>
          <p:nvPr/>
        </p:nvCxnSpPr>
        <p:spPr>
          <a:xfrm rot="10800000">
            <a:off x="4581186" y="388620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52" name="Google Shape;752;p46"/>
          <p:cNvCxnSpPr/>
          <p:nvPr/>
        </p:nvCxnSpPr>
        <p:spPr>
          <a:xfrm rot="10800000">
            <a:off x="4828836" y="38957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53" name="Google Shape;753;p46"/>
          <p:cNvCxnSpPr/>
          <p:nvPr/>
        </p:nvCxnSpPr>
        <p:spPr>
          <a:xfrm rot="10800000">
            <a:off x="5066961" y="388620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54" name="Google Shape;754;p46"/>
          <p:cNvCxnSpPr/>
          <p:nvPr/>
        </p:nvCxnSpPr>
        <p:spPr>
          <a:xfrm rot="10800000">
            <a:off x="5305086" y="388620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55" name="Google Shape;755;p46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46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Round Robin </a:t>
            </a: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(RR)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57" name="Google Shape;757;p46"/>
          <p:cNvSpPr txBox="1"/>
          <p:nvPr/>
        </p:nvSpPr>
        <p:spPr>
          <a:xfrm>
            <a:off x="0" y="657049"/>
            <a:ext cx="91440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000" spcFirstLastPara="1" rIns="36000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Combina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FCFS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con 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periodos fijos de tiempo (</a:t>
            </a:r>
            <a:r>
              <a:rPr b="1" i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cuanto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)</a:t>
            </a:r>
            <a:endParaRPr b="1"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Un proceso se ejecuta hasta que termina, se bloquea, cede la CPU o termina su cuanto. La cola de espera se gestiona como una cola FIFO circular.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Asignación equitativa (fair) y bajo tiempo de espera para procesos de distinta duración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La productividad se degrada con cuantos pequeños o procesos de la misma duración. Buen tiempo de respuesta para procesos cortos.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Duración del cuanto: largos (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→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FCSF) cortos (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↑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cambios contexto)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758" name="Google Shape;758;p46"/>
          <p:cNvGraphicFramePr/>
          <p:nvPr/>
        </p:nvGraphicFramePr>
        <p:xfrm>
          <a:off x="5715000" y="405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{1339562E-43EB-461E-A026-4F68CA91E101}</a:tableStyleId>
              </a:tblPr>
              <a:tblGrid>
                <a:gridCol w="952500"/>
                <a:gridCol w="1285875"/>
                <a:gridCol w="1076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Proceso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Entrada (ms)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CPU (ms)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T0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5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T1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12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T2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T3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59" name="Google Shape;759;p46"/>
          <p:cNvCxnSpPr/>
          <p:nvPr/>
        </p:nvCxnSpPr>
        <p:spPr>
          <a:xfrm>
            <a:off x="492075" y="6534150"/>
            <a:ext cx="500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0" name="Google Shape;760;p46"/>
          <p:cNvCxnSpPr/>
          <p:nvPr/>
        </p:nvCxnSpPr>
        <p:spPr>
          <a:xfrm rot="10800000">
            <a:off x="492075" y="3838725"/>
            <a:ext cx="0" cy="268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1" name="Google Shape;761;p46"/>
          <p:cNvSpPr/>
          <p:nvPr/>
        </p:nvSpPr>
        <p:spPr>
          <a:xfrm>
            <a:off x="1219200" y="6008425"/>
            <a:ext cx="723600" cy="345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Inter"/>
                <a:ea typeface="Inter"/>
                <a:cs typeface="Inter"/>
                <a:sym typeface="Inter"/>
              </a:rPr>
              <a:t>W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2" name="Google Shape;762;p46"/>
          <p:cNvSpPr/>
          <p:nvPr/>
        </p:nvSpPr>
        <p:spPr>
          <a:xfrm>
            <a:off x="981075" y="5389925"/>
            <a:ext cx="466500" cy="345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Inter"/>
                <a:ea typeface="Inter"/>
                <a:cs typeface="Inter"/>
                <a:sym typeface="Inter"/>
              </a:rPr>
              <a:t>W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3" name="Google Shape;763;p46"/>
          <p:cNvSpPr/>
          <p:nvPr/>
        </p:nvSpPr>
        <p:spPr>
          <a:xfrm>
            <a:off x="981075" y="4771400"/>
            <a:ext cx="493500" cy="345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4" name="Google Shape;764;p46"/>
          <p:cNvSpPr/>
          <p:nvPr/>
        </p:nvSpPr>
        <p:spPr>
          <a:xfrm>
            <a:off x="495300" y="4152900"/>
            <a:ext cx="485700" cy="345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5" name="Google Shape;765;p46"/>
          <p:cNvSpPr/>
          <p:nvPr/>
        </p:nvSpPr>
        <p:spPr>
          <a:xfrm>
            <a:off x="1455525" y="5389925"/>
            <a:ext cx="485700" cy="345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6" name="Google Shape;766;p46"/>
          <p:cNvSpPr/>
          <p:nvPr/>
        </p:nvSpPr>
        <p:spPr>
          <a:xfrm>
            <a:off x="1938375" y="6008425"/>
            <a:ext cx="241200" cy="345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7" name="Google Shape;767;p46"/>
          <p:cNvSpPr/>
          <p:nvPr/>
        </p:nvSpPr>
        <p:spPr>
          <a:xfrm>
            <a:off x="980950" y="4152875"/>
            <a:ext cx="1190400" cy="345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Inter"/>
                <a:ea typeface="Inter"/>
                <a:cs typeface="Inter"/>
                <a:sym typeface="Inter"/>
              </a:rPr>
              <a:t>W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8" name="Google Shape;768;p46"/>
          <p:cNvSpPr/>
          <p:nvPr/>
        </p:nvSpPr>
        <p:spPr>
          <a:xfrm>
            <a:off x="2182525" y="4152875"/>
            <a:ext cx="493500" cy="345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9" name="Google Shape;769;p46"/>
          <p:cNvSpPr/>
          <p:nvPr/>
        </p:nvSpPr>
        <p:spPr>
          <a:xfrm>
            <a:off x="619125" y="6543675"/>
            <a:ext cx="24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1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0" name="Google Shape;770;p46"/>
          <p:cNvSpPr/>
          <p:nvPr/>
        </p:nvSpPr>
        <p:spPr>
          <a:xfrm>
            <a:off x="1583168" y="6543675"/>
            <a:ext cx="24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5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1" name="Google Shape;771;p46"/>
          <p:cNvSpPr/>
          <p:nvPr/>
        </p:nvSpPr>
        <p:spPr>
          <a:xfrm>
            <a:off x="2788221" y="6543675"/>
            <a:ext cx="24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10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2" name="Google Shape;772;p46"/>
          <p:cNvSpPr/>
          <p:nvPr/>
        </p:nvSpPr>
        <p:spPr>
          <a:xfrm>
            <a:off x="3987796" y="6543675"/>
            <a:ext cx="24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15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3" name="Google Shape;773;p46"/>
          <p:cNvSpPr/>
          <p:nvPr/>
        </p:nvSpPr>
        <p:spPr>
          <a:xfrm>
            <a:off x="5183325" y="6543675"/>
            <a:ext cx="24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20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4" name="Google Shape;774;p46"/>
          <p:cNvSpPr/>
          <p:nvPr/>
        </p:nvSpPr>
        <p:spPr>
          <a:xfrm>
            <a:off x="695325" y="4771425"/>
            <a:ext cx="285600" cy="345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Inter"/>
                <a:ea typeface="Inter"/>
                <a:cs typeface="Inter"/>
                <a:sym typeface="Inter"/>
              </a:rPr>
              <a:t>W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5" name="Google Shape;775;p46"/>
          <p:cNvSpPr/>
          <p:nvPr/>
        </p:nvSpPr>
        <p:spPr>
          <a:xfrm>
            <a:off x="1470650" y="4771400"/>
            <a:ext cx="1190400" cy="345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Inter"/>
                <a:ea typeface="Inter"/>
                <a:cs typeface="Inter"/>
                <a:sym typeface="Inter"/>
              </a:rPr>
              <a:t>W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6" name="Google Shape;776;p46"/>
          <p:cNvSpPr/>
          <p:nvPr/>
        </p:nvSpPr>
        <p:spPr>
          <a:xfrm>
            <a:off x="2657475" y="4771400"/>
            <a:ext cx="493500" cy="345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7" name="Google Shape;777;p46"/>
          <p:cNvSpPr/>
          <p:nvPr/>
        </p:nvSpPr>
        <p:spPr>
          <a:xfrm>
            <a:off x="2671525" y="4152875"/>
            <a:ext cx="466500" cy="345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Inter"/>
                <a:ea typeface="Inter"/>
                <a:cs typeface="Inter"/>
                <a:sym typeface="Inter"/>
              </a:rPr>
              <a:t>W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8" name="Google Shape;778;p46"/>
          <p:cNvSpPr/>
          <p:nvPr/>
        </p:nvSpPr>
        <p:spPr>
          <a:xfrm>
            <a:off x="3148575" y="4152900"/>
            <a:ext cx="241200" cy="345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9" name="Google Shape;779;p46"/>
          <p:cNvSpPr/>
          <p:nvPr/>
        </p:nvSpPr>
        <p:spPr>
          <a:xfrm>
            <a:off x="3152544" y="4771425"/>
            <a:ext cx="241200" cy="345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Inter"/>
                <a:ea typeface="Inter"/>
                <a:cs typeface="Inter"/>
                <a:sym typeface="Inter"/>
              </a:rPr>
              <a:t>W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0" name="Google Shape;780;p46"/>
          <p:cNvSpPr/>
          <p:nvPr/>
        </p:nvSpPr>
        <p:spPr>
          <a:xfrm>
            <a:off x="3386012" y="4771400"/>
            <a:ext cx="1919100" cy="345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81" name="Google Shape;781;p46"/>
          <p:cNvCxnSpPr/>
          <p:nvPr/>
        </p:nvCxnSpPr>
        <p:spPr>
          <a:xfrm>
            <a:off x="2657050" y="5395913"/>
            <a:ext cx="51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782" name="Google Shape;782;p46"/>
          <p:cNvSpPr txBox="1"/>
          <p:nvPr/>
        </p:nvSpPr>
        <p:spPr>
          <a:xfrm>
            <a:off x="2590800" y="5446050"/>
            <a:ext cx="176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cuanto = 2ms</a:t>
            </a:r>
            <a:endParaRPr/>
          </a:p>
        </p:txBody>
      </p:sp>
      <p:sp>
        <p:nvSpPr>
          <p:cNvPr id="783" name="Google Shape;783;p46"/>
          <p:cNvSpPr/>
          <p:nvPr/>
        </p:nvSpPr>
        <p:spPr>
          <a:xfrm>
            <a:off x="138054" y="4171950"/>
            <a:ext cx="360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T0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4" name="Google Shape;784;p46"/>
          <p:cNvSpPr/>
          <p:nvPr/>
        </p:nvSpPr>
        <p:spPr>
          <a:xfrm>
            <a:off x="138054" y="4781550"/>
            <a:ext cx="360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T1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5" name="Google Shape;785;p46"/>
          <p:cNvSpPr/>
          <p:nvPr/>
        </p:nvSpPr>
        <p:spPr>
          <a:xfrm>
            <a:off x="123825" y="5410200"/>
            <a:ext cx="360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T2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6" name="Google Shape;786;p46"/>
          <p:cNvSpPr/>
          <p:nvPr/>
        </p:nvSpPr>
        <p:spPr>
          <a:xfrm>
            <a:off x="123825" y="6019800"/>
            <a:ext cx="360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T3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47"/>
          <p:cNvSpPr txBox="1"/>
          <p:nvPr/>
        </p:nvSpPr>
        <p:spPr>
          <a:xfrm>
            <a:off x="0" y="777150"/>
            <a:ext cx="9144000" cy="20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000" spcFirstLastPara="1" rIns="36000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Combina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SJF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con 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periodos fijos de tiempo (</a:t>
            </a:r>
            <a:r>
              <a:rPr b="1" i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cuanto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)</a:t>
            </a:r>
            <a:endParaRPr b="1"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El siguiente trabajo es el de menor tiempo restante para la finalización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 necesario conocer el perfil de ejecución de las tareas.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Problemas de 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inanición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o injusticias (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unfairness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para tareas largas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92" name="Google Shape;792;p47"/>
          <p:cNvCxnSpPr/>
          <p:nvPr/>
        </p:nvCxnSpPr>
        <p:spPr>
          <a:xfrm rot="10800000">
            <a:off x="609261" y="35909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93" name="Google Shape;793;p47"/>
          <p:cNvCxnSpPr/>
          <p:nvPr/>
        </p:nvCxnSpPr>
        <p:spPr>
          <a:xfrm rot="10800000">
            <a:off x="847386" y="358140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94" name="Google Shape;794;p47"/>
          <p:cNvCxnSpPr/>
          <p:nvPr/>
        </p:nvCxnSpPr>
        <p:spPr>
          <a:xfrm rot="10800000">
            <a:off x="1085511" y="358140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95" name="Google Shape;795;p47"/>
          <p:cNvCxnSpPr/>
          <p:nvPr/>
        </p:nvCxnSpPr>
        <p:spPr>
          <a:xfrm rot="10800000">
            <a:off x="1323636" y="357187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96" name="Google Shape;796;p47"/>
          <p:cNvCxnSpPr/>
          <p:nvPr/>
        </p:nvCxnSpPr>
        <p:spPr>
          <a:xfrm rot="10800000">
            <a:off x="1571286" y="358140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97" name="Google Shape;797;p47"/>
          <p:cNvCxnSpPr/>
          <p:nvPr/>
        </p:nvCxnSpPr>
        <p:spPr>
          <a:xfrm rot="10800000">
            <a:off x="1809411" y="357187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98" name="Google Shape;798;p47"/>
          <p:cNvCxnSpPr/>
          <p:nvPr/>
        </p:nvCxnSpPr>
        <p:spPr>
          <a:xfrm rot="10800000">
            <a:off x="2047536" y="357187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99" name="Google Shape;799;p47"/>
          <p:cNvCxnSpPr/>
          <p:nvPr/>
        </p:nvCxnSpPr>
        <p:spPr>
          <a:xfrm rot="10800000">
            <a:off x="2285661" y="356235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00" name="Google Shape;800;p47"/>
          <p:cNvCxnSpPr/>
          <p:nvPr/>
        </p:nvCxnSpPr>
        <p:spPr>
          <a:xfrm rot="10800000">
            <a:off x="2542836" y="359092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01" name="Google Shape;801;p47"/>
          <p:cNvCxnSpPr/>
          <p:nvPr/>
        </p:nvCxnSpPr>
        <p:spPr>
          <a:xfrm rot="10800000">
            <a:off x="2780961" y="358140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02" name="Google Shape;802;p47"/>
          <p:cNvCxnSpPr/>
          <p:nvPr/>
        </p:nvCxnSpPr>
        <p:spPr>
          <a:xfrm rot="10800000">
            <a:off x="3019086" y="358140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03" name="Google Shape;803;p47"/>
          <p:cNvCxnSpPr/>
          <p:nvPr/>
        </p:nvCxnSpPr>
        <p:spPr>
          <a:xfrm rot="10800000">
            <a:off x="3257211" y="357187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04" name="Google Shape;804;p47"/>
          <p:cNvCxnSpPr/>
          <p:nvPr/>
        </p:nvCxnSpPr>
        <p:spPr>
          <a:xfrm rot="10800000">
            <a:off x="3504861" y="358140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05" name="Google Shape;805;p47"/>
          <p:cNvCxnSpPr/>
          <p:nvPr/>
        </p:nvCxnSpPr>
        <p:spPr>
          <a:xfrm rot="10800000">
            <a:off x="3742986" y="357187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06" name="Google Shape;806;p47"/>
          <p:cNvCxnSpPr/>
          <p:nvPr/>
        </p:nvCxnSpPr>
        <p:spPr>
          <a:xfrm rot="10800000">
            <a:off x="3981111" y="357187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47"/>
          <p:cNvCxnSpPr/>
          <p:nvPr/>
        </p:nvCxnSpPr>
        <p:spPr>
          <a:xfrm rot="10800000">
            <a:off x="4219236" y="356235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47"/>
          <p:cNvCxnSpPr/>
          <p:nvPr/>
        </p:nvCxnSpPr>
        <p:spPr>
          <a:xfrm rot="10800000">
            <a:off x="4447836" y="357187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09" name="Google Shape;809;p47"/>
          <p:cNvCxnSpPr/>
          <p:nvPr/>
        </p:nvCxnSpPr>
        <p:spPr>
          <a:xfrm rot="10800000">
            <a:off x="4695486" y="3581400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10" name="Google Shape;810;p47"/>
          <p:cNvCxnSpPr/>
          <p:nvPr/>
        </p:nvCxnSpPr>
        <p:spPr>
          <a:xfrm rot="10800000">
            <a:off x="4933611" y="357187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11" name="Google Shape;811;p47"/>
          <p:cNvCxnSpPr/>
          <p:nvPr/>
        </p:nvCxnSpPr>
        <p:spPr>
          <a:xfrm rot="10800000">
            <a:off x="5171736" y="3571875"/>
            <a:ext cx="0" cy="262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12" name="Google Shape;812;p47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47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Shortest Remaining Time First (SRTF)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aphicFrame>
        <p:nvGraphicFramePr>
          <p:cNvPr id="814" name="Google Shape;814;p47"/>
          <p:cNvGraphicFramePr/>
          <p:nvPr/>
        </p:nvGraphicFramePr>
        <p:xfrm>
          <a:off x="5581650" y="374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{1339562E-43EB-461E-A026-4F68CA91E101}</a:tableStyleId>
              </a:tblPr>
              <a:tblGrid>
                <a:gridCol w="952500"/>
                <a:gridCol w="1285875"/>
                <a:gridCol w="1076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Proceso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Entrada (ms)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CPU (ms)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T0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5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T1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12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T2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T3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36000" marB="3600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815" name="Google Shape;815;p47"/>
          <p:cNvCxnSpPr/>
          <p:nvPr/>
        </p:nvCxnSpPr>
        <p:spPr>
          <a:xfrm>
            <a:off x="358725" y="6210300"/>
            <a:ext cx="500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6" name="Google Shape;816;p47"/>
          <p:cNvCxnSpPr/>
          <p:nvPr/>
        </p:nvCxnSpPr>
        <p:spPr>
          <a:xfrm rot="10800000">
            <a:off x="358725" y="3524400"/>
            <a:ext cx="0" cy="268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7" name="Google Shape;817;p47"/>
          <p:cNvSpPr/>
          <p:nvPr/>
        </p:nvSpPr>
        <p:spPr>
          <a:xfrm>
            <a:off x="1085850" y="5694100"/>
            <a:ext cx="241200" cy="345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Inter"/>
                <a:ea typeface="Inter"/>
                <a:cs typeface="Inter"/>
                <a:sym typeface="Inter"/>
              </a:rPr>
              <a:t>W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8" name="Google Shape;818;p47"/>
          <p:cNvSpPr/>
          <p:nvPr/>
        </p:nvSpPr>
        <p:spPr>
          <a:xfrm>
            <a:off x="847725" y="3843344"/>
            <a:ext cx="731700" cy="345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Inter"/>
                <a:ea typeface="Inter"/>
                <a:cs typeface="Inter"/>
                <a:sym typeface="Inter"/>
              </a:rPr>
              <a:t>W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9" name="Google Shape;819;p47"/>
          <p:cNvSpPr/>
          <p:nvPr/>
        </p:nvSpPr>
        <p:spPr>
          <a:xfrm>
            <a:off x="2290225" y="4457075"/>
            <a:ext cx="2881500" cy="345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 </a:t>
            </a:r>
            <a:r>
              <a:rPr b="1"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0" name="Google Shape;820;p47"/>
          <p:cNvSpPr/>
          <p:nvPr/>
        </p:nvSpPr>
        <p:spPr>
          <a:xfrm>
            <a:off x="361950" y="3843344"/>
            <a:ext cx="485700" cy="345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1" name="Google Shape;821;p47"/>
          <p:cNvSpPr/>
          <p:nvPr/>
        </p:nvSpPr>
        <p:spPr>
          <a:xfrm>
            <a:off x="852298" y="5075600"/>
            <a:ext cx="466500" cy="345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2" name="Google Shape;822;p47"/>
          <p:cNvSpPr/>
          <p:nvPr/>
        </p:nvSpPr>
        <p:spPr>
          <a:xfrm>
            <a:off x="1338300" y="5694100"/>
            <a:ext cx="241200" cy="345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3" name="Google Shape;823;p47"/>
          <p:cNvSpPr/>
          <p:nvPr/>
        </p:nvSpPr>
        <p:spPr>
          <a:xfrm>
            <a:off x="1561750" y="3843350"/>
            <a:ext cx="731700" cy="3450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4" name="Google Shape;824;p47"/>
          <p:cNvSpPr/>
          <p:nvPr/>
        </p:nvSpPr>
        <p:spPr>
          <a:xfrm>
            <a:off x="485775" y="6219825"/>
            <a:ext cx="24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1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5" name="Google Shape;825;p47"/>
          <p:cNvSpPr/>
          <p:nvPr/>
        </p:nvSpPr>
        <p:spPr>
          <a:xfrm>
            <a:off x="1449818" y="6219825"/>
            <a:ext cx="24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5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6" name="Google Shape;826;p47"/>
          <p:cNvSpPr/>
          <p:nvPr/>
        </p:nvSpPr>
        <p:spPr>
          <a:xfrm>
            <a:off x="2654871" y="6219825"/>
            <a:ext cx="24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10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7" name="Google Shape;827;p47"/>
          <p:cNvSpPr/>
          <p:nvPr/>
        </p:nvSpPr>
        <p:spPr>
          <a:xfrm>
            <a:off x="3854446" y="6219825"/>
            <a:ext cx="24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15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8" name="Google Shape;828;p47"/>
          <p:cNvSpPr/>
          <p:nvPr/>
        </p:nvSpPr>
        <p:spPr>
          <a:xfrm>
            <a:off x="5049975" y="6219825"/>
            <a:ext cx="241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20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9" name="Google Shape;829;p47"/>
          <p:cNvSpPr/>
          <p:nvPr/>
        </p:nvSpPr>
        <p:spPr>
          <a:xfrm>
            <a:off x="619125" y="4456475"/>
            <a:ext cx="1671000" cy="3450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Inter"/>
                <a:ea typeface="Inter"/>
                <a:cs typeface="Inter"/>
                <a:sym typeface="Inter"/>
              </a:rPr>
              <a:t>W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30" name="Google Shape;830;p47"/>
          <p:cNvCxnSpPr/>
          <p:nvPr/>
        </p:nvCxnSpPr>
        <p:spPr>
          <a:xfrm rot="10800000">
            <a:off x="2790825" y="4457625"/>
            <a:ext cx="0" cy="352500"/>
          </a:xfrm>
          <a:prstGeom prst="straightConnector1">
            <a:avLst/>
          </a:prstGeom>
          <a:noFill/>
          <a:ln cap="flat" cmpd="sng" w="38100">
            <a:solidFill>
              <a:srgbClr val="EAD1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1" name="Google Shape;831;p47"/>
          <p:cNvCxnSpPr/>
          <p:nvPr/>
        </p:nvCxnSpPr>
        <p:spPr>
          <a:xfrm rot="10800000">
            <a:off x="2057400" y="3838500"/>
            <a:ext cx="0" cy="352500"/>
          </a:xfrm>
          <a:prstGeom prst="straightConnector1">
            <a:avLst/>
          </a:prstGeom>
          <a:noFill/>
          <a:ln cap="flat" cmpd="sng" w="38100">
            <a:solidFill>
              <a:srgbClr val="EAD1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2" name="Google Shape;832;p47"/>
          <p:cNvCxnSpPr/>
          <p:nvPr/>
        </p:nvCxnSpPr>
        <p:spPr>
          <a:xfrm rot="10800000">
            <a:off x="3257550" y="4457625"/>
            <a:ext cx="0" cy="352500"/>
          </a:xfrm>
          <a:prstGeom prst="straightConnector1">
            <a:avLst/>
          </a:prstGeom>
          <a:noFill/>
          <a:ln cap="flat" cmpd="sng" w="38100">
            <a:solidFill>
              <a:srgbClr val="EAD1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3" name="Google Shape;833;p47"/>
          <p:cNvCxnSpPr/>
          <p:nvPr/>
        </p:nvCxnSpPr>
        <p:spPr>
          <a:xfrm rot="10800000">
            <a:off x="3733800" y="4457625"/>
            <a:ext cx="0" cy="352500"/>
          </a:xfrm>
          <a:prstGeom prst="straightConnector1">
            <a:avLst/>
          </a:prstGeom>
          <a:noFill/>
          <a:ln cap="flat" cmpd="sng" w="38100">
            <a:solidFill>
              <a:srgbClr val="EAD1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4" name="Google Shape;834;p47"/>
          <p:cNvCxnSpPr/>
          <p:nvPr/>
        </p:nvCxnSpPr>
        <p:spPr>
          <a:xfrm rot="10800000">
            <a:off x="4219575" y="4457625"/>
            <a:ext cx="0" cy="352500"/>
          </a:xfrm>
          <a:prstGeom prst="straightConnector1">
            <a:avLst/>
          </a:prstGeom>
          <a:noFill/>
          <a:ln cap="flat" cmpd="sng" w="38100">
            <a:solidFill>
              <a:srgbClr val="EAD1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5" name="Google Shape;835;p47"/>
          <p:cNvCxnSpPr/>
          <p:nvPr/>
        </p:nvCxnSpPr>
        <p:spPr>
          <a:xfrm rot="10800000">
            <a:off x="4695825" y="4457625"/>
            <a:ext cx="0" cy="352500"/>
          </a:xfrm>
          <a:prstGeom prst="straightConnector1">
            <a:avLst/>
          </a:prstGeom>
          <a:noFill/>
          <a:ln cap="flat" cmpd="sng" w="38100">
            <a:solidFill>
              <a:srgbClr val="EAD1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6" name="Google Shape;836;p47"/>
          <p:cNvCxnSpPr/>
          <p:nvPr/>
        </p:nvCxnSpPr>
        <p:spPr>
          <a:xfrm>
            <a:off x="2771350" y="5091113"/>
            <a:ext cx="51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837" name="Google Shape;837;p47"/>
          <p:cNvSpPr txBox="1"/>
          <p:nvPr/>
        </p:nvSpPr>
        <p:spPr>
          <a:xfrm>
            <a:off x="2705100" y="5141250"/>
            <a:ext cx="176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cuanto = 2ms</a:t>
            </a:r>
            <a:endParaRPr/>
          </a:p>
        </p:txBody>
      </p:sp>
      <p:sp>
        <p:nvSpPr>
          <p:cNvPr id="838" name="Google Shape;838;p47"/>
          <p:cNvSpPr/>
          <p:nvPr/>
        </p:nvSpPr>
        <p:spPr>
          <a:xfrm>
            <a:off x="-14346" y="3867150"/>
            <a:ext cx="360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T0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9" name="Google Shape;839;p47"/>
          <p:cNvSpPr/>
          <p:nvPr/>
        </p:nvSpPr>
        <p:spPr>
          <a:xfrm>
            <a:off x="-14346" y="4476750"/>
            <a:ext cx="360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T1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0" name="Google Shape;840;p47"/>
          <p:cNvSpPr/>
          <p:nvPr/>
        </p:nvSpPr>
        <p:spPr>
          <a:xfrm>
            <a:off x="-28575" y="5105400"/>
            <a:ext cx="360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T2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1" name="Google Shape;841;p47"/>
          <p:cNvSpPr/>
          <p:nvPr/>
        </p:nvSpPr>
        <p:spPr>
          <a:xfrm>
            <a:off x="-28575" y="5715000"/>
            <a:ext cx="360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000" spcFirstLastPara="1" rIns="36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Inter"/>
                <a:ea typeface="Inter"/>
                <a:cs typeface="Inter"/>
                <a:sym typeface="Inter"/>
              </a:rPr>
              <a:t>T3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48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48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Colas Multinivel con Retroalimentación (I)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48" name="Google Shape;848;p48"/>
          <p:cNvSpPr txBox="1"/>
          <p:nvPr/>
        </p:nvSpPr>
        <p:spPr>
          <a:xfrm>
            <a:off x="69900" y="818000"/>
            <a:ext cx="9017100" cy="50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Motivación y Objetivos</a:t>
            </a:r>
            <a:endParaRPr b="1" sz="20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Diferentes tipos de trabajos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Interactivos, intensivos en CPU, intensivos en E/S,...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algoritmos anteriores no pueden acomodar todos los tipos.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Combinar distintos algoritmos para perfiles diferentes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[Obj. 1] Turnaround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comportamiento similar al SJF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[Obj. 2] Tiempo de respuesta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comportamiento similar a RR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Posibilidad de emplear algoritmos con objetivos son contradictorios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Desafíos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sabemos 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priori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qué tipo es un trabajo o cuáles son sus ciclos de uso de CPU.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Permitir al administrador especificar la prioridad relativa de los trabajos</a:t>
            </a:r>
            <a:endParaRPr i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9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49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Colas Multinivel con Retroalimentación 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55" name="Google Shape;855;p49"/>
          <p:cNvSpPr txBox="1"/>
          <p:nvPr/>
        </p:nvSpPr>
        <p:spPr>
          <a:xfrm>
            <a:off x="69900" y="787050"/>
            <a:ext cx="9017100" cy="24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Estructura</a:t>
            </a:r>
            <a:endParaRPr b="1" sz="2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trabajos se clasifican en diferentes colas de preparados. Cada cola tiene asociada una prioridad.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[Regla 1]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procesos con mayor prioridad (en colas de mayor prioridad) se ejecutan primero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[Regla 2]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procesos con la misma prioridad se ejecutan usando RR</a:t>
            </a:r>
            <a:endParaRPr i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6" name="Google Shape;856;p49"/>
          <p:cNvSpPr/>
          <p:nvPr/>
        </p:nvSpPr>
        <p:spPr>
          <a:xfrm>
            <a:off x="2479400" y="3524150"/>
            <a:ext cx="417900" cy="464100"/>
          </a:xfrm>
          <a:prstGeom prst="rect">
            <a:avLst/>
          </a:prstGeom>
          <a:solidFill>
            <a:srgbClr val="D0E0E3"/>
          </a:solidFill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49"/>
          <p:cNvSpPr/>
          <p:nvPr/>
        </p:nvSpPr>
        <p:spPr>
          <a:xfrm>
            <a:off x="2890184" y="3524150"/>
            <a:ext cx="417900" cy="464100"/>
          </a:xfrm>
          <a:prstGeom prst="rect">
            <a:avLst/>
          </a:prstGeom>
          <a:solidFill>
            <a:srgbClr val="D0E0E3"/>
          </a:solidFill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49"/>
          <p:cNvSpPr/>
          <p:nvPr/>
        </p:nvSpPr>
        <p:spPr>
          <a:xfrm>
            <a:off x="3302128" y="3524150"/>
            <a:ext cx="417900" cy="464100"/>
          </a:xfrm>
          <a:prstGeom prst="rect">
            <a:avLst/>
          </a:prstGeom>
          <a:solidFill>
            <a:srgbClr val="D0E0E3"/>
          </a:solidFill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49"/>
          <p:cNvSpPr/>
          <p:nvPr/>
        </p:nvSpPr>
        <p:spPr>
          <a:xfrm>
            <a:off x="3714072" y="3524150"/>
            <a:ext cx="417900" cy="464100"/>
          </a:xfrm>
          <a:prstGeom prst="rect">
            <a:avLst/>
          </a:prstGeom>
          <a:solidFill>
            <a:srgbClr val="D0E0E3"/>
          </a:solidFill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49"/>
          <p:cNvSpPr/>
          <p:nvPr/>
        </p:nvSpPr>
        <p:spPr>
          <a:xfrm>
            <a:off x="4124856" y="3524150"/>
            <a:ext cx="417900" cy="464100"/>
          </a:xfrm>
          <a:prstGeom prst="rect">
            <a:avLst/>
          </a:prstGeom>
          <a:solidFill>
            <a:srgbClr val="D0E0E3"/>
          </a:solidFill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49"/>
          <p:cNvSpPr/>
          <p:nvPr/>
        </p:nvSpPr>
        <p:spPr>
          <a:xfrm>
            <a:off x="4536800" y="3524150"/>
            <a:ext cx="417900" cy="464100"/>
          </a:xfrm>
          <a:prstGeom prst="rect">
            <a:avLst/>
          </a:prstGeom>
          <a:solidFill>
            <a:srgbClr val="D0E0E3"/>
          </a:solidFill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49"/>
          <p:cNvSpPr/>
          <p:nvPr/>
        </p:nvSpPr>
        <p:spPr>
          <a:xfrm>
            <a:off x="2479400" y="4256366"/>
            <a:ext cx="417900" cy="4641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49"/>
          <p:cNvSpPr/>
          <p:nvPr/>
        </p:nvSpPr>
        <p:spPr>
          <a:xfrm>
            <a:off x="2890184" y="4256366"/>
            <a:ext cx="417900" cy="4641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49"/>
          <p:cNvSpPr/>
          <p:nvPr/>
        </p:nvSpPr>
        <p:spPr>
          <a:xfrm>
            <a:off x="3302128" y="4256366"/>
            <a:ext cx="417900" cy="4641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49"/>
          <p:cNvSpPr/>
          <p:nvPr/>
        </p:nvSpPr>
        <p:spPr>
          <a:xfrm>
            <a:off x="3714072" y="4256366"/>
            <a:ext cx="417900" cy="4641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49"/>
          <p:cNvSpPr/>
          <p:nvPr/>
        </p:nvSpPr>
        <p:spPr>
          <a:xfrm>
            <a:off x="4124856" y="4256366"/>
            <a:ext cx="417900" cy="4641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49"/>
          <p:cNvSpPr/>
          <p:nvPr/>
        </p:nvSpPr>
        <p:spPr>
          <a:xfrm>
            <a:off x="4536800" y="4256366"/>
            <a:ext cx="417900" cy="4641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49"/>
          <p:cNvSpPr/>
          <p:nvPr/>
        </p:nvSpPr>
        <p:spPr>
          <a:xfrm>
            <a:off x="2479400" y="5004055"/>
            <a:ext cx="417900" cy="464100"/>
          </a:xfrm>
          <a:prstGeom prst="rect">
            <a:avLst/>
          </a:prstGeom>
          <a:solidFill>
            <a:srgbClr val="76A5AF"/>
          </a:solidFill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49"/>
          <p:cNvSpPr/>
          <p:nvPr/>
        </p:nvSpPr>
        <p:spPr>
          <a:xfrm>
            <a:off x="2890184" y="5004055"/>
            <a:ext cx="417900" cy="464100"/>
          </a:xfrm>
          <a:prstGeom prst="rect">
            <a:avLst/>
          </a:prstGeom>
          <a:solidFill>
            <a:srgbClr val="76A5AF"/>
          </a:solidFill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49"/>
          <p:cNvSpPr/>
          <p:nvPr/>
        </p:nvSpPr>
        <p:spPr>
          <a:xfrm>
            <a:off x="3302128" y="5004055"/>
            <a:ext cx="417900" cy="464100"/>
          </a:xfrm>
          <a:prstGeom prst="rect">
            <a:avLst/>
          </a:prstGeom>
          <a:solidFill>
            <a:srgbClr val="76A5AF"/>
          </a:solidFill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49"/>
          <p:cNvSpPr/>
          <p:nvPr/>
        </p:nvSpPr>
        <p:spPr>
          <a:xfrm>
            <a:off x="3714072" y="5004055"/>
            <a:ext cx="417900" cy="464100"/>
          </a:xfrm>
          <a:prstGeom prst="rect">
            <a:avLst/>
          </a:prstGeom>
          <a:solidFill>
            <a:srgbClr val="76A5AF"/>
          </a:solidFill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49"/>
          <p:cNvSpPr/>
          <p:nvPr/>
        </p:nvSpPr>
        <p:spPr>
          <a:xfrm>
            <a:off x="4124856" y="5004055"/>
            <a:ext cx="417900" cy="464100"/>
          </a:xfrm>
          <a:prstGeom prst="rect">
            <a:avLst/>
          </a:prstGeom>
          <a:solidFill>
            <a:srgbClr val="76A5AF"/>
          </a:solidFill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49"/>
          <p:cNvSpPr/>
          <p:nvPr/>
        </p:nvSpPr>
        <p:spPr>
          <a:xfrm>
            <a:off x="4536800" y="5004055"/>
            <a:ext cx="417900" cy="464100"/>
          </a:xfrm>
          <a:prstGeom prst="rect">
            <a:avLst/>
          </a:prstGeom>
          <a:solidFill>
            <a:srgbClr val="76A5AF"/>
          </a:solidFill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49"/>
          <p:cNvSpPr/>
          <p:nvPr/>
        </p:nvSpPr>
        <p:spPr>
          <a:xfrm>
            <a:off x="2479400" y="5766055"/>
            <a:ext cx="417900" cy="464100"/>
          </a:xfrm>
          <a:prstGeom prst="rect">
            <a:avLst/>
          </a:prstGeom>
          <a:solidFill>
            <a:srgbClr val="45818E"/>
          </a:solidFill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49"/>
          <p:cNvSpPr/>
          <p:nvPr/>
        </p:nvSpPr>
        <p:spPr>
          <a:xfrm>
            <a:off x="2890184" y="5766055"/>
            <a:ext cx="417900" cy="464100"/>
          </a:xfrm>
          <a:prstGeom prst="rect">
            <a:avLst/>
          </a:prstGeom>
          <a:solidFill>
            <a:srgbClr val="45818E"/>
          </a:solidFill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49"/>
          <p:cNvSpPr/>
          <p:nvPr/>
        </p:nvSpPr>
        <p:spPr>
          <a:xfrm>
            <a:off x="3302128" y="5766055"/>
            <a:ext cx="417900" cy="464100"/>
          </a:xfrm>
          <a:prstGeom prst="rect">
            <a:avLst/>
          </a:prstGeom>
          <a:solidFill>
            <a:srgbClr val="45818E"/>
          </a:solidFill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49"/>
          <p:cNvSpPr/>
          <p:nvPr/>
        </p:nvSpPr>
        <p:spPr>
          <a:xfrm>
            <a:off x="3714072" y="5766055"/>
            <a:ext cx="417900" cy="464100"/>
          </a:xfrm>
          <a:prstGeom prst="rect">
            <a:avLst/>
          </a:prstGeom>
          <a:solidFill>
            <a:srgbClr val="45818E"/>
          </a:solidFill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49"/>
          <p:cNvSpPr/>
          <p:nvPr/>
        </p:nvSpPr>
        <p:spPr>
          <a:xfrm>
            <a:off x="4124856" y="5766055"/>
            <a:ext cx="417900" cy="464100"/>
          </a:xfrm>
          <a:prstGeom prst="rect">
            <a:avLst/>
          </a:prstGeom>
          <a:solidFill>
            <a:srgbClr val="45818E"/>
          </a:solidFill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49"/>
          <p:cNvSpPr/>
          <p:nvPr/>
        </p:nvSpPr>
        <p:spPr>
          <a:xfrm>
            <a:off x="4536800" y="5766055"/>
            <a:ext cx="417900" cy="464100"/>
          </a:xfrm>
          <a:prstGeom prst="rect">
            <a:avLst/>
          </a:prstGeom>
          <a:solidFill>
            <a:srgbClr val="45818E"/>
          </a:solidFill>
          <a:ln cap="flat" cmpd="sng" w="19050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49"/>
          <p:cNvSpPr txBox="1"/>
          <p:nvPr/>
        </p:nvSpPr>
        <p:spPr>
          <a:xfrm>
            <a:off x="1873275" y="3511006"/>
            <a:ext cx="618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Q3</a:t>
            </a:r>
            <a:endParaRPr sz="2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1" name="Google Shape;881;p49"/>
          <p:cNvSpPr txBox="1"/>
          <p:nvPr/>
        </p:nvSpPr>
        <p:spPr>
          <a:xfrm>
            <a:off x="1873275" y="4243222"/>
            <a:ext cx="618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Q2</a:t>
            </a:r>
            <a:endParaRPr sz="2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2" name="Google Shape;882;p49"/>
          <p:cNvSpPr txBox="1"/>
          <p:nvPr/>
        </p:nvSpPr>
        <p:spPr>
          <a:xfrm>
            <a:off x="1873275" y="4990910"/>
            <a:ext cx="618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Q1</a:t>
            </a:r>
            <a:endParaRPr sz="2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3" name="Google Shape;883;p49"/>
          <p:cNvSpPr txBox="1"/>
          <p:nvPr/>
        </p:nvSpPr>
        <p:spPr>
          <a:xfrm>
            <a:off x="1873275" y="5752910"/>
            <a:ext cx="618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Q0</a:t>
            </a:r>
            <a:endParaRPr sz="2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84" name="Google Shape;884;p49"/>
          <p:cNvCxnSpPr/>
          <p:nvPr/>
        </p:nvCxnSpPr>
        <p:spPr>
          <a:xfrm>
            <a:off x="1403325" y="3574050"/>
            <a:ext cx="0" cy="2583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85" name="Google Shape;885;p49"/>
          <p:cNvSpPr txBox="1"/>
          <p:nvPr/>
        </p:nvSpPr>
        <p:spPr>
          <a:xfrm>
            <a:off x="223393" y="4370612"/>
            <a:ext cx="127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más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prioridad</a:t>
            </a:r>
            <a:endParaRPr/>
          </a:p>
        </p:txBody>
      </p:sp>
      <p:sp>
        <p:nvSpPr>
          <p:cNvPr id="886" name="Google Shape;886;p49"/>
          <p:cNvSpPr txBox="1"/>
          <p:nvPr/>
        </p:nvSpPr>
        <p:spPr>
          <a:xfrm>
            <a:off x="5439074" y="3384147"/>
            <a:ext cx="370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[Regla 3]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Las tareas empiezan en la cola de mayor prioridad</a:t>
            </a:r>
            <a:endParaRPr/>
          </a:p>
        </p:txBody>
      </p:sp>
      <p:cxnSp>
        <p:nvCxnSpPr>
          <p:cNvPr id="887" name="Google Shape;887;p49"/>
          <p:cNvCxnSpPr>
            <a:stCxn id="861" idx="3"/>
            <a:endCxn id="886" idx="1"/>
          </p:cNvCxnSpPr>
          <p:nvPr/>
        </p:nvCxnSpPr>
        <p:spPr>
          <a:xfrm flipH="1" rot="10800000">
            <a:off x="4954700" y="3753500"/>
            <a:ext cx="484500" cy="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88" name="Google Shape;888;p49"/>
          <p:cNvCxnSpPr>
            <a:stCxn id="873" idx="3"/>
            <a:endCxn id="879" idx="3"/>
          </p:cNvCxnSpPr>
          <p:nvPr/>
        </p:nvCxnSpPr>
        <p:spPr>
          <a:xfrm>
            <a:off x="4954700" y="5236105"/>
            <a:ext cx="600" cy="762000"/>
          </a:xfrm>
          <a:prstGeom prst="bent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9" name="Google Shape;889;p49"/>
          <p:cNvSpPr txBox="1"/>
          <p:nvPr/>
        </p:nvSpPr>
        <p:spPr>
          <a:xfrm>
            <a:off x="5439074" y="5105803"/>
            <a:ext cx="3705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[Regla 4]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Si una tarea consume todo el cuanto se reduce su prioridad Q</a:t>
            </a:r>
            <a:r>
              <a:rPr baseline="-25000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→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</a:t>
            </a:r>
            <a:r>
              <a:rPr baseline="-25000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i+1</a:t>
            </a:r>
            <a:endParaRPr baseline="-25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0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50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Colas Multinivel con Retroalimentación (III)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96" name="Google Shape;896;p50"/>
          <p:cNvSpPr txBox="1"/>
          <p:nvPr/>
        </p:nvSpPr>
        <p:spPr>
          <a:xfrm>
            <a:off x="69900" y="787050"/>
            <a:ext cx="3939900" cy="24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Ejemplo</a:t>
            </a:r>
            <a:endParaRPr b="1" sz="2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Tarea de </a:t>
            </a:r>
            <a:r>
              <a:rPr b="1" lang="es" sz="1800">
                <a:solidFill>
                  <a:srgbClr val="1A2F98"/>
                </a:solidFill>
                <a:latin typeface="Inter"/>
                <a:ea typeface="Inter"/>
                <a:cs typeface="Inter"/>
                <a:sym typeface="Inter"/>
              </a:rPr>
              <a:t>larga duración (CPU)</a:t>
            </a:r>
            <a:endParaRPr b="1" sz="1800">
              <a:solidFill>
                <a:srgbClr val="1A2F9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Tarea de </a:t>
            </a:r>
            <a:r>
              <a:rPr b="1" lang="es" sz="1800">
                <a:solidFill>
                  <a:srgbClr val="EC2020"/>
                </a:solidFill>
                <a:latin typeface="Inter"/>
                <a:ea typeface="Inter"/>
                <a:cs typeface="Inter"/>
                <a:sym typeface="Inter"/>
              </a:rPr>
              <a:t>corta duración</a:t>
            </a:r>
            <a:endParaRPr b="1" sz="1800">
              <a:solidFill>
                <a:srgbClr val="EC202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 tarea de corta duraci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ón se añade al sistema (t=100)</a:t>
            </a:r>
            <a:endParaRPr i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97" name="Google Shape;897;p50" title="mlfq_along_came_short_job_blue_r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370650"/>
            <a:ext cx="3857378" cy="333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50"/>
          <p:cNvSpPr/>
          <p:nvPr/>
        </p:nvSpPr>
        <p:spPr>
          <a:xfrm>
            <a:off x="665270" y="4208400"/>
            <a:ext cx="1548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50"/>
          <p:cNvSpPr/>
          <p:nvPr/>
        </p:nvSpPr>
        <p:spPr>
          <a:xfrm>
            <a:off x="817670" y="5122800"/>
            <a:ext cx="1548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0" name="Google Shape;900;p50"/>
          <p:cNvCxnSpPr>
            <a:stCxn id="898" idx="3"/>
            <a:endCxn id="899" idx="3"/>
          </p:cNvCxnSpPr>
          <p:nvPr/>
        </p:nvCxnSpPr>
        <p:spPr>
          <a:xfrm>
            <a:off x="820070" y="4316700"/>
            <a:ext cx="152400" cy="914400"/>
          </a:xfrm>
          <a:prstGeom prst="curvedConnector3">
            <a:avLst>
              <a:gd fmla="val 25625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1" name="Google Shape;901;p50"/>
          <p:cNvSpPr/>
          <p:nvPr/>
        </p:nvSpPr>
        <p:spPr>
          <a:xfrm>
            <a:off x="970070" y="6038360"/>
            <a:ext cx="1548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50"/>
          <p:cNvSpPr/>
          <p:nvPr/>
        </p:nvSpPr>
        <p:spPr>
          <a:xfrm>
            <a:off x="817670" y="5123960"/>
            <a:ext cx="1548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3" name="Google Shape;903;p50"/>
          <p:cNvCxnSpPr>
            <a:stCxn id="902" idx="1"/>
            <a:endCxn id="901" idx="1"/>
          </p:cNvCxnSpPr>
          <p:nvPr/>
        </p:nvCxnSpPr>
        <p:spPr>
          <a:xfrm>
            <a:off x="817670" y="5232260"/>
            <a:ext cx="152400" cy="914400"/>
          </a:xfrm>
          <a:prstGeom prst="curvedConnector3">
            <a:avLst>
              <a:gd fmla="val -15625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4" name="Google Shape;904;p50"/>
          <p:cNvSpPr txBox="1"/>
          <p:nvPr/>
        </p:nvSpPr>
        <p:spPr>
          <a:xfrm>
            <a:off x="1109403" y="5059360"/>
            <a:ext cx="159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s" sz="1800">
                <a:solidFill>
                  <a:srgbClr val="1A2F98"/>
                </a:solidFill>
                <a:latin typeface="Inter"/>
                <a:ea typeface="Inter"/>
                <a:cs typeface="Inter"/>
                <a:sym typeface="Inter"/>
              </a:rPr>
              <a:t>Tarea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baja de prioridad</a:t>
            </a:r>
            <a:endParaRPr/>
          </a:p>
        </p:txBody>
      </p:sp>
      <p:sp>
        <p:nvSpPr>
          <p:cNvPr id="905" name="Google Shape;905;p50"/>
          <p:cNvSpPr txBox="1"/>
          <p:nvPr/>
        </p:nvSpPr>
        <p:spPr>
          <a:xfrm>
            <a:off x="392654" y="2849550"/>
            <a:ext cx="2342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s" sz="1800">
                <a:solidFill>
                  <a:srgbClr val="EC2020"/>
                </a:solidFill>
                <a:latin typeface="Inter"/>
                <a:ea typeface="Inter"/>
                <a:cs typeface="Inter"/>
                <a:sym typeface="Inter"/>
              </a:rPr>
              <a:t>Tarea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comienza con m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áx.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prioridad</a:t>
            </a:r>
            <a:endParaRPr/>
          </a:p>
        </p:txBody>
      </p:sp>
      <p:cxnSp>
        <p:nvCxnSpPr>
          <p:cNvPr id="906" name="Google Shape;906;p50"/>
          <p:cNvCxnSpPr>
            <a:stCxn id="905" idx="2"/>
          </p:cNvCxnSpPr>
          <p:nvPr/>
        </p:nvCxnSpPr>
        <p:spPr>
          <a:xfrm>
            <a:off x="1564004" y="3588450"/>
            <a:ext cx="478200" cy="24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07" name="Google Shape;907;p50" title="mlfq_interactive_blue_r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5407" y="3382222"/>
            <a:ext cx="3561667" cy="3334950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50"/>
          <p:cNvSpPr txBox="1"/>
          <p:nvPr/>
        </p:nvSpPr>
        <p:spPr>
          <a:xfrm>
            <a:off x="4565700" y="787050"/>
            <a:ext cx="4387500" cy="24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Ejemplo</a:t>
            </a:r>
            <a:endParaRPr b="1" sz="2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Tarea de </a:t>
            </a:r>
            <a:r>
              <a:rPr b="1" lang="es" sz="1800">
                <a:solidFill>
                  <a:srgbClr val="1A2F98"/>
                </a:solidFill>
                <a:latin typeface="Inter"/>
                <a:ea typeface="Inter"/>
                <a:cs typeface="Inter"/>
                <a:sym typeface="Inter"/>
              </a:rPr>
              <a:t>larga duración (CPU)</a:t>
            </a:r>
            <a:endParaRPr b="1" sz="1800">
              <a:solidFill>
                <a:srgbClr val="1A2F9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Tarea </a:t>
            </a:r>
            <a:r>
              <a:rPr b="1" lang="es" sz="1800">
                <a:solidFill>
                  <a:srgbClr val="EC2020"/>
                </a:solidFill>
                <a:latin typeface="Inter"/>
                <a:ea typeface="Inter"/>
                <a:cs typeface="Inter"/>
                <a:sym typeface="Inter"/>
              </a:rPr>
              <a:t>interactiva</a:t>
            </a:r>
            <a:endParaRPr b="1" sz="1800">
              <a:solidFill>
                <a:srgbClr val="EC202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Ciclos de CPU cortos menores que el cuánto (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mantiene prioridad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i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9" name="Google Shape;909;p50"/>
          <p:cNvCxnSpPr/>
          <p:nvPr/>
        </p:nvCxnSpPr>
        <p:spPr>
          <a:xfrm>
            <a:off x="6622050" y="2723075"/>
            <a:ext cx="618900" cy="68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0" name="Google Shape;910;p50"/>
          <p:cNvCxnSpPr/>
          <p:nvPr/>
        </p:nvCxnSpPr>
        <p:spPr>
          <a:xfrm>
            <a:off x="6157900" y="2723075"/>
            <a:ext cx="216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1" name="Google Shape;911;p50"/>
          <p:cNvSpPr txBox="1"/>
          <p:nvPr/>
        </p:nvSpPr>
        <p:spPr>
          <a:xfrm>
            <a:off x="6589975" y="4554084"/>
            <a:ext cx="174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Buen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tiempo de respuesta</a:t>
            </a:r>
            <a:endParaRPr b="1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2" name="Google Shape;912;p50"/>
          <p:cNvSpPr txBox="1"/>
          <p:nvPr/>
        </p:nvSpPr>
        <p:spPr>
          <a:xfrm>
            <a:off x="2413275" y="4661225"/>
            <a:ext cx="234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Buen </a:t>
            </a:r>
            <a:r>
              <a:rPr b="1" i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turnaround</a:t>
            </a:r>
            <a:endParaRPr b="1" i="1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51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51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Colas Multinivel con Retroalimentación (IV)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19" name="Google Shape;919;p51"/>
          <p:cNvSpPr txBox="1"/>
          <p:nvPr/>
        </p:nvSpPr>
        <p:spPr>
          <a:xfrm>
            <a:off x="69900" y="771574"/>
            <a:ext cx="9017100" cy="56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Problemas</a:t>
            </a:r>
            <a:endParaRPr b="1" sz="2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Inanición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Tareas intensivas en CPU (terminan en prioridad baja) con muchas tareas interactivas (prioridad alta)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b="1" i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Priority Boost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Periódicamente aumentar la prioridad de todas las tareas (mover a la cola más prioritaria)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Abuso de las reglas de planificación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 una tarea cede la CPU antes de que expire el cuanto no baja de prioridad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b="1" i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Accounting CPU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Si el tiempo de ejecución total en la cola Q</a:t>
            </a:r>
            <a:r>
              <a:rPr baseline="-25000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es mayor que el cuanto se reduce la prioridad.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Las tareas no aumentan de prioridad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Una tarea intensiva en CPU seguirá en la mínima prioridad aunque pase a una fase interactiva.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b="1" i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Priority Boost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52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52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Colas Multinivel con Retroalimentación (V)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926" name="Google Shape;926;p52" title="mlfq_priority_boost_without_blue_r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600" y="2533525"/>
            <a:ext cx="4086950" cy="39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52" title="mlfq_priority_boost_with_blue_r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9025" y="2623624"/>
            <a:ext cx="3892138" cy="39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52"/>
          <p:cNvSpPr txBox="1"/>
          <p:nvPr/>
        </p:nvSpPr>
        <p:spPr>
          <a:xfrm>
            <a:off x="69900" y="756106"/>
            <a:ext cx="9047700" cy="17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Ejemplo</a:t>
            </a:r>
            <a:endParaRPr b="1" sz="2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Tarea de </a:t>
            </a:r>
            <a:r>
              <a:rPr b="1" lang="es" sz="1800">
                <a:solidFill>
                  <a:srgbClr val="1A2F98"/>
                </a:solidFill>
                <a:latin typeface="Inter"/>
                <a:ea typeface="Inter"/>
                <a:cs typeface="Inter"/>
                <a:sym typeface="Inter"/>
              </a:rPr>
              <a:t>larga duración (CPU)</a:t>
            </a:r>
            <a:endParaRPr b="1" sz="1800">
              <a:solidFill>
                <a:srgbClr val="1A2F9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Tarea de </a:t>
            </a:r>
            <a:r>
              <a:rPr b="1" lang="es" sz="1800">
                <a:solidFill>
                  <a:srgbClr val="EC2020"/>
                </a:solidFill>
                <a:latin typeface="Inter"/>
                <a:ea typeface="Inter"/>
                <a:cs typeface="Inter"/>
                <a:sym typeface="Inter"/>
              </a:rPr>
              <a:t>corta duración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(t=100ms)</a:t>
            </a:r>
            <a:endParaRPr b="1" sz="1800">
              <a:solidFill>
                <a:srgbClr val="EC202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Tarea de </a:t>
            </a:r>
            <a:r>
              <a:rPr b="1" lang="es" sz="1800">
                <a:solidFill>
                  <a:srgbClr val="AF1A1A"/>
                </a:solidFill>
                <a:latin typeface="Inter"/>
                <a:ea typeface="Inter"/>
                <a:cs typeface="Inter"/>
                <a:sym typeface="Inter"/>
              </a:rPr>
              <a:t>corta duración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(t=110ms)</a:t>
            </a:r>
            <a:endParaRPr i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9" name="Google Shape;929;p52"/>
          <p:cNvSpPr txBox="1"/>
          <p:nvPr/>
        </p:nvSpPr>
        <p:spPr>
          <a:xfrm>
            <a:off x="2658516" y="5135066"/>
            <a:ext cx="171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Inanición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 la tarea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30" name="Google Shape;930;p52"/>
          <p:cNvCxnSpPr/>
          <p:nvPr/>
        </p:nvCxnSpPr>
        <p:spPr>
          <a:xfrm rot="10800000">
            <a:off x="6297125" y="3914400"/>
            <a:ext cx="0" cy="1965000"/>
          </a:xfrm>
          <a:prstGeom prst="straightConnector1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31" name="Google Shape;931;p52"/>
          <p:cNvCxnSpPr/>
          <p:nvPr/>
        </p:nvCxnSpPr>
        <p:spPr>
          <a:xfrm rot="10800000">
            <a:off x="7073437" y="3914400"/>
            <a:ext cx="0" cy="1965000"/>
          </a:xfrm>
          <a:prstGeom prst="straightConnector1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32" name="Google Shape;932;p52"/>
          <p:cNvCxnSpPr/>
          <p:nvPr/>
        </p:nvCxnSpPr>
        <p:spPr>
          <a:xfrm>
            <a:off x="2491000" y="5863925"/>
            <a:ext cx="204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33" name="Google Shape;933;p52"/>
          <p:cNvCxnSpPr/>
          <p:nvPr/>
        </p:nvCxnSpPr>
        <p:spPr>
          <a:xfrm flipH="1" rot="10800000">
            <a:off x="7813400" y="3914275"/>
            <a:ext cx="300" cy="1036800"/>
          </a:xfrm>
          <a:prstGeom prst="straightConnector1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34" name="Google Shape;934;p52"/>
          <p:cNvSpPr/>
          <p:nvPr/>
        </p:nvSpPr>
        <p:spPr>
          <a:xfrm>
            <a:off x="7148672" y="4597068"/>
            <a:ext cx="178500" cy="351300"/>
          </a:xfrm>
          <a:prstGeom prst="rect">
            <a:avLst/>
          </a:prstGeom>
          <a:noFill/>
          <a:ln cap="flat" cmpd="sng" w="9525">
            <a:solidFill>
              <a:srgbClr val="1A2F9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52"/>
          <p:cNvSpPr/>
          <p:nvPr/>
        </p:nvSpPr>
        <p:spPr>
          <a:xfrm>
            <a:off x="7952662" y="4588871"/>
            <a:ext cx="178500" cy="351300"/>
          </a:xfrm>
          <a:prstGeom prst="rect">
            <a:avLst/>
          </a:prstGeom>
          <a:noFill/>
          <a:ln cap="flat" cmpd="sng" w="9525">
            <a:solidFill>
              <a:srgbClr val="1A2F9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3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53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Colas Multinivel con Retroalimentación (VI)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42" name="Google Shape;942;p53"/>
          <p:cNvSpPr txBox="1"/>
          <p:nvPr/>
        </p:nvSpPr>
        <p:spPr>
          <a:xfrm>
            <a:off x="69900" y="756106"/>
            <a:ext cx="9047700" cy="17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Ejemplo</a:t>
            </a:r>
            <a:endParaRPr b="1" sz="2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Tarea de </a:t>
            </a:r>
            <a:r>
              <a:rPr b="1" lang="es" sz="1800">
                <a:solidFill>
                  <a:srgbClr val="1A2F98"/>
                </a:solidFill>
                <a:latin typeface="Inter"/>
                <a:ea typeface="Inter"/>
                <a:cs typeface="Inter"/>
                <a:sym typeface="Inter"/>
              </a:rPr>
              <a:t>larga duración (CPU)</a:t>
            </a:r>
            <a:endParaRPr b="1" sz="1800">
              <a:solidFill>
                <a:srgbClr val="1A2F9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Tarea de </a:t>
            </a:r>
            <a:r>
              <a:rPr b="1" lang="es" sz="1800">
                <a:solidFill>
                  <a:srgbClr val="A50021"/>
                </a:solidFill>
                <a:latin typeface="Inter"/>
                <a:ea typeface="Inter"/>
                <a:cs typeface="Inter"/>
                <a:sym typeface="Inter"/>
              </a:rPr>
              <a:t>larga duración (CPU)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cede la CPU antes de que expire el cuanto</a:t>
            </a:r>
            <a:endParaRPr i="1" sz="18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43" name="Google Shape;943;p53" title="mlfq_gaming_blue_r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600" y="2724950"/>
            <a:ext cx="7764701" cy="367585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53"/>
          <p:cNvSpPr txBox="1"/>
          <p:nvPr/>
        </p:nvSpPr>
        <p:spPr>
          <a:xfrm>
            <a:off x="1088777" y="3377794"/>
            <a:ext cx="24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No baja de prioridad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45" name="Google Shape;945;p53"/>
          <p:cNvCxnSpPr/>
          <p:nvPr/>
        </p:nvCxnSpPr>
        <p:spPr>
          <a:xfrm>
            <a:off x="5586050" y="2769575"/>
            <a:ext cx="26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46" name="Google Shape;946;p53"/>
          <p:cNvSpPr txBox="1"/>
          <p:nvPr/>
        </p:nvSpPr>
        <p:spPr>
          <a:xfrm>
            <a:off x="4163165" y="2311000"/>
            <a:ext cx="328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Tiempo acumulado &gt; cuanto 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7" name="Google Shape;947;p53"/>
          <p:cNvSpPr/>
          <p:nvPr/>
        </p:nvSpPr>
        <p:spPr>
          <a:xfrm>
            <a:off x="5621201" y="2981873"/>
            <a:ext cx="1548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8" name="Google Shape;948;p53"/>
          <p:cNvCxnSpPr>
            <a:stCxn id="947" idx="3"/>
            <a:endCxn id="949" idx="3"/>
          </p:cNvCxnSpPr>
          <p:nvPr/>
        </p:nvCxnSpPr>
        <p:spPr>
          <a:xfrm>
            <a:off x="5776001" y="3090173"/>
            <a:ext cx="127500" cy="1046100"/>
          </a:xfrm>
          <a:prstGeom prst="curvedConnector3">
            <a:avLst>
              <a:gd fmla="val 28675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9" name="Google Shape;949;p53"/>
          <p:cNvSpPr/>
          <p:nvPr/>
        </p:nvSpPr>
        <p:spPr>
          <a:xfrm>
            <a:off x="5748690" y="4027853"/>
            <a:ext cx="1548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53"/>
          <p:cNvSpPr txBox="1"/>
          <p:nvPr/>
        </p:nvSpPr>
        <p:spPr>
          <a:xfrm>
            <a:off x="6103323" y="3301594"/>
            <a:ext cx="24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aja de prioridad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5" name="Google Shape;955;p54"/>
          <p:cNvCxnSpPr>
            <a:stCxn id="956" idx="0"/>
          </p:cNvCxnSpPr>
          <p:nvPr/>
        </p:nvCxnSpPr>
        <p:spPr>
          <a:xfrm>
            <a:off x="4541334" y="5107208"/>
            <a:ext cx="340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57" name="Google Shape;957;p54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54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Planificador en Linux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59" name="Google Shape;959;p54"/>
          <p:cNvSpPr txBox="1"/>
          <p:nvPr/>
        </p:nvSpPr>
        <p:spPr>
          <a:xfrm>
            <a:off x="0" y="759600"/>
            <a:ext cx="9117600" cy="40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Políticas de planificación</a:t>
            </a:r>
            <a:endParaRPr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es" sz="1800">
                <a:latin typeface="Consolas"/>
                <a:ea typeface="Consolas"/>
                <a:cs typeface="Consolas"/>
                <a:sym typeface="Consolas"/>
              </a:rPr>
              <a:t>SCHED_OTHER: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Política estándar de tiempo compartido con prioridad 0, que considera el valor de </a:t>
            </a:r>
            <a:r>
              <a:rPr i="1"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nice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(entre -20 y 19, 0 por defecto) para repartir la CPU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○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Completely Fair Scheduler (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CSF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) hasta Linux 6.6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○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Earliest Eligible Virtual Deadline First (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EEVDF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) 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es" sz="1800">
                <a:latin typeface="Consolas"/>
                <a:ea typeface="Consolas"/>
                <a:cs typeface="Consolas"/>
                <a:sym typeface="Consolas"/>
              </a:rPr>
              <a:t>SCHED_FIFO: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Política de tiempo real FIFO con prioridades entre 1 y 99, donde las tareas se ejecutan hasta que se bloquean por E/S, son expropiadas por una tarea con mayor prioridad o ceden la CPU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.</a:t>
            </a: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400"/>
              </a:spcAft>
              <a:buSzPts val="1800"/>
              <a:buFont typeface="Times New Roman"/>
              <a:buChar char="●"/>
            </a:pPr>
            <a:r>
              <a:rPr b="1" lang="es" sz="1800">
                <a:latin typeface="Consolas"/>
                <a:ea typeface="Consolas"/>
                <a:cs typeface="Consolas"/>
                <a:sym typeface="Consolas"/>
              </a:rPr>
              <a:t>SCHED_RR</a:t>
            </a:r>
            <a:r>
              <a:rPr lang="e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Como la anterior, pero las tareas con igual prioridad se ejecutan por turnos (</a:t>
            </a:r>
            <a:r>
              <a:rPr i="1"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round-robin</a:t>
            </a:r>
            <a:r>
              <a:rPr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 en porciones de tiempo (100 ms por defecto).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0" name="Google Shape;960;p54"/>
          <p:cNvSpPr txBox="1"/>
          <p:nvPr/>
        </p:nvSpPr>
        <p:spPr>
          <a:xfrm>
            <a:off x="4316025" y="4719174"/>
            <a:ext cx="450600" cy="387900"/>
          </a:xfrm>
          <a:prstGeom prst="rect">
            <a:avLst/>
          </a:prstGeom>
          <a:noFill/>
          <a:ln cap="rnd" cmpd="sng" w="9525">
            <a:solidFill>
              <a:srgbClr val="E6913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b="0" i="0" lang="es" sz="1800" u="none" cap="none" strike="noStrike">
                <a:solidFill>
                  <a:srgbClr val="E69138"/>
                </a:solidFill>
              </a:rPr>
              <a:t>0</a:t>
            </a:r>
            <a:endParaRPr b="0" i="0" sz="1800" u="none" cap="none" strike="noStrike">
              <a:solidFill>
                <a:srgbClr val="E69138"/>
              </a:solidFill>
            </a:endParaRPr>
          </a:p>
        </p:txBody>
      </p:sp>
      <p:sp>
        <p:nvSpPr>
          <p:cNvPr id="956" name="Google Shape;956;p54"/>
          <p:cNvSpPr txBox="1"/>
          <p:nvPr/>
        </p:nvSpPr>
        <p:spPr>
          <a:xfrm>
            <a:off x="4316034" y="5107208"/>
            <a:ext cx="450600" cy="342900"/>
          </a:xfrm>
          <a:prstGeom prst="rect">
            <a:avLst/>
          </a:prstGeom>
          <a:noFill/>
          <a:ln cap="rnd" cmpd="sng" w="9525">
            <a:solidFill>
              <a:srgbClr val="45818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Times New Roman"/>
              <a:buNone/>
            </a:pPr>
            <a:r>
              <a:rPr b="0" i="0" lang="es" sz="1800" u="none" cap="none" strike="noStrike">
                <a:solidFill>
                  <a:srgbClr val="45818E"/>
                </a:solidFill>
              </a:rPr>
              <a:t>1</a:t>
            </a:r>
            <a:endParaRPr b="0" i="0" sz="1800" u="none" cap="none" strike="noStrike">
              <a:solidFill>
                <a:srgbClr val="45818E"/>
              </a:solidFill>
            </a:endParaRPr>
          </a:p>
        </p:txBody>
      </p:sp>
      <p:sp>
        <p:nvSpPr>
          <p:cNvPr id="961" name="Google Shape;961;p54"/>
          <p:cNvSpPr txBox="1"/>
          <p:nvPr/>
        </p:nvSpPr>
        <p:spPr>
          <a:xfrm>
            <a:off x="4316034" y="5450108"/>
            <a:ext cx="450600" cy="342900"/>
          </a:xfrm>
          <a:prstGeom prst="rect">
            <a:avLst/>
          </a:prstGeom>
          <a:noFill/>
          <a:ln cap="rnd" cmpd="sng" w="9525">
            <a:solidFill>
              <a:srgbClr val="45818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Times New Roman"/>
              <a:buNone/>
            </a:pPr>
            <a:r>
              <a:rPr b="0" i="0" lang="es" sz="1800" u="none" cap="none" strike="noStrike">
                <a:solidFill>
                  <a:srgbClr val="45818E"/>
                </a:solidFill>
              </a:rPr>
              <a:t>...</a:t>
            </a:r>
            <a:endParaRPr b="0" i="0" sz="1800" u="none" cap="none" strike="noStrike">
              <a:solidFill>
                <a:srgbClr val="45818E"/>
              </a:solidFill>
            </a:endParaRPr>
          </a:p>
        </p:txBody>
      </p:sp>
      <p:sp>
        <p:nvSpPr>
          <p:cNvPr id="962" name="Google Shape;962;p54"/>
          <p:cNvSpPr txBox="1"/>
          <p:nvPr/>
        </p:nvSpPr>
        <p:spPr>
          <a:xfrm>
            <a:off x="4316034" y="5793008"/>
            <a:ext cx="450600" cy="342900"/>
          </a:xfrm>
          <a:prstGeom prst="rect">
            <a:avLst/>
          </a:prstGeom>
          <a:noFill/>
          <a:ln cap="rnd" cmpd="sng" w="9525">
            <a:solidFill>
              <a:srgbClr val="45818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Times New Roman"/>
              <a:buNone/>
            </a:pPr>
            <a:r>
              <a:rPr b="0" i="0" lang="es" sz="1800" u="none" cap="none" strike="noStrike">
                <a:solidFill>
                  <a:srgbClr val="45818E"/>
                </a:solidFill>
              </a:rPr>
              <a:t>...</a:t>
            </a:r>
            <a:endParaRPr b="0" i="0" sz="1800" u="none" cap="none" strike="noStrike">
              <a:solidFill>
                <a:srgbClr val="45818E"/>
              </a:solidFill>
            </a:endParaRPr>
          </a:p>
        </p:txBody>
      </p:sp>
      <p:sp>
        <p:nvSpPr>
          <p:cNvPr id="963" name="Google Shape;963;p54"/>
          <p:cNvSpPr txBox="1"/>
          <p:nvPr/>
        </p:nvSpPr>
        <p:spPr>
          <a:xfrm>
            <a:off x="4317194" y="6134747"/>
            <a:ext cx="450600" cy="342900"/>
          </a:xfrm>
          <a:prstGeom prst="rect">
            <a:avLst/>
          </a:prstGeom>
          <a:noFill/>
          <a:ln cap="rnd" cmpd="sng" w="9525">
            <a:solidFill>
              <a:srgbClr val="45818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Times New Roman"/>
              <a:buNone/>
            </a:pPr>
            <a:r>
              <a:rPr b="0" i="0" lang="es" sz="1800" u="none" cap="none" strike="noStrike">
                <a:solidFill>
                  <a:srgbClr val="45818E"/>
                </a:solidFill>
              </a:rPr>
              <a:t>99</a:t>
            </a:r>
            <a:endParaRPr b="0" i="0" sz="1800" u="none" cap="none" strike="noStrike">
              <a:solidFill>
                <a:srgbClr val="45818E"/>
              </a:solidFill>
            </a:endParaRPr>
          </a:p>
        </p:txBody>
      </p:sp>
      <p:sp>
        <p:nvSpPr>
          <p:cNvPr id="964" name="Google Shape;964;p54"/>
          <p:cNvSpPr/>
          <p:nvPr/>
        </p:nvSpPr>
        <p:spPr>
          <a:xfrm>
            <a:off x="4003245" y="5107983"/>
            <a:ext cx="228600" cy="1370700"/>
          </a:xfrm>
          <a:prstGeom prst="leftBrace">
            <a:avLst>
              <a:gd fmla="val 34404" name="adj1"/>
              <a:gd fmla="val 27786" name="adj2"/>
            </a:avLst>
          </a:prstGeom>
          <a:noFill/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54"/>
          <p:cNvSpPr txBox="1"/>
          <p:nvPr/>
        </p:nvSpPr>
        <p:spPr>
          <a:xfrm>
            <a:off x="2888661" y="4758015"/>
            <a:ext cx="1470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SCHED_OTHER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6" name="Google Shape;966;p54"/>
          <p:cNvSpPr txBox="1"/>
          <p:nvPr/>
        </p:nvSpPr>
        <p:spPr>
          <a:xfrm>
            <a:off x="5281134" y="4720346"/>
            <a:ext cx="577500" cy="342900"/>
          </a:xfrm>
          <a:prstGeom prst="rect">
            <a:avLst/>
          </a:prstGeom>
          <a:noFill/>
          <a:ln cap="rnd" cmpd="sng" w="9525">
            <a:solidFill>
              <a:srgbClr val="0B539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Font typeface="Times New Roman"/>
              <a:buNone/>
            </a:pPr>
            <a:r>
              <a:rPr b="0" i="0" lang="es" sz="1800" u="none" cap="none" strike="noStrike">
                <a:solidFill>
                  <a:srgbClr val="0B5394"/>
                </a:solidFill>
              </a:rPr>
              <a:t>-20</a:t>
            </a:r>
            <a:endParaRPr b="0" i="0" sz="1800" u="none" cap="none" strike="noStrike">
              <a:solidFill>
                <a:srgbClr val="0B5394"/>
              </a:solidFill>
            </a:endParaRPr>
          </a:p>
        </p:txBody>
      </p:sp>
      <p:sp>
        <p:nvSpPr>
          <p:cNvPr id="967" name="Google Shape;967;p54"/>
          <p:cNvSpPr txBox="1"/>
          <p:nvPr/>
        </p:nvSpPr>
        <p:spPr>
          <a:xfrm>
            <a:off x="5858557" y="4720346"/>
            <a:ext cx="497700" cy="342900"/>
          </a:xfrm>
          <a:prstGeom prst="rect">
            <a:avLst/>
          </a:prstGeom>
          <a:noFill/>
          <a:ln cap="rnd" cmpd="sng" w="9525">
            <a:solidFill>
              <a:srgbClr val="0B539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Font typeface="Times New Roman"/>
              <a:buNone/>
            </a:pPr>
            <a:r>
              <a:rPr b="0" i="0" lang="es" sz="1800" u="none" cap="none" strike="noStrike">
                <a:solidFill>
                  <a:srgbClr val="0B5394"/>
                </a:solidFill>
              </a:rPr>
              <a:t>...</a:t>
            </a:r>
            <a:endParaRPr b="0" i="0" sz="1800" u="none" cap="none" strike="noStrike">
              <a:solidFill>
                <a:srgbClr val="0B5394"/>
              </a:solidFill>
            </a:endParaRPr>
          </a:p>
        </p:txBody>
      </p:sp>
      <p:sp>
        <p:nvSpPr>
          <p:cNvPr id="968" name="Google Shape;968;p54"/>
          <p:cNvSpPr txBox="1"/>
          <p:nvPr/>
        </p:nvSpPr>
        <p:spPr>
          <a:xfrm>
            <a:off x="6356107" y="4720346"/>
            <a:ext cx="497700" cy="342900"/>
          </a:xfrm>
          <a:prstGeom prst="rect">
            <a:avLst/>
          </a:prstGeom>
          <a:noFill/>
          <a:ln cap="rnd" cmpd="sng" w="9525">
            <a:solidFill>
              <a:srgbClr val="0B539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Font typeface="Times New Roman"/>
              <a:buNone/>
            </a:pPr>
            <a:r>
              <a:rPr b="0" i="0" lang="es" sz="1800" u="none" cap="none" strike="noStrike">
                <a:solidFill>
                  <a:srgbClr val="0B5394"/>
                </a:solidFill>
              </a:rPr>
              <a:t>0</a:t>
            </a:r>
            <a:endParaRPr b="0" i="0" sz="1800" u="none" cap="none" strike="noStrike">
              <a:solidFill>
                <a:srgbClr val="0B5394"/>
              </a:solidFill>
            </a:endParaRPr>
          </a:p>
        </p:txBody>
      </p:sp>
      <p:sp>
        <p:nvSpPr>
          <p:cNvPr id="969" name="Google Shape;969;p54"/>
          <p:cNvSpPr txBox="1"/>
          <p:nvPr/>
        </p:nvSpPr>
        <p:spPr>
          <a:xfrm>
            <a:off x="6853657" y="4720346"/>
            <a:ext cx="497700" cy="342900"/>
          </a:xfrm>
          <a:prstGeom prst="rect">
            <a:avLst/>
          </a:prstGeom>
          <a:noFill/>
          <a:ln cap="rnd" cmpd="sng" w="9525">
            <a:solidFill>
              <a:srgbClr val="0B539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Font typeface="Times New Roman"/>
              <a:buNone/>
            </a:pPr>
            <a:r>
              <a:rPr b="0" i="0" lang="es" sz="1800" u="none" cap="none" strike="noStrike">
                <a:solidFill>
                  <a:srgbClr val="0B5394"/>
                </a:solidFill>
              </a:rPr>
              <a:t>...</a:t>
            </a:r>
            <a:endParaRPr b="0" i="0" sz="1800" u="none" cap="none" strike="noStrike">
              <a:solidFill>
                <a:srgbClr val="0B5394"/>
              </a:solidFill>
            </a:endParaRPr>
          </a:p>
        </p:txBody>
      </p:sp>
      <p:sp>
        <p:nvSpPr>
          <p:cNvPr id="970" name="Google Shape;970;p54"/>
          <p:cNvSpPr txBox="1"/>
          <p:nvPr/>
        </p:nvSpPr>
        <p:spPr>
          <a:xfrm>
            <a:off x="7352368" y="4719186"/>
            <a:ext cx="497700" cy="342900"/>
          </a:xfrm>
          <a:prstGeom prst="rect">
            <a:avLst/>
          </a:prstGeom>
          <a:noFill/>
          <a:ln cap="rnd" cmpd="sng" w="9525">
            <a:solidFill>
              <a:srgbClr val="0B539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Font typeface="Times New Roman"/>
              <a:buNone/>
            </a:pPr>
            <a:r>
              <a:rPr lang="es" sz="1800">
                <a:solidFill>
                  <a:srgbClr val="0B5394"/>
                </a:solidFill>
              </a:rPr>
              <a:t>19</a:t>
            </a:r>
            <a:endParaRPr b="0" i="0" sz="1800" u="none" cap="none" strike="noStrike">
              <a:solidFill>
                <a:srgbClr val="0B5394"/>
              </a:solidFill>
            </a:endParaRPr>
          </a:p>
        </p:txBody>
      </p:sp>
      <p:sp>
        <p:nvSpPr>
          <p:cNvPr id="971" name="Google Shape;971;p54"/>
          <p:cNvSpPr/>
          <p:nvPr/>
        </p:nvSpPr>
        <p:spPr>
          <a:xfrm>
            <a:off x="5382834" y="5116842"/>
            <a:ext cx="2304900" cy="475800"/>
          </a:xfrm>
          <a:prstGeom prst="leftArrow">
            <a:avLst>
              <a:gd fmla="val 54155" name="adj1"/>
              <a:gd fmla="val 49895" name="adj2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Más prioridad</a:t>
            </a:r>
            <a:endParaRPr b="1" sz="1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2" name="Google Shape;972;p54"/>
          <p:cNvSpPr txBox="1"/>
          <p:nvPr/>
        </p:nvSpPr>
        <p:spPr>
          <a:xfrm>
            <a:off x="1526734" y="5322498"/>
            <a:ext cx="25755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lang="e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Tareas </a:t>
            </a:r>
            <a:r>
              <a:rPr i="0" lang="e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crític</a:t>
            </a:r>
            <a:r>
              <a:rPr lang="e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i="0" lang="e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 en</a:t>
            </a:r>
            <a:r>
              <a:rPr lang="e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i="0" lang="e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tiempo:</a:t>
            </a:r>
            <a:endParaRPr i="0" sz="1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16800" lvl="0" marL="345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Char char="‐"/>
            </a:pPr>
            <a:r>
              <a:rPr lang="e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SCHED_FIFO</a:t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16800" lvl="0" marL="345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Char char="‐"/>
            </a:pPr>
            <a:r>
              <a:rPr lang="e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SCHED_RR</a:t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73" name="Google Shape;973;p54"/>
          <p:cNvSpPr txBox="1"/>
          <p:nvPr/>
        </p:nvSpPr>
        <p:spPr>
          <a:xfrm>
            <a:off x="87925" y="6455025"/>
            <a:ext cx="1416900" cy="2898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sched(7)</a:t>
            </a:r>
            <a:endParaRPr b="1" sz="18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74" name="Google Shape;974;p54"/>
          <p:cNvSpPr/>
          <p:nvPr/>
        </p:nvSpPr>
        <p:spPr>
          <a:xfrm rot="-5400000">
            <a:off x="4165086" y="5381513"/>
            <a:ext cx="1721700" cy="4758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4581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Más prioridad</a:t>
            </a:r>
            <a:endParaRPr b="1" sz="15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